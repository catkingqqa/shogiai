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開場說明資料庫負責把棋譜保存成可查詢、可匯出、可訓練的結構。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強調資料庫設計的中心：結構化、可追蹤、可重建。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講出整體架構，後面每一頁都回到這條管線。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說明需求如何轉成資料庫設計選擇。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這頁把 ER 與 relational model 的設計理由先鋪好。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可口頭說明基數：ImportBatch 1:N Game，Game 1:N Position/Move，Position 與 Move 透過 ply 對齊。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 relational model 是 ER 的實作版本，表、鍵、欄位都要明確。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把資料表設計和功能連起來：查詢、重建、訓練。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這頁是資料庫報告要求的 CREATE 程式碼，重點講 PK、FK、UNIQUE、INDEX。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講匯入不是單純 insert，而是 ETL：extract, transform, load。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強調這是資料庫設計最重要的一頁：對齊錯了，模型就全錯。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讓聽眾看到 SQL 如何直接支援功能，不只是概念。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這頁是總結資料庫設計和功能的對應關係。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提出改善方向要和資料庫課程連結：完整性、效能、版本、可維護性。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結尾回扣設計主題：資料庫不是附屬，而是模型可靠性的前提。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1664208"/>
            <a:ext cx="585216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資料庫系統與設計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487168"/>
            <a:ext cx="6035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D2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資料庫目標、ER 圖、Relational Model 與 CREATE SQL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78040" y="1828800"/>
            <a:ext cx="1018032" cy="155448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1874520"/>
            <a:ext cx="926592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8177784" y="25328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0664" y="1828800"/>
            <a:ext cx="1018032" cy="155448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06384" y="1874520"/>
            <a:ext cx="926592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9360408" y="25328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43288" y="1828800"/>
            <a:ext cx="1018032" cy="1554480"/>
          </a:xfrm>
          <a:prstGeom prst="rect">
            <a:avLst/>
          </a:prstGeom>
          <a:solidFill>
            <a:srgbClr val="FFF1B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89008" y="1874520"/>
            <a:ext cx="926592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search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4008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C7D2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分鐘課堂報告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系統目標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讓棋譜資料可保存、可查詢、可重建、可訓練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640080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集中保存 game、position、move、player、event 與 import batch 資訊。</a:t>
            </a:r>
            <a:endParaRPr lang="en-US" sz="12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支援從 CSA 棋譜匯入 MySQL，再匯出成 policy-only 訓練資料集。</a:t>
            </a:r>
            <a:endParaRPr lang="en-US" sz="12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保存 Position 與 Move 的對齊關係，確保每個局面都有正確下一手。</a:t>
            </a:r>
            <a:endParaRPr lang="en-US" sz="12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讓後續查詢、統計、資料清理與模型訓練可以重複執行。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635240" y="1508760"/>
            <a:ext cx="3017520" cy="1234440"/>
          </a:xfrm>
          <a:prstGeom prst="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81544" y="1618488"/>
            <a:ext cx="27249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資料庫在系統中的角色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81544" y="1929384"/>
            <a:ext cx="272491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不是只存檔案，而是把棋譜拆成有語意的實體與關聯，讓資料科學流程可以可靠使用。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CSA 檔案到模型訓練的資料管線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1600200"/>
            <a:ext cx="1661160" cy="77724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6459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CSA 檔案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392680" y="19156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5560" y="1600200"/>
            <a:ext cx="1661160" cy="77724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1280" y="16459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import script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218432" y="19156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1312" y="1600200"/>
            <a:ext cx="1661160" cy="777240"/>
          </a:xfrm>
          <a:prstGeom prst="rect">
            <a:avLst/>
          </a:prstGeom>
          <a:solidFill>
            <a:srgbClr val="FFF1B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7032" y="16459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MySQL tables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44184" y="19156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1600200"/>
            <a:ext cx="1661160" cy="77724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6459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 / 統計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869936" y="19156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2816" y="1600200"/>
            <a:ext cx="1661160" cy="77724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8536" y="16459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NPZ dataset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695688" y="19156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8568" y="1600200"/>
            <a:ext cx="1661160" cy="777240"/>
          </a:xfrm>
          <a:prstGeom prst="rect">
            <a:avLst/>
          </a:prstGeom>
          <a:solidFill>
            <a:srgbClr val="E2E8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4288" y="16459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 training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14400" y="2880360"/>
            <a:ext cx="3291840" cy="9144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2990088"/>
            <a:ext cx="29992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匯入端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60704" y="3300984"/>
            <a:ext cx="29992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解析棋譜、建立棋局、逐手產生 positions 與 moves。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34840" y="2880360"/>
            <a:ext cx="3291840" cy="9144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1144" y="2990088"/>
            <a:ext cx="29992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資料庫端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81144" y="3300984"/>
            <a:ext cx="29992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用主鍵、外鍵、索引保證資料關聯與查詢效率。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55280" y="2880360"/>
            <a:ext cx="3291840" cy="9144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01584" y="2990088"/>
            <a:ext cx="29992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訓練端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01584" y="3300984"/>
            <a:ext cx="299923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依照 position ply 對齊 move，產生 features 與 labels。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需求分析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資料庫必須回答三類問題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3063240" cy="1143000"/>
          </a:xfrm>
          <a:prstGeom prst="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527048"/>
            <a:ext cx="27706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資料保存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9264" y="1837944"/>
            <a:ext cx="27706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一盤棋、每個局面、每一步、玩家與匯入批次都要能追蹤。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063240" cy="1143000"/>
          </a:xfrm>
          <a:prstGeom prst="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1527048"/>
            <a:ext cx="27706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資料查詢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98264" y="1837944"/>
            <a:ext cx="27706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可依棋局、玩家、日期、棋子走法、局面 ply 查詢。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80960" y="1417320"/>
            <a:ext cx="3063240" cy="1143000"/>
          </a:xfrm>
          <a:prstGeom prst="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27264" y="1527048"/>
            <a:ext cx="27706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資料輸出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27264" y="1837944"/>
            <a:ext cx="277063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可穩定匯出成模型訓練需要的 X/y，避免樣本重複或錯位。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34440" y="3063240"/>
            <a:ext cx="2688336" cy="32004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3099816"/>
            <a:ext cx="254203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922776" y="3063240"/>
            <a:ext cx="6912864" cy="32004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95928" y="3099816"/>
            <a:ext cx="676656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設計回應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234440" y="3383280"/>
            <a:ext cx="2688336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7592" y="3419856"/>
            <a:ext cx="254203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完整性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3922776" y="3383280"/>
            <a:ext cx="6912864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95928" y="3419856"/>
            <a:ext cx="676656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PRIMARY KEY、FOREIGN KEY、UNIQUE 約束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1234440" y="3703320"/>
            <a:ext cx="2688336" cy="32004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7592" y="3739896"/>
            <a:ext cx="254203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3922776" y="3703320"/>
            <a:ext cx="6912864" cy="32004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95928" y="3739896"/>
            <a:ext cx="676656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game_id、position_id、ply、label 欄位建立索引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1234440" y="4023360"/>
            <a:ext cx="2688336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07592" y="4059936"/>
            <a:ext cx="254203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可追蹤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922776" y="4023360"/>
            <a:ext cx="6912864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95928" y="4059936"/>
            <a:ext cx="676656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import_batches 紀錄來源、時間、狀態與錯誤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資料庫設計方法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先找實體，再決定關聯、鍵與正規化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554480"/>
            <a:ext cx="1607820" cy="73152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15163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辨識實體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458212" y="18470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41092" y="1554480"/>
            <a:ext cx="1607820" cy="73152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6812" y="1600200"/>
            <a:ext cx="15163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定義屬性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230624" y="18470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3504" y="1554480"/>
            <a:ext cx="1607820" cy="73152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9224" y="1600200"/>
            <a:ext cx="15163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建立關聯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03036" y="18470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5916" y="1554480"/>
            <a:ext cx="1607820" cy="73152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1636" y="1600200"/>
            <a:ext cx="15163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正規化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75448" y="18470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8328" y="1554480"/>
            <a:ext cx="1607820" cy="731520"/>
          </a:xfrm>
          <a:prstGeom prst="rect">
            <a:avLst/>
          </a:prstGeom>
          <a:solidFill>
            <a:srgbClr val="FFF1B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4048" y="1600200"/>
            <a:ext cx="15163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建立索引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547860" y="18470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30740" y="1554480"/>
            <a:ext cx="1607820" cy="731520"/>
          </a:xfrm>
          <a:prstGeom prst="rect">
            <a:avLst/>
          </a:prstGeom>
          <a:solidFill>
            <a:srgbClr val="E2E8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76460" y="1600200"/>
            <a:ext cx="15163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設計匯出查詢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143000" y="2834640"/>
            <a:ext cx="96012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Game 是一盤棋的根；Position 是某一手前後的局面；Move 是從某局面採取的動作。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一盤棋有多個 position 與 move；position 和 move 透過 game_id 與 ply 對齊。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可重複資訊拆成獨立表，例如 player、event、import_batch，降低冗餘。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圖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核心實體：Game、Position、Move、Player、ImportBatch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737360" cy="749808"/>
          </a:xfrm>
          <a:prstGeom prst="rect">
            <a:avLst>
              <a:gd name="adj" fmla="val 3659"/>
            </a:avLst>
          </a:prstGeom>
          <a:solidFill>
            <a:srgbClr val="FFF1B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527048"/>
            <a:ext cx="14447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ImportBatch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7824" y="1837944"/>
            <a:ext cx="14447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/ attributes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1417320"/>
            <a:ext cx="1737360" cy="749808"/>
          </a:xfrm>
          <a:prstGeom prst="rect">
            <a:avLst>
              <a:gd name="adj" fmla="val 3659"/>
            </a:avLst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9544" y="1527048"/>
            <a:ext cx="14447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9544" y="1837944"/>
            <a:ext cx="14447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/ attributes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0" y="1417320"/>
            <a:ext cx="1737360" cy="749808"/>
          </a:xfrm>
          <a:prstGeom prst="rect">
            <a:avLst>
              <a:gd name="adj" fmla="val 3659"/>
            </a:avLst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78424" y="1527048"/>
            <a:ext cx="14447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Position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78424" y="1837944"/>
            <a:ext cx="14447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/ attributes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1417320"/>
            <a:ext cx="1737360" cy="749808"/>
          </a:xfrm>
          <a:prstGeom prst="rect">
            <a:avLst>
              <a:gd name="adj" fmla="val 3659"/>
            </a:avLst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1527048"/>
            <a:ext cx="14447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75904" y="1837944"/>
            <a:ext cx="14447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/ attributes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63240" y="3200400"/>
            <a:ext cx="1737360" cy="749808"/>
          </a:xfrm>
          <a:prstGeom prst="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9544" y="3310128"/>
            <a:ext cx="14447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9544" y="3621024"/>
            <a:ext cx="14447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/ attributes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3200400"/>
            <a:ext cx="1737360" cy="749808"/>
          </a:xfrm>
          <a:prstGeom prst="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310128"/>
            <a:ext cx="14447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7824" y="3621024"/>
            <a:ext cx="14447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/ attributes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23160" y="1828800"/>
            <a:ext cx="1917192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1874520"/>
            <a:ext cx="1825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1:N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322064" y="190195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04944" y="1828800"/>
            <a:ext cx="1917192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0664" y="1874520"/>
            <a:ext cx="1825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1:N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403848" y="190195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6728" y="1828800"/>
            <a:ext cx="1917192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32448" y="1874520"/>
            <a:ext cx="1825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1:1 by ply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2468880" y="1783080"/>
            <a:ext cx="5943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800600" y="1783080"/>
            <a:ext cx="7315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269480" y="1783080"/>
            <a:ext cx="9601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886200" y="2167128"/>
            <a:ext cx="0" cy="103327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468880" y="3575304"/>
            <a:ext cx="5943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051560" y="4709160"/>
            <a:ext cx="9966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重點：Position 與 Move 是訓練資料的核心對齊點，Game 則提供同一盤棋內的順序與切分邊界。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Relational Model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ER 圖落成資料表與外鍵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2383841" cy="391886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62456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Relation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115361" y="1325880"/>
            <a:ext cx="2383841" cy="391886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8513" y="1362456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Primary Key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499202" y="1325880"/>
            <a:ext cx="6067958" cy="391886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2354" y="1362456"/>
            <a:ext cx="5921654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Foreign Keys / 重要欄位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31520" y="1717766"/>
            <a:ext cx="2383841" cy="39188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1754342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import_batches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115361" y="1717766"/>
            <a:ext cx="2383841" cy="39188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8513" y="1754342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batch_id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499202" y="1717766"/>
            <a:ext cx="6067958" cy="39188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2354" y="1754342"/>
            <a:ext cx="5921654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source_path, imported_at, status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31520" y="2109651"/>
            <a:ext cx="2383841" cy="391886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146227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3115361" y="2109651"/>
            <a:ext cx="2383841" cy="391886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8513" y="2146227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499202" y="2109651"/>
            <a:ext cx="6067958" cy="391886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2354" y="2146227"/>
            <a:ext cx="5921654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batch_id, black_player_id, white_player_id, event_id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731520" y="2501537"/>
            <a:ext cx="2383841" cy="39188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2538113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positions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3115361" y="2501537"/>
            <a:ext cx="2383841" cy="39188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88513" y="2538113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position_id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499202" y="2501537"/>
            <a:ext cx="6067958" cy="39188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2354" y="2538113"/>
            <a:ext cx="5921654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game_id, ply, sfen, side_to_move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731520" y="2893423"/>
            <a:ext cx="2383841" cy="391886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2929999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moves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3115361" y="2893423"/>
            <a:ext cx="2383841" cy="391886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8513" y="2929999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move_id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5499202" y="2893423"/>
            <a:ext cx="6067958" cy="391886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2354" y="2929999"/>
            <a:ext cx="5921654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game_id, ply, usi, csa, from_sq, to_sq, promote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731520" y="3285309"/>
            <a:ext cx="2383841" cy="39188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3321885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players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3115361" y="3285309"/>
            <a:ext cx="2383841" cy="39188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88513" y="3321885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player_id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5499202" y="3285309"/>
            <a:ext cx="6067958" cy="39188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2354" y="3321885"/>
            <a:ext cx="5921654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name, rating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731520" y="3677194"/>
            <a:ext cx="2383841" cy="391886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" y="3713770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events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3115361" y="3677194"/>
            <a:ext cx="2383841" cy="391886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88513" y="3713770"/>
            <a:ext cx="2237537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event_id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5499202" y="3677194"/>
            <a:ext cx="6067958" cy="391886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2354" y="3713770"/>
            <a:ext cx="5921654" cy="31873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name, played_at</a:t>
            </a:r>
            <a:endParaRPr lang="en-US" sz="830" dirty="0"/>
          </a:p>
        </p:txBody>
      </p:sp>
      <p:sp>
        <p:nvSpPr>
          <p:cNvPr id="49" name="Text 47"/>
          <p:cNvSpPr/>
          <p:nvPr/>
        </p:nvSpPr>
        <p:spPr>
          <a:xfrm>
            <a:off x="914400" y="443484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資料科學匯出時主要讀取 positions JOIN moves，依 game_id + ply 取得「局面 -&gt; 下一手」。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資料表設計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Position 與 Move 分表，保留查詢彈性與訓練對齊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3200400" cy="109728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435608"/>
            <a:ext cx="29077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544" y="1746504"/>
            <a:ext cx="29077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保存整盤棋的 metadata，提供 game-level split。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3200400" cy="109728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435608"/>
            <a:ext cx="29077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positions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26864" y="1746504"/>
            <a:ext cx="29077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保存每個 ply 的 SFEN 與輪次，是 feature 的來源。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3200400" cy="109728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435608"/>
            <a:ext cx="29077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moves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30184" y="1746504"/>
            <a:ext cx="29077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保存實際走法與 label 所需資訊，是 target 的來源。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34440" y="2926080"/>
            <a:ext cx="3423514" cy="35433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2962656"/>
            <a:ext cx="3277210" cy="2811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設計點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657954" y="2926080"/>
            <a:ext cx="6086246" cy="35433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1106" y="2962656"/>
            <a:ext cx="5939942" cy="2811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234440" y="3280410"/>
            <a:ext cx="3423514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7592" y="3316986"/>
            <a:ext cx="3277210" cy="2811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UNIQUE(game_id, ply) on positions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657954" y="3280410"/>
            <a:ext cx="6086246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1106" y="3316986"/>
            <a:ext cx="5939942" cy="2811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同一盤棋同一手數只有一個局面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1234440" y="3634740"/>
            <a:ext cx="3423514" cy="35433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7592" y="3671316"/>
            <a:ext cx="3277210" cy="2811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UNIQUE(game_id, ply) on moves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657954" y="3634740"/>
            <a:ext cx="6086246" cy="35433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1106" y="3671316"/>
            <a:ext cx="5939942" cy="2811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同一局面只對應棋譜中的下一手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1234440" y="3989070"/>
            <a:ext cx="3423514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07592" y="4025646"/>
            <a:ext cx="3277210" cy="2811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INDEX(game_id, ply)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4657954" y="3989070"/>
            <a:ext cx="6086246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1106" y="4025646"/>
            <a:ext cx="5939942" cy="2811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快速依序重建棋局與匯出訓練樣本</a:t>
            </a:r>
            <a:endParaRPr lang="en-US" sz="8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 Create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SQL 建立核心資料表、約束與索引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5303520" cy="44348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53312"/>
            <a:ext cx="5029200" cy="4215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games (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game_id BIGINT PRIMARY KEY AUTO_INCREMENT,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batch_id BIGINT,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black_player_id BIGINT,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white_player_id BIGINT,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ENUM('BLACK_WIN','WHITE_WIN','DRAW','SENNICHITE'),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start_time DATETIME,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(batch_id) REFERENCES import_batches(batch_id)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positions (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position_id BIGINT PRIMARY KEY AUTO_INCREMENT,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game_id BIGINT NOT NULL,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ply INT NOT NULL,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sfen TEXT NOT NULL,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side_to_move CHAR(1) NOT NULL,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KEY uq_position_game_ply (game_id, ply),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(game_id) REFERENCES games(game_id)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64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03520" cy="44348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353312"/>
            <a:ext cx="5029200" cy="4215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moves (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move_id BIGINT PRIMARY KEY AUTO_INCREMENT,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game_id BIGINT NOT NULL,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ply INT NOT NULL,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 VARCHAR(16) NOT NULL,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csa VARCHAR(16),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from_sq VARCHAR(8),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to_sq VARCHAR(8),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piece VARCHAR(8),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promote BOOLEAN DEFAULT FALSE,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label_id INT,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KEY uq_move_game_ply (game_id, ply),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 idx_move_label (label_id),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(game_id) REFERENCES games(game_id)</a:t>
            </a:r>
            <a:endParaRPr lang="en-US" sz="64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6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資料匯入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匯入流程要能重跑、能追蹤、能檢查錯誤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1653540" cy="77724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15621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 CSA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412492" y="182422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95372" y="1508760"/>
            <a:ext cx="1653540" cy="77724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41092" y="1554480"/>
            <a:ext cx="15621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 header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230624" y="182422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3504" y="1508760"/>
            <a:ext cx="1653540" cy="777240"/>
          </a:xfrm>
          <a:prstGeom prst="rect">
            <a:avLst/>
          </a:prstGeom>
          <a:solidFill>
            <a:srgbClr val="FFF1B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9224" y="1554480"/>
            <a:ext cx="15621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game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48756" y="182422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1636" y="1508760"/>
            <a:ext cx="1653540" cy="77724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7356" y="1554480"/>
            <a:ext cx="15621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逐手產生 position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866888" y="182422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9768" y="1508760"/>
            <a:ext cx="1653540" cy="77724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5488" y="1554480"/>
            <a:ext cx="15621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 move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685020" y="182422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67900" y="1508760"/>
            <a:ext cx="1653540" cy="777240"/>
          </a:xfrm>
          <a:prstGeom prst="rect">
            <a:avLst/>
          </a:prstGeom>
          <a:solidFill>
            <a:srgbClr val="E2E8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13620" y="1554480"/>
            <a:ext cx="15621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 batch 狀態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1325880" y="2743200"/>
            <a:ext cx="9418320" cy="1143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2862072"/>
            <a:ext cx="9144000" cy="923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import_csa_to_db.py \</a:t>
            </a:r>
            <a:endParaRPr lang="en-US" sz="8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--input /path/to/csa \</a:t>
            </a:r>
            <a:endParaRPr lang="en-US" sz="8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--host 140.135.65.53 --port 3306 \</a:t>
            </a:r>
            <a:endParaRPr lang="en-US" sz="8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--user l1211213 --database DB11211213 \</a:t>
            </a:r>
            <a:endParaRPr lang="en-US" sz="8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--skip-existing --create-tables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34440" y="4206240"/>
            <a:ext cx="96012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batch table 保存匯入狀態，避免中斷後不知道進度。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skip-existing 可避免重複匯入同一棋譜。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create-tables 讓第一次部署可直接建立 schema。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Position 與 Move 對齊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+ ply 是 supervised learning 的生命線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638605" cy="50292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53896"/>
            <a:ext cx="1492301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507285" y="1417320"/>
            <a:ext cx="1638605" cy="50292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0437" y="1453896"/>
            <a:ext cx="1492301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對齊欄位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145890" y="1417320"/>
            <a:ext cx="2574950" cy="50292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19042" y="1453896"/>
            <a:ext cx="242864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68680" y="1920240"/>
            <a:ext cx="1638605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1956816"/>
            <a:ext cx="1492301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positions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2507285" y="1920240"/>
            <a:ext cx="1638605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0437" y="1956816"/>
            <a:ext cx="1492301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game_id, ply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145890" y="1920240"/>
            <a:ext cx="257495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9042" y="1956816"/>
            <a:ext cx="242864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模型輸入 X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68680" y="2423160"/>
            <a:ext cx="1638605" cy="50292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2459736"/>
            <a:ext cx="1492301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moves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2507285" y="2423160"/>
            <a:ext cx="1638605" cy="50292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80437" y="2459736"/>
            <a:ext cx="1492301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game_id, ply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4145890" y="2423160"/>
            <a:ext cx="2574950" cy="50292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19042" y="2459736"/>
            <a:ext cx="242864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正解標籤 y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868680" y="2926080"/>
            <a:ext cx="1638605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2962656"/>
            <a:ext cx="1492301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2507285" y="2926080"/>
            <a:ext cx="1638605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80437" y="2962656"/>
            <a:ext cx="1492301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4145890" y="2926080"/>
            <a:ext cx="257495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19042" y="2962656"/>
            <a:ext cx="242864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切分 train/valid/test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7132320" y="1508760"/>
            <a:ext cx="3611880" cy="9601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1618488"/>
            <a:ext cx="33192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設計理由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78624" y="1929384"/>
            <a:ext cx="331927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若局面與下一手錯位，模型會把正確棋形配到錯誤走法，訓練結果會失真。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32320" y="2788920"/>
            <a:ext cx="3611880" cy="155448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2907792"/>
            <a:ext cx="3337560" cy="1335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p.sfen, m.usi, m.label_id</a:t>
            </a:r>
            <a:endParaRPr lang="en-US" sz="72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positions p</a:t>
            </a:r>
            <a:endParaRPr lang="en-US" sz="72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moves m</a:t>
            </a:r>
            <a:endParaRPr lang="en-US" sz="72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p.game_id = m.game_id</a:t>
            </a:r>
            <a:endParaRPr lang="en-US" sz="72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p.ply = m.ply</a:t>
            </a:r>
            <a:endParaRPr lang="en-US" sz="72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p.game_id = ?</a:t>
            </a:r>
            <a:endParaRPr lang="en-US" sz="72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p.ply;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查詢功能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SQL 支援統計、除錯與資料集匯出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1298448"/>
            <a:ext cx="5166360" cy="338328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17320"/>
            <a:ext cx="4892040" cy="3163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查某盤棋的完整序列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p.ply, p.sfen, m.usi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positions p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moves m ON p.game_id=m.game_id AND p.ply=m.ply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p.game_id = 1001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p.ply;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統計常見走法標籤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label_id, COUNT(*) AS n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moves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label_id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n DESC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20;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6263640" y="1298448"/>
            <a:ext cx="5166360" cy="338328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17320"/>
            <a:ext cx="4892040" cy="3163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匯出訓練樣本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g.game_id, p.ply, p.sfen, m.usi, m.label_id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games g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positions p ON g.game_id=p.game_id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moves m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p.game_id=m.game_id AND p.ply=m.ply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m.label_id IS NOT NULL</a:t>
            </a:r>
            <a:endParaRPr lang="en-US" sz="71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71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g.game_id, p.ply;</a:t>
            </a:r>
            <a:endParaRPr lang="en-US" sz="7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如何支援各項功能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資料庫設計對應到系統功能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2333549" cy="49530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08176"/>
            <a:ext cx="2187245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156509" y="1371600"/>
            <a:ext cx="2969971" cy="49530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9661" y="1408176"/>
            <a:ext cx="2823667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需要的資料表 / 欄位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5303520" cy="49530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1408176"/>
            <a:ext cx="5157216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設計如何支援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22960" y="1866900"/>
            <a:ext cx="2333549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1903476"/>
            <a:ext cx="2187245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棋局重建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156509" y="1866900"/>
            <a:ext cx="2969971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9661" y="1903476"/>
            <a:ext cx="2823667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games, positions, moves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126480" y="1866900"/>
            <a:ext cx="530352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903476"/>
            <a:ext cx="5157216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game_id + ply 排序即可重建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22960" y="2362200"/>
            <a:ext cx="2333549" cy="49530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398776"/>
            <a:ext cx="2187245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資料集匯出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3156509" y="2362200"/>
            <a:ext cx="2969971" cy="49530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9661" y="2398776"/>
            <a:ext cx="2823667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positions.sfen, moves.label_id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6126480" y="2362200"/>
            <a:ext cx="5303520" cy="49530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2398776"/>
            <a:ext cx="5157216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JOIN 後形成 X/y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822960" y="2857500"/>
            <a:ext cx="2333549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2894076"/>
            <a:ext cx="2187245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訓練切分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3156509" y="2857500"/>
            <a:ext cx="2969971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29661" y="2894076"/>
            <a:ext cx="2823667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games.game_id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6126480" y="2857500"/>
            <a:ext cx="530352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2894076"/>
            <a:ext cx="5157216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game-level split 防止資料洩漏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822960" y="3352800"/>
            <a:ext cx="2333549" cy="49530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3389376"/>
            <a:ext cx="2187245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匯入追蹤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3156509" y="3352800"/>
            <a:ext cx="2969971" cy="49530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29661" y="3389376"/>
            <a:ext cx="2823667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import_batches.status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6126480" y="3352800"/>
            <a:ext cx="5303520" cy="49530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389376"/>
            <a:ext cx="5157216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記錄來源、時間、錯誤與批次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822960" y="3848100"/>
            <a:ext cx="2333549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3884676"/>
            <a:ext cx="2187245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查詢統計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3156509" y="3848100"/>
            <a:ext cx="2969971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29661" y="3884676"/>
            <a:ext cx="2823667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label_id, result, player_id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6126480" y="3848100"/>
            <a:ext cx="530352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9632" y="3884676"/>
            <a:ext cx="5157216" cy="4221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索引加速 group by 與篩選</a:t>
            </a:r>
            <a:endParaRPr lang="en-US" sz="8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限制與改進方向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schema 可運作，仍可強化品質控管與效能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063240" cy="1005840"/>
          </a:xfrm>
          <a:prstGeom prst="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27048"/>
            <a:ext cx="27706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資料品質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544" y="1837944"/>
            <a:ext cx="27706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可加入更完整的棋譜 checksum、非法手檢查與匯入錯誤表。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417320"/>
            <a:ext cx="3063240" cy="1005840"/>
          </a:xfrm>
          <a:prstGeom prst="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6824" y="1527048"/>
            <a:ext cx="27706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查詢效能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06824" y="1837944"/>
            <a:ext cx="27706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大量資料下可評估 partition、covering index 或 materialized summary。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43800" y="1417320"/>
            <a:ext cx="3063240" cy="1005840"/>
          </a:xfrm>
          <a:prstGeom prst="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0104" y="1527048"/>
            <a:ext cx="27706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資料版本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90104" y="1837944"/>
            <a:ext cx="27706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NPZ 匯出應記錄 dataset version，對應模型訓練紀錄。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74520" y="3017520"/>
            <a:ext cx="8412480" cy="9144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0824" y="3127248"/>
            <a:ext cx="81198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未來方向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20824" y="3438144"/>
            <a:ext cx="811987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增加 schema migration、匯入測試、資料血緣紀錄，讓研究結果更可重現。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好的資料庫設計讓 AI 訓練資料可靠且可重現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481328"/>
            <a:ext cx="896112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資料庫目標是把棋譜拆成可查詢的 Game、Position、Move 等實體。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ER 圖描述實體與關聯，Relational Model 把它落成表、鍵、外鍵與索引。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CREATE SQL 透過 PK、FK、UNIQUE 與 INDEX 保證完整性與查詢效率。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Position 與 Move 的 game_id + ply 對齊，是產生正確 supervised dataset 的關鍵。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資料庫支援匯入、查詢、統計、匯出與模型訓練，是整個 shogiAI 的資料底座。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5880" y="4892040"/>
            <a:ext cx="9601200" cy="594360"/>
          </a:xfrm>
          <a:prstGeom prst="rect">
            <a:avLst>
              <a:gd name="adj" fmla="val 4615"/>
            </a:avLst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2184" y="5001768"/>
            <a:ext cx="9308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72184" y="5312664"/>
            <a:ext cx="930859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資料庫把棋譜整理成可靠的關聯資料，模型才能學到正確的局面與走法對應。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shogiAI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shogiAI report slides</dc:subject>
  <dc:creator>shogiAI</dc:creator>
  <cp:lastModifiedBy>shogiAI</cp:lastModifiedBy>
  <cp:revision>1</cp:revision>
  <dcterms:created xsi:type="dcterms:W3CDTF">2026-06-18T05:23:47Z</dcterms:created>
  <dcterms:modified xsi:type="dcterms:W3CDTF">2026-06-18T05:23:47Z</dcterms:modified>
</cp:coreProperties>
</file>