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52b0c356e4a73" /><Relationship Type="http://schemas.openxmlformats.org/officeDocument/2006/relationships/extended-properties" Target="/docProps/app.xml" Id="R537c5b21412441e5" /><Relationship Type="http://schemas.openxmlformats.org/officeDocument/2006/relationships/officeDocument" Target="/ppt/presentation.xml" Id="Rd9742e09e04146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497c9fd7794f6d"/>
  </p:sldMasterIdLst>
  <p:notesMasterIdLst>
    <p:notesMasterId xmlns:r="http://schemas.openxmlformats.org/officeDocument/2006/relationships" r:id="R12c44c69f4e94e4f"/>
  </p:notesMasterIdLst>
  <p:sldIdLst>
    <p:sldId xmlns:r="http://schemas.openxmlformats.org/officeDocument/2006/relationships" id="256" r:id="R9dc4112f15d84f0d"/>
    <p:sldId xmlns:r="http://schemas.openxmlformats.org/officeDocument/2006/relationships" id="257" r:id="R80ecb1ede1884fa0"/>
    <p:sldId xmlns:r="http://schemas.openxmlformats.org/officeDocument/2006/relationships" id="258" r:id="Rfddf9c59e08e4305"/>
    <p:sldId xmlns:r="http://schemas.openxmlformats.org/officeDocument/2006/relationships" id="259" r:id="R14e8461142a24a9e"/>
    <p:sldId xmlns:r="http://schemas.openxmlformats.org/officeDocument/2006/relationships" id="260" r:id="Rffc440d0052b4f18"/>
    <p:sldId xmlns:r="http://schemas.openxmlformats.org/officeDocument/2006/relationships" id="261" r:id="Rf334bfae82954f12"/>
    <p:sldId xmlns:r="http://schemas.openxmlformats.org/officeDocument/2006/relationships" id="262" r:id="R233f30b153894f33"/>
    <p:sldId xmlns:r="http://schemas.openxmlformats.org/officeDocument/2006/relationships" id="263" r:id="R257f0a34a265487e"/>
    <p:sldId xmlns:r="http://schemas.openxmlformats.org/officeDocument/2006/relationships" id="264" r:id="R37824b62883e4597"/>
    <p:sldId xmlns:r="http://schemas.openxmlformats.org/officeDocument/2006/relationships" id="265" r:id="Ra3eaa840bdb7431b"/>
    <p:sldId xmlns:r="http://schemas.openxmlformats.org/officeDocument/2006/relationships" id="266" r:id="R80a923c68ba14664"/>
    <p:sldId xmlns:r="http://schemas.openxmlformats.org/officeDocument/2006/relationships" id="267" r:id="R21c3e7ebac2047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39209c3244bbe" /><Relationship Type="http://schemas.openxmlformats.org/officeDocument/2006/relationships/slideMaster" Target="/ppt/slideMasters/slideMaster1.xml" Id="R9e497c9fd7794f6d" /><Relationship Type="http://schemas.openxmlformats.org/officeDocument/2006/relationships/notesMaster" Target="/ppt/notesMasters/notesMaster1.xml" Id="R12c44c69f4e94e4f" /><Relationship Type="http://schemas.openxmlformats.org/officeDocument/2006/relationships/presProps" Target="/ppt/presProps.xml" Id="R17b697c7500244c4" /><Relationship Type="http://schemas.openxmlformats.org/officeDocument/2006/relationships/tableStyles" Target="/ppt/tableStyles.xml" Id="R4d34b646686f4466" /><Relationship Type="http://schemas.openxmlformats.org/officeDocument/2006/relationships/slide" Target="/ppt/slides/slide1.xml" Id="R9dc4112f15d84f0d" /><Relationship Type="http://schemas.openxmlformats.org/officeDocument/2006/relationships/slide" Target="/ppt/slides/slide2.xml" Id="R80ecb1ede1884fa0" /><Relationship Type="http://schemas.openxmlformats.org/officeDocument/2006/relationships/slide" Target="/ppt/slides/slide3.xml" Id="Rfddf9c59e08e4305" /><Relationship Type="http://schemas.openxmlformats.org/officeDocument/2006/relationships/slide" Target="/ppt/slides/slide4.xml" Id="R14e8461142a24a9e" /><Relationship Type="http://schemas.openxmlformats.org/officeDocument/2006/relationships/slide" Target="/ppt/slides/slide5.xml" Id="Rffc440d0052b4f18" /><Relationship Type="http://schemas.openxmlformats.org/officeDocument/2006/relationships/slide" Target="/ppt/slides/slide6.xml" Id="Rf334bfae82954f12" /><Relationship Type="http://schemas.openxmlformats.org/officeDocument/2006/relationships/slide" Target="/ppt/slides/slide7.xml" Id="R233f30b153894f33" /><Relationship Type="http://schemas.openxmlformats.org/officeDocument/2006/relationships/slide" Target="/ppt/slides/slide8.xml" Id="R257f0a34a265487e" /><Relationship Type="http://schemas.openxmlformats.org/officeDocument/2006/relationships/slide" Target="/ppt/slides/slide9.xml" Id="R37824b62883e4597" /><Relationship Type="http://schemas.openxmlformats.org/officeDocument/2006/relationships/slide" Target="/ppt/slides/slide10.xml" Id="Ra3eaa840bdb7431b" /><Relationship Type="http://schemas.openxmlformats.org/officeDocument/2006/relationships/slide" Target="/ppt/slides/slide11.xml" Id="R80a923c68ba14664" /><Relationship Type="http://schemas.openxmlformats.org/officeDocument/2006/relationships/slide" Target="/ppt/slides/slide12.xml" Id="R21c3e7ebac2047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2848ff361448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d45eaf46514490" /><Relationship Type="http://schemas.openxmlformats.org/officeDocument/2006/relationships/notesMaster" Target="/ppt/notesMasters/notesMaster1.xml" Id="R34302107e8194c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180f00b7514d76" /><Relationship Type="http://schemas.openxmlformats.org/officeDocument/2006/relationships/notesMaster" Target="/ppt/notesMasters/notesMaster1.xml" Id="R6f97d15d543143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7286d4bf9c4365" /><Relationship Type="http://schemas.openxmlformats.org/officeDocument/2006/relationships/notesMaster" Target="/ppt/notesMasters/notesMaster1.xml" Id="R4baec1d8ba66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e07b6e9bf482b" /><Relationship Type="http://schemas.openxmlformats.org/officeDocument/2006/relationships/notesMaster" Target="/ppt/notesMasters/notesMaster1.xml" Id="Rfafb96d7fabb4f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76d113482442ca" /><Relationship Type="http://schemas.openxmlformats.org/officeDocument/2006/relationships/notesMaster" Target="/ppt/notesMasters/notesMaster1.xml" Id="R9afbc367e021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ff670ad7984fd3" /><Relationship Type="http://schemas.openxmlformats.org/officeDocument/2006/relationships/notesMaster" Target="/ppt/notesMasters/notesMaster1.xml" Id="R8f3bb24b9872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160be236a4ff7" /><Relationship Type="http://schemas.openxmlformats.org/officeDocument/2006/relationships/notesMaster" Target="/ppt/notesMasters/notesMaster1.xml" Id="R333805ee890846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2adbfe1c3c49d0" /><Relationship Type="http://schemas.openxmlformats.org/officeDocument/2006/relationships/notesMaster" Target="/ppt/notesMasters/notesMaster1.xml" Id="Radf4101aca8547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a9881942134fda" /><Relationship Type="http://schemas.openxmlformats.org/officeDocument/2006/relationships/notesMaster" Target="/ppt/notesMasters/notesMaster1.xml" Id="R6352ea0c791a41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be1175e79e4305" /><Relationship Type="http://schemas.openxmlformats.org/officeDocument/2006/relationships/notesMaster" Target="/ppt/notesMasters/notesMaster1.xml" Id="Rc3eb4537e0644f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c8756c06ff4c35" /><Relationship Type="http://schemas.openxmlformats.org/officeDocument/2006/relationships/notesMaster" Target="/ppt/notesMasters/notesMaster1.xml" Id="R07d5ced49d91489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1cb210ca844e8d" /><Relationship Type="http://schemas.openxmlformats.org/officeDocument/2006/relationships/notesMaster" Target="/ppt/notesMasters/notesMaster1.xml" Id="R0423c2d5874f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開場說明這份是整合後的短版簡報，重點不是遠端主機或訓練流程，而是資料庫怎麼設計、怎麼建立、怎麼查。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用需求導向來講：不是先隨便建表，而是先看功能需要什麼資料。瀏覽需要 game_records 和 players，回放與訓練需要 moves 和 positions。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這頁重點是 ER 圖讀法。game_records 代表一場棋，users 是上傳者，players 是棋手，moves 和 positions 是一場棋底下的序列資料。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PK 是每列資料的唯一身份，FK 是表和表之間的約束。這頁可以把 ER 圖轉換成 relational model。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不只是語法，還包含資料庫的共同設定。utf8mb4、InnoDB、IF NOT EXISTS 都是為了實務操作穩定。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先建立沒有依賴的 users 和 players，再建立 game_records，最後建立依賴 game_records 的 moves 和 positions。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這頁是設計核心。positions 是狀態，moves 是動作；AI 要學的是某個狀態下下一個動作。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資料寫入順序要符合 FK 約束：先有 game_records 的 game_id，後面 moves 和 positions 才能連到同一場棋。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這頁講查詢功能如何從資料表組合而來。列表需要 game_records，但顯示棋手名稱要 join players，顯示步數要查 moves。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positions 表的存在就是為了查詢效率與前端簡化。指定手數回放時直接取 SFEN。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把索引和 API 放在同一頁，讓聽眾看到為什麼這些索引存在：它們服務具體查詢，不是裝飾。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最後用一句話收束：資料庫設計的價值是讓同一批資料可被前端、API、AI 訓練重複使用，而且邏輯一致。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aa187a9592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69a330782d46eb" /><Relationship Type="http://schemas.openxmlformats.org/officeDocument/2006/relationships/slideLayout" Target="/ppt/slideLayouts/slideLayout1.xml" Id="Raa1a1a42de4545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a1a42de4545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a7ff20972468c" /><Relationship Type="http://schemas.openxmlformats.org/officeDocument/2006/relationships/notesSlide" Target="/ppt/notesSlides/notesSlide1.xml" Id="R8f3fad4f4b724b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6eb8d0294453e" /><Relationship Type="http://schemas.openxmlformats.org/officeDocument/2006/relationships/notesSlide" Target="/ppt/notesSlides/notesSlide2.xml" Id="R1056ca7f486b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e628350034fd8" /><Relationship Type="http://schemas.openxmlformats.org/officeDocument/2006/relationships/notesSlide" Target="/ppt/notesSlides/notesSlide3.xml" Id="Rf783a903babe45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c73a7e5ad4b5a" /><Relationship Type="http://schemas.openxmlformats.org/officeDocument/2006/relationships/notesSlide" Target="/ppt/notesSlides/notesSlide4.xml" Id="Rf873cc090d5845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eb46d23dc4a92" /><Relationship Type="http://schemas.openxmlformats.org/officeDocument/2006/relationships/notesSlide" Target="/ppt/notesSlides/notesSlide5.xml" Id="R1cc4c2e38a5542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78a17e9454424" /><Relationship Type="http://schemas.openxmlformats.org/officeDocument/2006/relationships/notesSlide" Target="/ppt/notesSlides/notesSlide6.xml" Id="Rb3d726a558e04e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afd473ce84e1b" /><Relationship Type="http://schemas.openxmlformats.org/officeDocument/2006/relationships/notesSlide" Target="/ppt/notesSlides/notesSlide7.xml" Id="Recc33a9a43f542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80f34828a4266" /><Relationship Type="http://schemas.openxmlformats.org/officeDocument/2006/relationships/notesSlide" Target="/ppt/notesSlides/notesSlide8.xml" Id="R6448babfb51948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9d8cda1e84f84" /><Relationship Type="http://schemas.openxmlformats.org/officeDocument/2006/relationships/notesSlide" Target="/ppt/notesSlides/notesSlide9.xml" Id="R3b81997016604a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f37bddc714638" /><Relationship Type="http://schemas.openxmlformats.org/officeDocument/2006/relationships/notesSlide" Target="/ppt/notesSlides/notesSlide10.xml" Id="R9ef42a592bfe4c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977d2b6374387" /><Relationship Type="http://schemas.openxmlformats.org/officeDocument/2006/relationships/notesSlide" Target="/ppt/notesSlides/notesSlide11.xml" Id="R5220f1ee3a9c48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8f6d0756a4d8a" /><Relationship Type="http://schemas.openxmlformats.org/officeDocument/2006/relationships/notesSlide" Target="/ppt/notesSlides/notesSlide12.xml" Id="Rd6806da9c9fe40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4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E1D58-96D9-4F1B-B5C7-652ACE16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9F6E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9F6E4"/>
                </a:solidFill>
                <a:latin typeface="Microsoft JhengHei"/>
                <a:ea typeface="Microsoft JhengHei"/>
                <a:cs typeface="Microsoft JhengHei"/>
              </a:rPr>
              <a:t>shogiAI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9227A7-F643-4D73-BCA4-3F85D3CF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資料庫整合設計報告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27FAC-4B7D-4368-BBC3-D4AE6B2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CFBF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CCFBF1"/>
                </a:solidFill>
                <a:latin typeface="Microsoft JhengHei"/>
                <a:ea typeface="Microsoft JhengHei"/>
                <a:cs typeface="Microsoft JhengHei"/>
              </a:rPr>
              <a:t>ER 圖、Relational Model、CREATE、查詢與 API 對應</a:t>
            </a:r>
          </a:p>
        </p:txBody>
      </p:sp>
      <p:sp>
        <p:nvSpPr>
          <p:cNvPr id="4" name="g">
            <a:extLst xmlns:a="http://schemas.openxmlformats.org/drawingml/2006/main">
              <a:ext uri="{FF2B5EF4-FFF2-40B4-BE49-F238E27FC236}">
                <a16:creationId xmlns:a16="http://schemas.microsoft.com/office/drawing/2014/main" id="{E3094576-F0ED-455A-AD96-3C8ACF74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19050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5EEA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88549-C2DC-41A4-ADE3-E910EE1F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6" name="m">
            <a:extLst xmlns:a="http://schemas.openxmlformats.org/drawingml/2006/main">
              <a:ext uri="{FF2B5EF4-FFF2-40B4-BE49-F238E27FC236}">
                <a16:creationId xmlns:a16="http://schemas.microsoft.com/office/drawing/2014/main" id="{FE051B74-9BC2-431E-9FF4-5D3889FF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85800"/>
            <a:ext cx="13335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F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786D7-B054-4E65-9703-6F615188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990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8" name="p">
            <a:extLst xmlns:a="http://schemas.openxmlformats.org/drawingml/2006/main">
              <a:ext uri="{FF2B5EF4-FFF2-40B4-BE49-F238E27FC236}">
                <a16:creationId xmlns:a16="http://schemas.microsoft.com/office/drawing/2014/main" id="{E8036B1F-640E-43AF-9663-05379A27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15240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FEA0D-0A49-4568-A8A2-2D0E6D00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81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5985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075985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10" name="pl">
            <a:extLst xmlns:a="http://schemas.openxmlformats.org/drawingml/2006/main">
              <a:ext uri="{FF2B5EF4-FFF2-40B4-BE49-F238E27FC236}">
                <a16:creationId xmlns:a16="http://schemas.microsoft.com/office/drawing/2014/main" id="{C2331EA5-CA71-415F-A66F-4653B7E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43250"/>
            <a:ext cx="15240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87986-6999-4D96-9779-0FEC7F4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48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2400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715500" y="1076325"/>
            <a:ext cx="17145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EAD4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715500" y="1866900"/>
            <a:ext cx="1714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DD3FC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8334375" y="2305050"/>
            <a:ext cx="428625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F5325-B9DD-4206-BF6D-371BC2B7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F3D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7F3D0"/>
                </a:solidFill>
                <a:latin typeface="Microsoft JhengHei"/>
                <a:ea typeface="Microsoft JhengHei"/>
                <a:cs typeface="Microsoft JhengHei"/>
              </a:rPr>
              <a:t>課堂報告版｜12 張重點版</a:t>
            </a:r>
          </a:p>
        </p:txBody>
      </p:sp>
    </p:spTree>
    <p:extLst>
      <p:ext uri="{BB962C8B-B14F-4D97-AF65-F5344CB8AC3E}">
        <p14:creationId xmlns:p14="http://schemas.microsoft.com/office/powerpoint/2010/main" val="1083742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4F809-B90A-4C8A-BC46-650D634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01 設計入口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4D6E7-D852-425F-8BE7-49FF07DD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從功能需求推導出資料表設計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7D5A6-00EF-4144-9ABF-FB899682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927F6-8EAF-4ADB-9E42-5F10C05C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a">
            <a:extLst xmlns:a="http://schemas.openxmlformats.org/drawingml/2006/main">
              <a:ext uri="{FF2B5EF4-FFF2-40B4-BE49-F238E27FC236}">
                <a16:creationId xmlns:a16="http://schemas.microsoft.com/office/drawing/2014/main" id="{782E1D83-E380-4B4B-92EF-E939827A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857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A8DAF-F04D-4E3A-8676-9BB6FBC6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288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棋譜瀏覽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812A9-803F-418D-ADD6-404B6E0A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需要列出對局、棋手、日期、結果，並能依手數回放。</a:t>
            </a:r>
          </a:p>
        </p:txBody>
      </p:sp>
      <p:sp>
        <p:nvSpPr>
          <p:cNvPr id="8" name="b">
            <a:extLst xmlns:a="http://schemas.openxmlformats.org/drawingml/2006/main">
              <a:ext uri="{FF2B5EF4-FFF2-40B4-BE49-F238E27FC236}">
                <a16:creationId xmlns:a16="http://schemas.microsoft.com/office/drawing/2014/main" id="{A0A696D1-D385-449A-A679-FBE92AD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95450"/>
            <a:ext cx="2857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10808-CF67-4E4D-9168-71BACDED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288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CSA 匯入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B4B21-828A-4CC8-965C-F91FAE06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71700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需要把一份檔案拆成一場棋、很多手、很多局面。</a:t>
            </a:r>
          </a:p>
        </p:txBody>
      </p:sp>
      <p:sp>
        <p:nvSpPr>
          <p:cNvPr id="11" name="d">
            <a:extLst xmlns:a="http://schemas.openxmlformats.org/drawingml/2006/main">
              <a:ext uri="{FF2B5EF4-FFF2-40B4-BE49-F238E27FC236}">
                <a16:creationId xmlns:a16="http://schemas.microsoft.com/office/drawing/2014/main" id="{50A5239D-ABDC-4442-B350-405B5BBC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95450"/>
            <a:ext cx="2857500" cy="142875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EF842-5E54-4D79-A366-25BBA2F5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AI 資料出口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D0678-2E13-4FAA-919F-A3B50F07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71700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需要把第 t 個局面對齊第 t+1 手，輸出 policy label。</a:t>
            </a:r>
          </a:p>
        </p:txBody>
      </p:sp>
      <p:sp>
        <p:nvSpPr>
          <p:cNvPr id="14" name="e1">
            <a:extLst xmlns:a="http://schemas.openxmlformats.org/drawingml/2006/main">
              <a:ext uri="{FF2B5EF4-FFF2-40B4-BE49-F238E27FC236}">
                <a16:creationId xmlns:a16="http://schemas.microsoft.com/office/drawing/2014/main" id="{5FE60ADD-23D3-478F-B64A-FDD10F8B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18097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2ABB9-F0BB-4A9D-92BE-7D682108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16" name="e2">
            <a:extLst xmlns:a="http://schemas.openxmlformats.org/drawingml/2006/main">
              <a:ext uri="{FF2B5EF4-FFF2-40B4-BE49-F238E27FC236}">
                <a16:creationId xmlns:a16="http://schemas.microsoft.com/office/drawing/2014/main" id="{2ABF8310-7CE8-4722-ABAE-08B0459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4287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EB7F8-6856-43EC-B409-D4D842CC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400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sp>
        <p:nvSpPr>
          <p:cNvPr id="18" name="e3">
            <a:extLst xmlns:a="http://schemas.openxmlformats.org/drawingml/2006/main">
              <a:ext uri="{FF2B5EF4-FFF2-40B4-BE49-F238E27FC236}">
                <a16:creationId xmlns:a16="http://schemas.microsoft.com/office/drawing/2014/main" id="{5C113E56-572D-4BF6-B3DA-BD44654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4287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A9551-C96D-4990-A34B-6C843247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338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8133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881337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20" name="e4">
            <a:extLst xmlns:a="http://schemas.openxmlformats.org/drawingml/2006/main">
              <a:ext uri="{FF2B5EF4-FFF2-40B4-BE49-F238E27FC236}">
                <a16:creationId xmlns:a16="http://schemas.microsoft.com/office/drawing/2014/main" id="{2AF7A284-90D8-4E13-8066-56B7DE23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161925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53893-6F48-46A2-A494-6C320BCE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E3A8A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cxnSp>
        <p:nvCxnSpPr>
          <p:cNvPr id="49" name=""/>
          <p:cNvCxnSpPr>
            <a:stCxn xmlns:a="http://schemas.openxmlformats.org/drawingml/2006/main" id="5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38375" y="3124200"/>
            <a:ext cx="6667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50" name=""/>
          <p:cNvCxnSpPr>
            <a:stCxn xmlns:a="http://schemas.openxmlformats.org/drawingml/2006/main" id="8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3124200"/>
            <a:ext cx="52387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124200"/>
            <a:ext cx="271462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8810625" y="3124200"/>
            <a:ext cx="1076325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120A0-31EA-41D8-BE56-211F4C7A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452CE-D368-41BA-B580-CB99A175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8918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FE7577-E03A-4906-AB28-3169F50C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02 ER 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7B5C2-F11B-40C7-8CD2-6EF52DC6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ER 圖：game_records 是中心，四類資料圍繞一場棋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EB014-8CCF-48F2-9832-6A86A1D0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9098C-C2EA-402B-AB93-45F32BAF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users">
            <a:extLst xmlns:a="http://schemas.openxmlformats.org/drawingml/2006/main">
              <a:ext uri="{FF2B5EF4-FFF2-40B4-BE49-F238E27FC236}">
                <a16:creationId xmlns:a16="http://schemas.microsoft.com/office/drawing/2014/main" id="{16736A51-3438-4FAC-BE78-AC9DD78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095500" cy="10668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28A16-B8D7-4E08-8CD2-BE0F5B5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57375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35625-EA00-43B4-9908-4E1ECB87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162175"/>
            <a:ext cx="1828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user_id PK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username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email</a:t>
            </a:r>
          </a:p>
        </p:txBody>
      </p:sp>
      <p:sp>
        <p:nvSpPr>
          <p:cNvPr id="8" name="players">
            <a:extLst xmlns:a="http://schemas.openxmlformats.org/drawingml/2006/main">
              <a:ext uri="{FF2B5EF4-FFF2-40B4-BE49-F238E27FC236}">
                <a16:creationId xmlns:a16="http://schemas.microsoft.com/office/drawing/2014/main" id="{5409F328-0F93-4C5F-A948-4E509B6D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2095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8723E-7EAE-4F34-970E-C808D6F1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910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06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D97706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37F67-2D6D-4FF0-942E-AFCE36A2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9580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player_id PK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player_name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rank_name</a:t>
            </a:r>
          </a:p>
        </p:txBody>
      </p:sp>
      <p:sp>
        <p:nvSpPr>
          <p:cNvPr id="11" name="game_records">
            <a:extLst xmlns:a="http://schemas.openxmlformats.org/drawingml/2006/main">
              <a:ext uri="{FF2B5EF4-FFF2-40B4-BE49-F238E27FC236}">
                <a16:creationId xmlns:a16="http://schemas.microsoft.com/office/drawing/2014/main" id="{D4F53875-903F-4712-8C8F-4DA6A4B2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048000" cy="1381125"/>
          </a:xfrm>
          <a:prstGeom xmlns:a="http://schemas.openxmlformats.org/drawingml/2006/main" prst="roundRect">
            <a:avLst>
              <a:gd name="adj" fmla="val 1379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F855E-33F8-4AB3-9CD1-A0A8CBC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987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10CE2-4E87-4625-86D3-480C961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14675"/>
            <a:ext cx="27813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game_id PK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uploader_id FK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black_player_id FK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white_player_id FK</a:t>
            </a:r>
          </a:p>
        </p:txBody>
      </p:sp>
      <p:sp>
        <p:nvSpPr>
          <p:cNvPr id="14" name="moves">
            <a:extLst xmlns:a="http://schemas.openxmlformats.org/drawingml/2006/main">
              <a:ext uri="{FF2B5EF4-FFF2-40B4-BE49-F238E27FC236}">
                <a16:creationId xmlns:a16="http://schemas.microsoft.com/office/drawing/2014/main" id="{0BA94DA0-B691-4E3A-A323-D61D80EC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2860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B8D60-B285-48C5-8E1D-C23759C2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57375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E123C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54492-F803-495D-8B29-3BB52513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62175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move_id PK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game_id FK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usi_move</a:t>
            </a:r>
          </a:p>
        </p:txBody>
      </p:sp>
      <p:sp>
        <p:nvSpPr>
          <p:cNvPr id="17" name="positions">
            <a:extLst xmlns:a="http://schemas.openxmlformats.org/drawingml/2006/main">
              <a:ext uri="{FF2B5EF4-FFF2-40B4-BE49-F238E27FC236}">
                <a16:creationId xmlns:a16="http://schemas.microsoft.com/office/drawing/2014/main" id="{1CA19812-6987-4EBD-A8E5-B13FF38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286000" cy="1200150"/>
          </a:xfrm>
          <a:prstGeom xmlns:a="http://schemas.openxmlformats.org/drawingml/2006/main" prst="roundRect">
            <a:avLst>
              <a:gd name="adj" fmla="val 1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867347-75A0-412D-BACC-0C25E8A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91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766E"/>
                </a:solidFill>
                <a:latin typeface="Consolas"/>
                <a:ea typeface="Consolas"/>
                <a:cs typeface="Consolas"/>
              </a:defRPr>
            </a:pPr>
            <a:r>
              <a:rPr sz="1425" b="1">
                <a:solidFill>
                  <a:srgbClr val="0F766E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E259A-84C4-4AE3-825E-0D2BFDE9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9580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position_id PK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game_id FK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move_number</a:t>
            </a:r>
          </a:p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sfen</a:t>
            </a:r>
          </a:p>
        </p:txBody>
      </p: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00375" y="2295525"/>
            <a:ext cx="1571625" cy="1109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000375" y="3405188"/>
            <a:ext cx="1571625" cy="12525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</a:ln>
        </p:spPr>
      </p:cxnSp>
      <p:cxnSp>
        <p:nvCxnSpPr>
          <p:cNvPr id="5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7620000" y="2362200"/>
            <a:ext cx="1238250" cy="10429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</a:ln>
        </p:spPr>
      </p:cxn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620000" y="3405188"/>
            <a:ext cx="1238250" cy="1290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6A0FE-5FE3-43A6-B731-75A8A8AE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1:N 上傳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F4301-666A-430E-9000-E9385CB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57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1:N 先手/後手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01D45-F9C3-47AE-98D7-C89C86C5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1:N 著手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45669-8430-40EA-95BC-1C153A40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1:N 局面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6BF92-9093-4F6F-A1D7-26556B58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69E47B-9A57-4BD9-A436-380D37FF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818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D2757A-55C7-41E1-99EF-A3584742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03 Relational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4274-B8A3-4FC5-81AF-CD221268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Relational Model：用 PK/FK 把 ER 圖落成資料表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03518-3313-49F4-A516-8F2EDB35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05689-2FF5-4C95-95B9-2A8BABF5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A917E-870B-4356-A042-49DE470F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23EA3-1576-4714-B9B2-925EDE4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859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C4B29-6A53-4383-B51E-7CFAC5B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716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C0D46-87BA-4925-A046-D273EFF9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859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Primary Key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BB239-4A74-406F-BAF2-AF41A82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716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3BAE0-59CE-4A9C-91F4-B7E3340A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859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Foreign Key / 用途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8BC22-47A9-451C-B6C9-1AA9A749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E5973-85E2-4918-BA4E-F3FA19C2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E9CDA-97E2-4290-B017-CC620C4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812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F3447-3511-45C3-9957-85B3267A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955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user_id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49536-DD35-4ECC-BA2E-EBFDBB5D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812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A12E8C-8BE9-4427-9AE1-DF342077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955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使用者、上傳者、角色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4FD95-FC4E-4124-A021-965F714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5F16D-D5AA-4968-9EBF-9B6E40A5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993B5-2EC5-4AA2-A76C-821233EB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7F7235-9C1F-4328-B079-E0E30492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player_id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3582B8-FDD5-426B-8CD6-BA0077C3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908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06669-B824-479A-AAC3-61AF18F6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051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棋手姓名與段位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5A608-A3E3-4886-9660-61FDAFA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73D9E-6E07-4F94-9E5B-82941DC8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B9815-B796-41DC-84E7-3AE4B58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04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4A25C-088C-4EA7-833F-80079157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147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817A89-FE91-4057-97E4-4DA85DEB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004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34A8F7-8881-4A7E-A700-1D3D36DB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uploader_id, black_player_id, white_player_id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AB394-D234-425F-ACFA-1F613B0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AD9562-8809-4B1F-8633-7FA1B71B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C3E11-5F42-4E15-878B-75241635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100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A7C37-FBBF-4133-AE27-56DF5BC3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243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move_id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4EC283-25B3-4282-8CA6-B21A5566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00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FA8B8B-4C7A-4EE1-8DC0-44780CC5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243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game_id；每一步著手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3701A-24BD-4675-9A5F-E0425C13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92750E-2377-47A2-865A-50199CEB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889E93-E4C2-44A8-9A60-4DF9FF9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196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55D62C-CEC0-4144-95FC-3B5300F0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7339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position_id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06FA27-D070-4237-B311-3ED36C8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19625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3AA86E-33E6-45C3-8BA0-09CB3BD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33925"/>
            <a:ext cx="6438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game_id；每個局面 SFEN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B3E117-0FFD-46FA-80A4-1A64A7D2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設計原則：父表保存「一場棋」的基本資料；子表保存「多筆序列資料」，透過 game_id 回到同一場棋。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5E3EB3-AB69-4E1A-A13E-9111F41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705935-DCF0-41F7-BFC9-3F6FC3A0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66128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7423AE-A342-43C4-95C5-6F8AD8CE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04 如何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032F-5CCF-4C92-8EEB-4E8D4156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CREATE 的第一步：建立資料庫與共用字元設定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54457-3C94-4ECE-8AF9-3C4F973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9198D-E0DA-4CA1-AD60-BB911E49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7D18D8A1-73CA-47F6-8EE2-A53EA5F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953000" cy="1619250"/>
          </a:xfrm>
          <a:prstGeom xmlns:a="http://schemas.openxmlformats.org/drawingml/2006/main" prst="roundRect">
            <a:avLst>
              <a:gd name="adj" fmla="val 117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FEA0B-FCBC-4AFF-B0EF-1B52001E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33550"/>
            <a:ext cx="464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建立 database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68231-EC81-4473-97A4-D756E8C3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48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DATABASE IF NOT EXISTS DB11211213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DEFAULT CHARACTER SET utf8mb4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DEFAULT COLLATE utf8mb4_unicode_ci;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 DB11211213;</a:t>
            </a:r>
          </a:p>
        </p:txBody>
      </p:sp>
      <p:sp>
        <p:nvSpPr>
          <p:cNvPr id="8" name="why1">
            <a:extLst xmlns:a="http://schemas.openxmlformats.org/drawingml/2006/main">
              <a:ext uri="{FF2B5EF4-FFF2-40B4-BE49-F238E27FC236}">
                <a16:creationId xmlns:a16="http://schemas.microsoft.com/office/drawing/2014/main" id="{CBC91EA1-383C-429C-9382-65A96918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7147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E664F-EF57-4784-942D-D072A2CF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utf8mb4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CCFF3-DBAA-4340-B052-9AE81F31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955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能保存中文棋手名稱、註解、檔名與特殊符號，比舊式 utf8 更完整。</a:t>
            </a:r>
          </a:p>
        </p:txBody>
      </p:sp>
      <p:sp>
        <p:nvSpPr>
          <p:cNvPr id="11" name="why2">
            <a:extLst xmlns:a="http://schemas.openxmlformats.org/drawingml/2006/main">
              <a:ext uri="{FF2B5EF4-FFF2-40B4-BE49-F238E27FC236}">
                <a16:creationId xmlns:a16="http://schemas.microsoft.com/office/drawing/2014/main" id="{56485230-1ADB-40BF-BA31-5CF680F6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8000"/>
            <a:ext cx="37147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964AA-E1FE-4D51-9869-47BD5F59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InnoDB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055BD-3242-451A-9B50-BD4B094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2425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支援 transaction 與 foreign key，適合需要資料一致性的棋譜系統。</a:t>
            </a:r>
          </a:p>
        </p:txBody>
      </p:sp>
      <p:sp>
        <p:nvSpPr>
          <p:cNvPr id="14" name="why3">
            <a:extLst xmlns:a="http://schemas.openxmlformats.org/drawingml/2006/main">
              <a:ext uri="{FF2B5EF4-FFF2-40B4-BE49-F238E27FC236}">
                <a16:creationId xmlns:a16="http://schemas.microsoft.com/office/drawing/2014/main" id="{C625AE8E-88B5-4D16-989D-A5D7311A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371475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9D265-64F9-462C-BE21-0DC4FE0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3409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IF NOT EXISTS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07D4E-8D3D-4DE3-A369-63D6D016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讓匯入程式可以重複執行建表流程，不會因表已存在就中斷。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147C1-C0A6-4C19-80D5-9F23F636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6A8CB-DDE7-407D-B018-30B1E08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9888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563D4-CF94-47A3-B745-ECD17BAA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05 Table 建立順序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19230-47D1-4BE1-A684-2EAC3BEB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CREATE TABLE：父表先建，子表再用 FK 連回父表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C7E74-0350-47A3-ABC2-408FED5E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8F00F-9986-4CFA-A4BC-472AA21A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u">
            <a:extLst xmlns:a="http://schemas.openxmlformats.org/drawingml/2006/main">
              <a:ext uri="{FF2B5EF4-FFF2-40B4-BE49-F238E27FC236}">
                <a16:creationId xmlns:a16="http://schemas.microsoft.com/office/drawing/2014/main" id="{7C279FB1-EE4D-41CB-96A9-CD68B996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95450"/>
            <a:ext cx="1619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BC062-87BC-4F64-9D7D-C6550042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240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E3A8A"/>
                </a:solidFill>
                <a:latin typeface="Consolas"/>
                <a:ea typeface="Consolas"/>
                <a:cs typeface="Consolas"/>
              </a:rPr>
              <a:t>users</a:t>
            </a:r>
          </a:p>
        </p:txBody>
      </p:sp>
      <p:sp>
        <p:nvSpPr>
          <p:cNvPr id="7" name="p">
            <a:extLst xmlns:a="http://schemas.openxmlformats.org/drawingml/2006/main">
              <a:ext uri="{FF2B5EF4-FFF2-40B4-BE49-F238E27FC236}">
                <a16:creationId xmlns:a16="http://schemas.microsoft.com/office/drawing/2014/main" id="{94BEAB4B-97BD-446B-A5F6-C6267CBA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95450"/>
            <a:ext cx="1619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E0F70-62C3-4237-BE94-F9593151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2400E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92400E"/>
                </a:solidFill>
                <a:latin typeface="Consolas"/>
                <a:ea typeface="Consolas"/>
                <a:cs typeface="Consolas"/>
              </a:rPr>
              <a:t>players</a:t>
            </a:r>
          </a:p>
        </p:txBody>
      </p:sp>
      <p:sp>
        <p:nvSpPr>
          <p:cNvPr id="9" name="g">
            <a:extLst xmlns:a="http://schemas.openxmlformats.org/drawingml/2006/main">
              <a:ext uri="{FF2B5EF4-FFF2-40B4-BE49-F238E27FC236}">
                <a16:creationId xmlns:a16="http://schemas.microsoft.com/office/drawing/2014/main" id="{35BC09C1-AA51-45DE-859D-180B8BE2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95450"/>
            <a:ext cx="2000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11680-9FB0-4A9C-9F1C-155F2857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game_records</a:t>
            </a:r>
          </a:p>
        </p:txBody>
      </p:sp>
      <p:sp>
        <p:nvSpPr>
          <p:cNvPr id="11" name="m">
            <a:extLst xmlns:a="http://schemas.openxmlformats.org/drawingml/2006/main">
              <a:ext uri="{FF2B5EF4-FFF2-40B4-BE49-F238E27FC236}">
                <a16:creationId xmlns:a16="http://schemas.microsoft.com/office/drawing/2014/main" id="{1D2AB515-EEBC-49CE-B38C-4800CCAA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15240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F9505-1975-46CB-8C49-CA09195F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573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8133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881337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13" name="po">
            <a:extLst xmlns:a="http://schemas.openxmlformats.org/drawingml/2006/main">
              <a:ext uri="{FF2B5EF4-FFF2-40B4-BE49-F238E27FC236}">
                <a16:creationId xmlns:a16="http://schemas.microsoft.com/office/drawing/2014/main" id="{1292A667-625B-4C21-BBEE-F53A40F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71450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0A720-9A6F-4F40-955C-7E712B58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3A8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E3A8A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24125" y="2009775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19625" y="20097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770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381875" y="1743075"/>
            <a:ext cx="6667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381875" y="2009775"/>
            <a:ext cx="66675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9" name="code">
            <a:extLst xmlns:a="http://schemas.openxmlformats.org/drawingml/2006/main">
              <a:ext uri="{FF2B5EF4-FFF2-40B4-BE49-F238E27FC236}">
                <a16:creationId xmlns:a16="http://schemas.microsoft.com/office/drawing/2014/main" id="{E031AF5E-D861-40DC-90D1-D1E377F5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62375"/>
            <a:ext cx="8953500" cy="1762125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E1632-80CB-4706-A6D5-E8FE645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76675"/>
            <a:ext cx="864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子表範例：moves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E9848-1E34-4F5C-B5BA-D98F2CC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43375"/>
            <a:ext cx="8648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TABLE IF NOT EXISTS moves (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move_id INT AUTO_INCREMENT PRIMARY KEY,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game_id INT NOT NULL,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move_number INT NOT NULL,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side_to_move ENUM('black','white') NOT NULL,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original_move VARCHAR(100),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usi_move VARCHAR(20),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FOREIGN KEY (game_id) REFERENCES game_records(game_id)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 ENGINE=InnoDB DEFAULT CHARSET=utf8mb4;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A3BCA-DA0B-493F-A83B-557FAEDB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F3AE5-E9C7-4F3C-9623-7A06B9F2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34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98C5B4-0D45-4331-A50B-3B8C2A86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06 局面與下一手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6D015-C275-44A3-BA6D-02D1A6C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資料設計核心：positions 與 moves 的 move_number 對齊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78F19-FE9B-4799-99A1-CCAACB7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CABDB-7EE1-47E2-9AD6-4362A108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pos">
            <a:extLst xmlns:a="http://schemas.openxmlformats.org/drawingml/2006/main">
              <a:ext uri="{FF2B5EF4-FFF2-40B4-BE49-F238E27FC236}">
                <a16:creationId xmlns:a16="http://schemas.microsoft.com/office/drawing/2014/main" id="{55177619-AAAA-40D9-B982-1172A34D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0250"/>
            <a:ext cx="2667000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769FA-BC1C-4D1A-A9E7-76B15669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positions.move_number = t</a:t>
            </a:r>
          </a:p>
        </p:txBody>
      </p:sp>
      <p:sp>
        <p:nvSpPr>
          <p:cNvPr id="7" name="mv">
            <a:extLst xmlns:a="http://schemas.openxmlformats.org/drawingml/2006/main">
              <a:ext uri="{FF2B5EF4-FFF2-40B4-BE49-F238E27FC236}">
                <a16:creationId xmlns:a16="http://schemas.microsoft.com/office/drawing/2014/main" id="{587EEA43-A31A-4416-B462-4C7CF920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667000" cy="89535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662E4-0852-4E51-907D-6AF6C09C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81337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881337"/>
                </a:solidFill>
                <a:latin typeface="Consolas"/>
                <a:ea typeface="Consolas"/>
                <a:cs typeface="Consolas"/>
              </a:rPr>
              <a:t>moves.move_number = t + 1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95204378-0CBA-4C6D-BA54-815EA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190875" cy="7048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D095F-43BC-4C26-A430-B5B6D8DA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431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JOIN 條件：p.move_number + 1 = m.move_number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91000" y="24479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2447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13" name="front">
            <a:extLst xmlns:a="http://schemas.openxmlformats.org/drawingml/2006/main">
              <a:ext uri="{FF2B5EF4-FFF2-40B4-BE49-F238E27FC236}">
                <a16:creationId xmlns:a16="http://schemas.microsoft.com/office/drawing/2014/main" id="{79DF2BFA-7A0A-4F70-BAF2-CB88C1CC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75435-77BD-4097-B9AE-6D6157BF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338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前端回放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5045F-2609-4166-B196-2576F5CB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依 game_id + move_number 直接取 SFEN，不需要從第一手重新推演。</a:t>
            </a:r>
          </a:p>
        </p:txBody>
      </p:sp>
      <p:sp>
        <p:nvSpPr>
          <p:cNvPr id="16" name="ai">
            <a:extLst xmlns:a="http://schemas.openxmlformats.org/drawingml/2006/main">
              <a:ext uri="{FF2B5EF4-FFF2-40B4-BE49-F238E27FC236}">
                <a16:creationId xmlns:a16="http://schemas.microsoft.com/office/drawing/2014/main" id="{5CBA703C-4AF6-48A2-98A3-BC9894CE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55194-82F6-459B-887C-ACEE44B9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338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AI 訓練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B91242-BB0B-4278-8748-4BA3C2E2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76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用 SFEN 當輸入，用下一手 USI move 當 policy label。</a:t>
            </a:r>
          </a:p>
        </p:txBody>
      </p:sp>
      <p:sp>
        <p:nvSpPr>
          <p:cNvPr id="19" name="book">
            <a:extLst xmlns:a="http://schemas.openxmlformats.org/drawingml/2006/main">
              <a:ext uri="{FF2B5EF4-FFF2-40B4-BE49-F238E27FC236}">
                <a16:creationId xmlns:a16="http://schemas.microsoft.com/office/drawing/2014/main" id="{37A0C7F1-8AD2-4E27-858F-3F5B0583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95275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4AA59-4DE4-44A8-B662-3A468E1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33850"/>
            <a:ext cx="264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Opening Book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18ADD-3AF6-4362-98AC-8C9956E2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用 sfen_hash 找相同局面，統計常見應手。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E1074-E9BA-41F6-BE0B-00FE19FC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3DCEDE-F062-4613-B93D-C7645F7F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5031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F7F32-D51F-4C0F-85DB-F865C652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07 資料寫入流程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31E29-2382-43BD-A1C1-6747700E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匯入流程把 CSA 檔拆成三種資料：對局、著手、局面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A4B63-E82F-4CAC-8A64-405A10F1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07EEA-1642-4437-85C8-29EE3B3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st0">
            <a:extLst xmlns:a="http://schemas.openxmlformats.org/drawingml/2006/main">
              <a:ext uri="{FF2B5EF4-FFF2-40B4-BE49-F238E27FC236}">
                <a16:creationId xmlns:a16="http://schemas.microsoft.com/office/drawing/2014/main" id="{66543FB5-0DC9-4073-ABC4-A3221E3C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0DB72-CC79-40EC-B12A-1124B684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0448C-3B6A-4023-94B6-E430D151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CSA 檔案</a:t>
            </a:r>
          </a:p>
        </p:txBody>
      </p:sp>
      <p:sp>
        <p:nvSpPr>
          <p:cNvPr id="8" name="st1">
            <a:extLst xmlns:a="http://schemas.openxmlformats.org/drawingml/2006/main">
              <a:ext uri="{FF2B5EF4-FFF2-40B4-BE49-F238E27FC236}">
                <a16:creationId xmlns:a16="http://schemas.microsoft.com/office/drawing/2014/main" id="{28C30A76-88EE-46A3-B670-49056BE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80DC4-B53B-44EE-84D6-B03AF60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3AFD4-9FDF-41D2-9121-03BEA3D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cshogi 解析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12" name="st2">
            <a:extLst xmlns:a="http://schemas.openxmlformats.org/drawingml/2006/main">
              <a:ext uri="{FF2B5EF4-FFF2-40B4-BE49-F238E27FC236}">
                <a16:creationId xmlns:a16="http://schemas.microsoft.com/office/drawing/2014/main" id="{8CC8B76E-28C0-4912-AE89-33026C5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A59BE-758E-4D0F-B0D1-F4714917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B0B837-0033-42E1-A690-7355BE59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INSERT game_records</a:t>
            </a:r>
          </a:p>
        </p:txBody>
      </p: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952875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16" name="st3">
            <a:extLst xmlns:a="http://schemas.openxmlformats.org/drawingml/2006/main">
              <a:ext uri="{FF2B5EF4-FFF2-40B4-BE49-F238E27FC236}">
                <a16:creationId xmlns:a16="http://schemas.microsoft.com/office/drawing/2014/main" id="{B1D1F517-512A-4BC2-8FE1-D0EE0EEB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4D474-7A2A-41A0-80E0-7E0EABFB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9F40D6-009B-44C2-AC06-22BED31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executemany moves</a:t>
            </a:r>
          </a:p>
        </p:txBody>
      </p:sp>
      <p:cxnSp>
        <p:nvCxnSpPr>
          <p:cNvPr id="5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762625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20" name="st4">
            <a:extLst xmlns:a="http://schemas.openxmlformats.org/drawingml/2006/main">
              <a:ext uri="{FF2B5EF4-FFF2-40B4-BE49-F238E27FC236}">
                <a16:creationId xmlns:a16="http://schemas.microsoft.com/office/drawing/2014/main" id="{0A119C7D-32A2-486B-84B0-65CA5141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151FE5-81ED-4188-91D0-C2C0A7EE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02253-766A-436A-B804-BBD58147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executemany positions</a:t>
            </a:r>
          </a:p>
        </p:txBody>
      </p: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572375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24" name="st5">
            <a:extLst xmlns:a="http://schemas.openxmlformats.org/drawingml/2006/main">
              <a:ext uri="{FF2B5EF4-FFF2-40B4-BE49-F238E27FC236}">
                <a16:creationId xmlns:a16="http://schemas.microsoft.com/office/drawing/2014/main" id="{CC87873C-D7C1-4649-9B2D-938396F5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81250"/>
            <a:ext cx="1428750" cy="952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F6976B-7A96-4241-9C31-B481A981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514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4BEFB-88C7-4108-B855-2859B649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590800"/>
            <a:ext cx="87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commit / rollback</a:t>
            </a:r>
          </a:p>
        </p:txBody>
      </p:sp>
      <p:cxnSp>
        <p:nvCxnSpPr>
          <p:cNvPr id="5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82125" y="2857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569"/>
            </a:solidFill>
            <a:prstDash val="solid"/>
            <a:headEnd type="arrow" w="med" len="med"/>
          </a:ln>
        </p:spPr>
      </p:cxnSp>
      <p:sp>
        <p:nvSpPr>
          <p:cNvPr id="28" name="code">
            <a:extLst xmlns:a="http://schemas.openxmlformats.org/drawingml/2006/main">
              <a:ext uri="{FF2B5EF4-FFF2-40B4-BE49-F238E27FC236}">
                <a16:creationId xmlns:a16="http://schemas.microsoft.com/office/drawing/2014/main" id="{A2084DF5-9CA1-4805-BFF3-1227E91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43375"/>
            <a:ext cx="8001000" cy="1143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91AEE-15D0-401E-82CF-42E57B5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57675"/>
            <a:ext cx="769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寫入順序重點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8CCCBA-2051-4B5E-962C-96F8355B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24375"/>
            <a:ext cx="7696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cursor.execute("INSERT INTO game_records ...")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game_id = int(cursor.lastrowid)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cursor.executemany("INSERT INTO moves ...", move_rows)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cursor.executemany("INSERT INTO positions ...", position_rows)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C7D6C-768B-4F9E-970E-1662245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AAD57-9EBE-4221-A81C-5A7A28F6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43231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41BBBD-6228-4EA4-91D6-2FF5CC3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08 查詢：列表與搜尋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C6BA0-9C3C-4344-A994-895AA6D1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查詢一：對局列表靠 JOIN、WHERE、LIMIT/OFFSET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67CA7-4D15-46CE-8E6C-D3524BBB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360B7-61AB-468C-B715-B8357AB7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1D2FE89D-C770-4CED-AA46-EA036ED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6572250" cy="37147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FE1FBC-89B2-4EC3-9558-E334D807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626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GET /api/games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F3091-3A5D-484A-A630-C5E37C1A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905000"/>
            <a:ext cx="62674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 g.game_id, g.original_file_name,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bp.player_name AS black_player,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wp.player_name AS white_player,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g.event_name, g.opening, g.result,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(SELECT COUNT(1) FROM moves m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WHERE m.game_id = g.game_id) AS move_count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game_records g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LEFT JOIN players bp ON g.black_player_id = bp.player_id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LEFT JOIN players wp ON g.white_player_id = wp.player_id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 ...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ORDER BY g.played_at DESC, g.game_id DESC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LIMIT ? OFFSET ?;</a:t>
            </a:r>
          </a:p>
        </p:txBody>
      </p:sp>
      <p:sp>
        <p:nvSpPr>
          <p:cNvPr id="8" name="join">
            <a:extLst xmlns:a="http://schemas.openxmlformats.org/drawingml/2006/main">
              <a:ext uri="{FF2B5EF4-FFF2-40B4-BE49-F238E27FC236}">
                <a16:creationId xmlns:a16="http://schemas.microsoft.com/office/drawing/2014/main" id="{62B0E84A-2204-48F5-B8EA-42D031C1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14325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4D32C-071E-4D25-95BB-39E3D07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84785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JOIN players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DD397-15AB-42FF-8E13-564032F0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9075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把棋手 ID 轉成棋手名稱，前端才看得懂。</a:t>
            </a:r>
          </a:p>
        </p:txBody>
      </p:sp>
      <p:sp>
        <p:nvSpPr>
          <p:cNvPr id="11" name="where">
            <a:extLst xmlns:a="http://schemas.openxmlformats.org/drawingml/2006/main">
              <a:ext uri="{FF2B5EF4-FFF2-40B4-BE49-F238E27FC236}">
                <a16:creationId xmlns:a16="http://schemas.microsoft.com/office/drawing/2014/main" id="{57AA96FE-14C0-4531-9147-1718EF56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14325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E3E47-2C7D-4CCC-B1F4-8994A85A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133725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563EB"/>
                </a:solidFill>
                <a:latin typeface="Microsoft JhengHei"/>
                <a:ea typeface="Microsoft JhengHei"/>
                <a:cs typeface="Microsoft JhengHei"/>
              </a:rPr>
              <a:t>WHERE filters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B50C5-4BEA-4D07-889E-4CA8C518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76625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依 event、player、opening、日期範圍搜尋。</a:t>
            </a:r>
          </a:p>
        </p:txBody>
      </p:sp>
      <p:sp>
        <p:nvSpPr>
          <p:cNvPr id="14" name="page">
            <a:extLst xmlns:a="http://schemas.openxmlformats.org/drawingml/2006/main">
              <a:ext uri="{FF2B5EF4-FFF2-40B4-BE49-F238E27FC236}">
                <a16:creationId xmlns:a16="http://schemas.microsoft.com/office/drawing/2014/main" id="{3EE2ACBD-EF06-43D5-9F81-31A1E784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86250"/>
            <a:ext cx="3143250" cy="9334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B129C-F6DA-46CC-BB4A-2939734D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19600"/>
            <a:ext cx="2838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LIMIT/OFFSET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39545-6A53-4DFC-A1F4-23596D73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7625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475569"/>
                </a:solidFill>
                <a:latin typeface="Microsoft JhengHei"/>
                <a:ea typeface="Microsoft JhengHei"/>
                <a:cs typeface="Microsoft JhengHei"/>
              </a:rPr>
              <a:t>分頁取資料，避免一次傳回全部棋譜。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AA268-8D5E-4735-BA18-90828DCD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3541F-FF89-4921-BA9C-996E3E7C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5158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287BF-8E04-4C30-9C66-C4FEEAC1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09 查詢：局面回放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8480A-41BC-48D7-8A33-29A92E27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查詢二：指定第 n 手時直接查 positions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D0E66-7C68-4A00-AF00-4A7199A3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7F6A5-2915-407E-8991-3D61ECD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api">
            <a:extLst xmlns:a="http://schemas.openxmlformats.org/drawingml/2006/main">
              <a:ext uri="{FF2B5EF4-FFF2-40B4-BE49-F238E27FC236}">
                <a16:creationId xmlns:a16="http://schemas.microsoft.com/office/drawing/2014/main" id="{ACA64E9B-7D97-48E1-8DC1-A981BA11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476500" cy="857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64AB1-3E8F-4940-AB70-AB2FB643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4E4A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134E4A"/>
                </a:solidFill>
                <a:latin typeface="Consolas"/>
                <a:ea typeface="Consolas"/>
                <a:cs typeface="Consolas"/>
              </a:rPr>
              <a:t>GET /api/games/{id}?ply=n</a:t>
            </a:r>
          </a:p>
        </p:txBody>
      </p:sp>
      <p:sp>
        <p:nvSpPr>
          <p:cNvPr id="7" name="db">
            <a:extLst xmlns:a="http://schemas.openxmlformats.org/drawingml/2006/main">
              <a:ext uri="{FF2B5EF4-FFF2-40B4-BE49-F238E27FC236}">
                <a16:creationId xmlns:a16="http://schemas.microsoft.com/office/drawing/2014/main" id="{77DB8655-B17C-49C9-A164-C532D4CA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14500"/>
            <a:ext cx="2476500" cy="123825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2C7E2-A244-4F07-BFE7-197BC2DD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2563EB"/>
                </a:solidFill>
                <a:latin typeface="Consolas"/>
                <a:ea typeface="Consolas"/>
                <a:cs typeface="Consolas"/>
              </a:rPr>
              <a:t>positions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96463-83C3-4D90-B1AB-4EA9E55D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WHERE game_id = ?</a:t>
            </a:r>
          </a:p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AND move_number = ?</a:t>
            </a:r>
          </a:p>
        </p:txBody>
      </p:sp>
      <p:sp>
        <p:nvSpPr>
          <p:cNvPr id="10" name="mv">
            <a:extLst xmlns:a="http://schemas.openxmlformats.org/drawingml/2006/main">
              <a:ext uri="{FF2B5EF4-FFF2-40B4-BE49-F238E27FC236}">
                <a16:creationId xmlns:a16="http://schemas.microsoft.com/office/drawing/2014/main" id="{BD25F54C-94F9-41F8-B5E8-B772BB29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2476500" cy="10001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E12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71B69-3990-4FCC-A790-27E73736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957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E123C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BE123C"/>
                </a:solidFill>
                <a:latin typeface="Consolas"/>
                <a:ea typeface="Consolas"/>
                <a:cs typeface="Consolas"/>
              </a:rPr>
              <a:t>moves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6838F-252C-4C4C-9AE7-DAF6BAA4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ORDER BY move_number</a:t>
            </a:r>
          </a:p>
        </p:txBody>
      </p:sp>
      <p:sp>
        <p:nvSpPr>
          <p:cNvPr id="13" name="json">
            <a:extLst xmlns:a="http://schemas.openxmlformats.org/drawingml/2006/main">
              <a:ext uri="{FF2B5EF4-FFF2-40B4-BE49-F238E27FC236}">
                <a16:creationId xmlns:a16="http://schemas.microsoft.com/office/drawing/2014/main" id="{FBE46145-A6FD-48DA-8F69-9A42B23C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14625"/>
            <a:ext cx="2095500" cy="10477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4A4AC-3D8C-46DF-937B-593F4FC9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C0749-7976-4D68-8513-9C731883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sfen + move list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29000" y="2333625"/>
            <a:ext cx="15240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29000" y="2809875"/>
            <a:ext cx="1524000" cy="1547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  <a:headEnd type="arrow" w="med" len="med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29500" y="2333625"/>
            <a:ext cx="1524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429500" y="3238500"/>
            <a:ext cx="1524000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E123C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E2FA1-A008-469B-8109-DE2A047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設計好 positions 後，前端不必重播所有著手就能取得第 n 手盤面。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E5FEA-8466-4518-91A1-991FC8C2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9E9A55-2114-436E-8F62-314737AE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72527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5328A-05CA-4E80-901C-FAE08616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10 索引與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ED4D5-9D89-4B60-B8B3-A0835A2C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索引設計配合查詢路徑：列表、回放、局面查找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F56D0-93EB-49AA-B1A2-7C94F5D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A984E-C6CF-442B-A975-30E63F7D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5" name="code">
            <a:extLst xmlns:a="http://schemas.openxmlformats.org/drawingml/2006/main">
              <a:ext uri="{FF2B5EF4-FFF2-40B4-BE49-F238E27FC236}">
                <a16:creationId xmlns:a16="http://schemas.microsoft.com/office/drawing/2014/main" id="{D68743BE-FE91-4E46-8DD8-08AEE88F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1435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BB247-3DFE-40D0-AFCE-32B00D5B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33550"/>
            <a:ext cx="483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93C5FD"/>
                </a:solidFill>
                <a:latin typeface="Microsoft JhengHei"/>
                <a:ea typeface="Microsoft JhengHei"/>
                <a:cs typeface="Microsoft JhengHei"/>
              </a:rPr>
              <a:t>建議索引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63FF0-0FA5-44C2-9A72-04F55EC0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48387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idx_game_records_played_at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game_records (played_at, game_id);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idx_moves_game_number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moves (game_id, move_number);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idx_positions_game_number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positions (game_id, move_number);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CREATE INDEX idx_positions_sfen_hash</a:t>
            </a:r>
          </a:p>
          <a:p xmlns:a="http://schemas.openxmlformats.org/drawingml/2006/main">
            <a:pPr algn="l">
              <a:defRPr sz="975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ON positions (sfen_hash);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8450C-5E1B-456E-93E8-11520BC2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6D02F-965E-4049-B22E-EB216BAA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335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67318-11A2-4B91-A975-A9677583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23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ECE7A4-A238-413B-AA2A-5C614BE2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2009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主要資料表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F7290-8C70-4D41-96DE-8EB7EDB7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6192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03111-586E-4A5B-BD77-D32B04A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17335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82184-4181-47A1-AFD8-849C48D6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CFFFB-2179-49B9-B3F2-96560C34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574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GET /api/games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F222A-F8C0-4DEC-B1E2-F7458D85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23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E9A02-18D9-40BB-8D9A-E0EDE467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009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game_records + players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9697D-BA1B-40A0-918F-928383C2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431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19887-FFAB-4C0A-B045-E4006BFC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574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列表/搜尋/分頁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A229B-D9B4-4E55-AD00-6888A021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5B16A-7106-4791-A4DC-28BF1E2F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GET /api/games/&lt;id&gt;?ply=n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351E11-78C9-409F-B600-0D31233D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223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72BCE-2F9D-4CDD-9859-4409BF38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2009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positions + moves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F513C-0DF9-47B6-BD2D-12FCF930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670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3BEEB3-60E1-4F9B-833A-AFE2E7CD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1813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指定手數回放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99FFC5-F5FC-4021-A6CF-0B903F95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909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3211A-6C8E-49B0-9567-43A512BA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POST /api/upload-csa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971A5-BAC3-406A-91CD-A9A71E21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90950"/>
            <a:ext cx="223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02CC6-46F4-4BA8-80EE-4B3791F9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009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game_records + moves + positions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DFC96-B9A3-4CAA-9549-8202EEF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790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25B78-2A9E-4254-ADFF-C2B3735A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9052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CSA 匯入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9B645-7AC1-4123-A206-FC65BF00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BE123C"/>
                </a:solidFill>
                <a:latin typeface="Microsoft JhengHei"/>
                <a:ea typeface="Microsoft JhengHei"/>
                <a:cs typeface="Microsoft JhengHei"/>
              </a:rPr>
              <a:t>索引不是越多越好：只針對高頻 WHERE / ORDER BY / JOIN 欄位。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CB6B11-921A-4E5D-BA60-15DBC8B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05A841-4AD7-48D8-95AB-EF01AE3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3981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E26CA-B544-4484-BE51-A389449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F766E"/>
                </a:solidFill>
                <a:latin typeface="Microsoft JhengHei"/>
                <a:ea typeface="Microsoft JhengHei"/>
                <a:cs typeface="Microsoft JhengHei"/>
              </a:rPr>
              <a:t>11 總結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937CC-7B2E-4A9E-BC9F-A6AE6B31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結論：好的資料庫設計讓同一批棋譜支援多種功能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D2D61-15A0-4053-9F86-1C68422B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64CBD-AB43-418B-A989-15212142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45E5-FA19-480B-AC0C-5FC7FC0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9334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• 需求先行：瀏覽、上傳、回放、AI 訓練決定資料表切法。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• ER 圖以 game_records 為中心，users / players / moves / positions 分工清楚。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• Relational model 用 PK / FK 保持資料一致性。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• CREATE 使用 utf8mb4、InnoDB、foreign key 與 IF NOT EXISTS。</a:t>
            </a:r>
          </a:p>
          <a:p xmlns:a="http://schemas.openxmlformats.org/drawingml/2006/main">
            <a:pPr algn="l">
              <a:def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0F172A"/>
                </a:solidFill>
                <a:latin typeface="Microsoft JhengHei"/>
                <a:ea typeface="Microsoft JhengHei"/>
                <a:cs typeface="Microsoft JhengHei"/>
              </a:rPr>
              <a:t>• 查詢透過 JOIN、WHERE、LIMIT/OFFSET 與索引實作。</a:t>
            </a:r>
          </a:p>
        </p:txBody>
      </p:sp>
      <p:sp>
        <p:nvSpPr>
          <p:cNvPr id="6" name="final">
            <a:extLst xmlns:a="http://schemas.openxmlformats.org/drawingml/2006/main">
              <a:ext uri="{FF2B5EF4-FFF2-40B4-BE49-F238E27FC236}">
                <a16:creationId xmlns:a16="http://schemas.microsoft.com/office/drawing/2014/main" id="{E5352CDD-92BA-4726-BB8B-9B74ED1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DDF7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B7009-1E7E-45E2-B04B-30FA189F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01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34E4A"/>
                </a:solidFill>
                <a:latin typeface="Microsoft JhengHei"/>
                <a:ea typeface="Microsoft JhengHei"/>
                <a:cs typeface="Microsoft JhengHei"/>
              </a:rPr>
              <a:t>核心一句話：positions + moves 的對齊，讓資料庫同時服務棋譜回放與 policy-only AI 訓練。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575D3-6D19-49BA-945B-1541F4B8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來源：database_integrated_report.tex / shogiAI 專案程式碼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28E01-42F3-4D01-B688-1225EA7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52693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2026-06-18T04:21:50.8070000Z</dcterms:created>
  <dcterms:modified xsi:type="dcterms:W3CDTF">2026-06-18T04:21:50.8070000Z</dcterms:modified>
</coreProperties>
</file>