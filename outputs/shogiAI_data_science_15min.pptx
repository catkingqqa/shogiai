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Accuracy</c:v>
          </c:tx>
          <c:spPr>
            <a:solidFill>
              <a:srgbClr val="3730A3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Top-1</c:v>
              </c:pt>
              <c:pt idx="1">
                <c:v>Top-3</c:v>
              </c:pt>
              <c:pt idx="2">
                <c:v>Top-5</c:v>
              </c:pt>
            </c:strLit>
          </c:cat>
          <c:val>
            <c:numLit>
              <c:formatCode>General</c:formatCode>
              <c:ptCount val="3"/>
              <c:pt idx="0">
                <c:v>41.1</c:v>
              </c:pt>
              <c:pt idx="1">
                <c:v>65.239999999999995</c:v>
              </c:pt>
              <c:pt idx="2">
                <c:v>74.489999999999995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565-40B7-A668-BA3784C1E8A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4B5563"/>
                </a:solidFill>
              </a:defRPr>
            </a:pPr>
            <a:endParaRPr lang="zh-TW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開場說明這份報告的核心：把棋譜資料變成模型能學的資料，再把模型放回 AI 搜尋系統。</a:t>
            </a:r>
          </a:p>
          <a:p>
            <a:r>
              <a:t>前半講資料與模型，中段講訓練結果，後半講 alpha-beta 搜尋與 policy network 如何協作。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用公式建立問題：輸入棋盤局面，輸出所有可能走法的分數。</a:t>
            </a:r>
          </a:p>
          <a:p>
            <a:r>
              <a:t>這屬於 supervised learning 或 imitation learning，模型模仿棋譜中的實戰走法。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四百八十五萬筆樣本代表每一盤棋被拆成多個局面與下一手配對。</a:t>
            </a:r>
          </a:p>
          <a:p>
            <a:r>
              <a:t>invalid rows 是零，代表這次匯出的資料在合法性檢查上是乾淨的。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positions 裡有 SFEN，moves 裡有下一手，所以 join 後可以形成訓練樣本。</a:t>
            </a:r>
          </a:p>
          <a:p>
            <a:r>
              <a:t>game-level split 很重要，因為同一盤棋相鄰局面高度相似。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43 個 plane 把不同種類資訊分開，例如自己的駒、對方的駒、雙方持駒和輪到誰。</a:t>
            </a:r>
          </a:p>
          <a:p>
            <a:r>
              <a:t>旋轉到行棋方視角可以減少模型要學的對稱性。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將棋有持駒打入，因此輸出空間不只盤上移動。</a:t>
            </a:r>
          </a:p>
          <a:p>
            <a:r>
              <a:t>13,689 是固定維度，模型每次輸出所有 label 的分數，再只取合法走法排名。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value head 看似可以估局面好壞，但資料標籤其實不夠精準。</a:t>
            </a:r>
          </a:p>
          <a:p>
            <a:r>
              <a:t>最後選 policy-only：讓模型專心學下一手，而局面優劣交給搜尋與評估函數。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三層卷積擷取棋盤空間特徵，flatten 後接全連接層，最後輸出所有 move label 分數。</a:t>
            </a:r>
          </a:p>
          <a:p>
            <a:r>
              <a:t>因為它要被放進搜尋流程，所以速度也是設計考量。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Cross entropy 是分類問題常用 loss，這裡就是多類別分類：下一手是哪一個 label。</a:t>
            </a:r>
          </a:p>
          <a:p>
            <a:r>
              <a:t>AdamW 和 cosine scheduler 是常見的深度學習訓練組合。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Top-1 代表模型第一推薦就命中實戰走法的比例，Top-5 代表前五個候選包含實戰走法。</a:t>
            </a:r>
          </a:p>
          <a:p>
            <a:r>
              <a:t>在將棋分支很多的問題上，Top-5 超過七成代表它很適合拿來做候選手排序。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policy model 的任務是排序，不是判斷最終勝負。</a:t>
            </a:r>
          </a:p>
          <a:p>
            <a:r>
              <a:t>如果好手排在前面，alpha-beta 可以更快更新 alpha beta 邊界，剪掉更多不需要看的分支。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minimax 會假設雙方都下最好，逐層展開所有可能。</a:t>
            </a:r>
          </a:p>
          <a:p>
            <a:r>
              <a:t>alpha-beta 的技巧是：如果某個分支已經不可能比目前選擇更好，就不要浪費時間看它。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quiescence 解決搜尋停在戰術交換中途的問題。</a:t>
            </a:r>
          </a:p>
          <a:p>
            <a:r>
              <a:t>transposition table 像搜尋快取。killer、history、LMR 和 policy ordering 都是在改善走法排序與搜尋效率。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最後用三面總結：資料、模型、應用。</a:t>
            </a:r>
          </a:p>
          <a:p>
            <a:r>
              <a:t>強調這不是單純訓練一個模型，而是把資料庫、神經網路、搜尋演算法整合成完整 AI 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5721FF4-8838-4133-A7BA-13DB56616D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8FAFC"/>
          </a:solidFill>
          <a:ln w="0">
            <a:solidFill>
              <a:srgbClr val="F8FAFC"/>
            </a:solidFill>
            <a:prstDash val="solid"/>
          </a:ln>
        </p:spPr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D9E29601-078A-4517-999C-58431084A4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oundRect">
            <a:avLst>
              <a:gd name="adj" fmla="val 4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B7ED718-5267-45EB-AF6C-895F0366B603}"/>
              </a:ext>
            </a:extLst>
          </p:cNvPr>
          <p:cNvSpPr>
            <a:spLocks noGrp="1"/>
          </p:cNvSpPr>
          <p:nvPr/>
        </p:nvSpPr>
        <p:spPr>
          <a:xfrm>
            <a:off x="190500" y="0"/>
            <a:ext cx="95250" cy="685800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4B25E2E-2944-407D-9023-14BD4C8E6015}"/>
              </a:ext>
            </a:extLst>
          </p:cNvPr>
          <p:cNvSpPr>
            <a:spLocks noGrp="1"/>
          </p:cNvSpPr>
          <p:nvPr/>
        </p:nvSpPr>
        <p:spPr>
          <a:xfrm>
            <a:off x="800100" y="7810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SHOGIAI CLASS REPORT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98D1F88-55DE-4A72-B944-88C1327088D1}"/>
              </a:ext>
            </a:extLst>
          </p:cNvPr>
          <p:cNvSpPr>
            <a:spLocks noGrp="1"/>
          </p:cNvSpPr>
          <p:nvPr/>
        </p:nvSpPr>
        <p:spPr>
          <a:xfrm>
            <a:off x="800100" y="142875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2000"/>
              </a:lnSpc>
              <a:buNone/>
              <a:defRPr sz="40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shogiAI</a:t>
            </a:r>
            <a:endParaRPr sz="4050" b="1" dirty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lnSpc>
                <a:spcPct val="102000"/>
              </a:lnSpc>
              <a:buNone/>
              <a:defRPr sz="40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數據科學報告</a:t>
            </a:r>
            <a:endParaRPr sz="4050" b="1" dirty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CDFEE0E-19D2-41A2-A405-1A9075DD5544}"/>
              </a:ext>
            </a:extLst>
          </p:cNvPr>
          <p:cNvSpPr>
            <a:spLocks noGrp="1"/>
          </p:cNvSpPr>
          <p:nvPr/>
        </p:nvSpPr>
        <p:spPr>
          <a:xfrm>
            <a:off x="838200" y="3067050"/>
            <a:ext cx="6667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7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 dirty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Policy-only </a:t>
            </a:r>
            <a:r>
              <a:rPr sz="1725" b="0" dirty="0" err="1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將棋模型、資料前處理、訓練結果與</a:t>
            </a:r>
            <a:r>
              <a:rPr sz="1725" b="0" dirty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 Alpha-beta </a:t>
            </a:r>
            <a:r>
              <a:rPr sz="1725" b="0" dirty="0" err="1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搜尋整合</a:t>
            </a:r>
            <a:endParaRPr sz="1725" b="0" dirty="0">
              <a:solidFill>
                <a:srgbClr val="4B556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A9A8AF3-DD84-4913-96D4-7D42FBB736EF}"/>
              </a:ext>
            </a:extLst>
          </p:cNvPr>
          <p:cNvSpPr>
            <a:spLocks noGrp="1"/>
          </p:cNvSpPr>
          <p:nvPr/>
        </p:nvSpPr>
        <p:spPr>
          <a:xfrm>
            <a:off x="8191500" y="1257300"/>
            <a:ext cx="2781300" cy="34290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0EE63D98-3E9E-455D-B61C-C3E4F32FB2D8}"/>
              </a:ext>
            </a:extLst>
          </p:cNvPr>
          <p:cNvSpPr>
            <a:spLocks noGrp="1"/>
          </p:cNvSpPr>
          <p:nvPr/>
        </p:nvSpPr>
        <p:spPr>
          <a:xfrm>
            <a:off x="8496300" y="15621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 dirty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15 </a:t>
            </a:r>
            <a:r>
              <a:rPr sz="1650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分鐘報告節奏</a:t>
            </a:r>
            <a:endParaRPr sz="1650" b="1" dirty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81E4D09-B1AC-45AF-A814-075EB8B421CD}"/>
              </a:ext>
            </a:extLst>
          </p:cNvPr>
          <p:cNvSpPr>
            <a:spLocks noGrp="1"/>
          </p:cNvSpPr>
          <p:nvPr/>
        </p:nvSpPr>
        <p:spPr>
          <a:xfrm>
            <a:off x="8515350" y="2038350"/>
            <a:ext cx="215265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問題背景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模型與資料架構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訓練結果</a:t>
            </a:r>
          </a:p>
          <a:p>
            <a:pPr algn="l">
              <a:lnSpc>
                <a:spcPct val="122000"/>
              </a:lnSpc>
              <a:buNone/>
              <a:def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• 搜尋整合與未來方向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5A299954-738E-4617-956F-255FF3FCDB09}"/>
              </a:ext>
            </a:extLst>
          </p:cNvPr>
          <p:cNvSpPr>
            <a:spLocks noGrp="1"/>
          </p:cNvSpPr>
          <p:nvPr/>
        </p:nvSpPr>
        <p:spPr>
          <a:xfrm>
            <a:off x="838200" y="56578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2026 年 6 月｜課堂報告用簡報</a:t>
            </a:r>
          </a:p>
        </p:txBody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23D248D0-C43E-480E-A682-F8480A188A09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37A5C24F-6223-4A6E-AF01-F94AE0396AB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64E96DD6-3888-4263-B6CC-72F15A6537B1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1/14</a:t>
            </a:r>
          </a:p>
        </p:txBody>
      </p:sp>
    </p:spTree>
    <p:extLst>
      <p:ext uri="{BB962C8B-B14F-4D97-AF65-F5344CB8AC3E}">
        <p14:creationId xmlns:p14="http://schemas.microsoft.com/office/powerpoint/2010/main" val="19623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8816CB25-1874-4BB4-83BD-C10D6F60AF2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PROBLEM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3580375-709D-44EA-A1C1-955DBD957B11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資料科學問題：從局面預測下一手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F047B0E-DF72-4A4D-9E4C-32A2E09FCA7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把專業棋譜轉成 supervised learning 問題，模型學習高手在某個局面會選哪一手。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882D997-5E99-49B3-906A-4544C7B71174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DD5E4F1-02DB-4960-89B1-116D27B9C2A8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98BC673-FA8F-498A-B6FC-FB9D01910F96}"/>
              </a:ext>
            </a:extLst>
          </p:cNvPr>
          <p:cNvSpPr>
            <a:spLocks noGrp="1"/>
          </p:cNvSpPr>
          <p:nvPr/>
        </p:nvSpPr>
        <p:spPr>
          <a:xfrm>
            <a:off x="1066800" y="2038350"/>
            <a:ext cx="10058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30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fθ(s) = policy logits over 13,689 move labels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7E1357C-2978-451D-894C-4BED6EE182C7}"/>
              </a:ext>
            </a:extLst>
          </p:cNvPr>
          <p:cNvSpPr>
            <a:spLocks noGrp="1"/>
          </p:cNvSpPr>
          <p:nvPr/>
        </p:nvSpPr>
        <p:spPr>
          <a:xfrm>
            <a:off x="1066800" y="3333750"/>
            <a:ext cx="2952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86A2820-99F1-4112-9A31-1191503464D9}"/>
              </a:ext>
            </a:extLst>
          </p:cNvPr>
          <p:cNvSpPr>
            <a:spLocks noGrp="1"/>
          </p:cNvSpPr>
          <p:nvPr/>
        </p:nvSpPr>
        <p:spPr>
          <a:xfrm>
            <a:off x="1276350" y="35052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輸入 s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78F46F6-8ACB-480B-8565-9626A582398C}"/>
              </a:ext>
            </a:extLst>
          </p:cNvPr>
          <p:cNvSpPr>
            <a:spLocks noGrp="1"/>
          </p:cNvSpPr>
          <p:nvPr/>
        </p:nvSpPr>
        <p:spPr>
          <a:xfrm>
            <a:off x="1276350" y="3867150"/>
            <a:ext cx="2533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43 × 9 × 9 的局面張量，包含棋盤駒、持駒與行棋方資訊。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EDFE574-FD0C-46C0-845D-99C4430B3EDA}"/>
              </a:ext>
            </a:extLst>
          </p:cNvPr>
          <p:cNvSpPr>
            <a:spLocks noGrp="1"/>
          </p:cNvSpPr>
          <p:nvPr/>
        </p:nvSpPr>
        <p:spPr>
          <a:xfrm>
            <a:off x="4629150" y="3333750"/>
            <a:ext cx="2952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D0AC79BD-F601-4CEC-BB84-73FEAB3E500E}"/>
              </a:ext>
            </a:extLst>
          </p:cNvPr>
          <p:cNvSpPr>
            <a:spLocks noGrp="1"/>
          </p:cNvSpPr>
          <p:nvPr/>
        </p:nvSpPr>
        <p:spPr>
          <a:xfrm>
            <a:off x="4838700" y="35052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輸出 p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58E8262-5A8E-4EB1-93F2-25CF4CBA85EF}"/>
              </a:ext>
            </a:extLst>
          </p:cNvPr>
          <p:cNvSpPr>
            <a:spLocks noGrp="1"/>
          </p:cNvSpPr>
          <p:nvPr/>
        </p:nvSpPr>
        <p:spPr>
          <a:xfrm>
            <a:off x="4838700" y="3867150"/>
            <a:ext cx="2533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13,689 維 move label logits，經 softmax 可視為每手候選機率。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3B3C4123-0806-4CE3-ACB6-88318252DF86}"/>
              </a:ext>
            </a:extLst>
          </p:cNvPr>
          <p:cNvSpPr>
            <a:spLocks noGrp="1"/>
          </p:cNvSpPr>
          <p:nvPr/>
        </p:nvSpPr>
        <p:spPr>
          <a:xfrm>
            <a:off x="8191500" y="3333750"/>
            <a:ext cx="2952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8F55F707-51A0-4CCE-A4BE-4EC8B33AFD57}"/>
              </a:ext>
            </a:extLst>
          </p:cNvPr>
          <p:cNvSpPr>
            <a:spLocks noGrp="1"/>
          </p:cNvSpPr>
          <p:nvPr/>
        </p:nvSpPr>
        <p:spPr>
          <a:xfrm>
            <a:off x="8401050" y="35052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用途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87EF23D3-1D0E-444D-80CB-FA7791D58DA9}"/>
              </a:ext>
            </a:extLst>
          </p:cNvPr>
          <p:cNvSpPr>
            <a:spLocks noGrp="1"/>
          </p:cNvSpPr>
          <p:nvPr/>
        </p:nvSpPr>
        <p:spPr>
          <a:xfrm>
            <a:off x="8401050" y="3867150"/>
            <a:ext cx="2533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 err="1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提供候選手排序，幫</a:t>
            </a:r>
            <a:r>
              <a:rPr sz="1275" b="0" dirty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 alpha-beta </a:t>
            </a:r>
            <a:r>
              <a:rPr sz="1275" b="0" dirty="0" err="1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更快找到好手</a:t>
            </a:r>
            <a:r>
              <a:rPr sz="1275" b="0" dirty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A1B703CA-CEE5-40BA-A423-7507313A898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227E2C7-A45B-4A8E-8F61-F13691F2E19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B95979A1-BB97-428E-843F-5264F2D3B28D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50990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">
            <a:extLst>
              <a:ext uri="{FF2B5EF4-FFF2-40B4-BE49-F238E27FC236}">
                <a16:creationId xmlns:a16="http://schemas.microsoft.com/office/drawing/2014/main" id="{EA31554B-3167-4130-89F4-0F2D48848FC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DATASET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67D974B-52EC-4398-A8AB-2471710197D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最新資料集規模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B9101BE0-5072-445C-86B1-F9EF3640118E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遠端主機以最新 MySQL 棋譜匯出 policy-only dataset，訓練後模型已同步回本地。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5DFFA50-B140-4EF0-AC16-D5F0B8B8274D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46457A9-547D-4C82-9F2D-7A4B35A0DA77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B4086E6-A63D-4A76-994C-63C653D28A44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22479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E6B51E74-3090-478E-AF1E-BED2B3F84D6C}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2076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 dirty="0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4,855,173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4AA175F-CA9A-429A-BB50-4124496C949C}"/>
              </a:ext>
            </a:extLst>
          </p:cNvPr>
          <p:cNvSpPr>
            <a:spLocks noGrp="1"/>
          </p:cNvSpPr>
          <p:nvPr/>
        </p:nvSpPr>
        <p:spPr>
          <a:xfrm>
            <a:off x="990600" y="26479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 dirty="0" err="1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總樣本數</a:t>
            </a:r>
            <a:endParaRPr sz="1125" b="0" dirty="0">
              <a:solidFill>
                <a:srgbClr val="4B5563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42BCBEF-2B6A-4D33-9957-3B77E32D6A69}"/>
              </a:ext>
            </a:extLst>
          </p:cNvPr>
          <p:cNvSpPr>
            <a:spLocks noGrp="1"/>
          </p:cNvSpPr>
          <p:nvPr/>
        </p:nvSpPr>
        <p:spPr>
          <a:xfrm>
            <a:off x="3562350" y="1905000"/>
            <a:ext cx="22479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6F3531D-CF9C-4BE1-9AFC-0684555E4731}"/>
              </a:ext>
            </a:extLst>
          </p:cNvPr>
          <p:cNvSpPr>
            <a:spLocks noGrp="1"/>
          </p:cNvSpPr>
          <p:nvPr/>
        </p:nvSpPr>
        <p:spPr>
          <a:xfrm>
            <a:off x="3733800" y="207645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42,534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03CC4ED1-860C-4658-8E49-FB95275576F4}"/>
              </a:ext>
            </a:extLst>
          </p:cNvPr>
          <p:cNvSpPr>
            <a:spLocks noGrp="1"/>
          </p:cNvSpPr>
          <p:nvPr/>
        </p:nvSpPr>
        <p:spPr>
          <a:xfrm>
            <a:off x="3733800" y="26479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來源棋局數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C0CC77B2-DFE7-4017-B2FF-FAC621701580}"/>
              </a:ext>
            </a:extLst>
          </p:cNvPr>
          <p:cNvSpPr>
            <a:spLocks noGrp="1"/>
          </p:cNvSpPr>
          <p:nvPr/>
        </p:nvSpPr>
        <p:spPr>
          <a:xfrm>
            <a:off x="6305550" y="1905000"/>
            <a:ext cx="22479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B2907A9-0A3F-4236-9859-0F16263794A1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rPr>
              <a:t>332 MB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A5004AD-4F5C-4D1F-8F7C-14C3E207CC20}"/>
              </a:ext>
            </a:extLst>
          </p:cNvPr>
          <p:cNvSpPr>
            <a:spLocks noGrp="1"/>
          </p:cNvSpPr>
          <p:nvPr/>
        </p:nvSpPr>
        <p:spPr>
          <a:xfrm>
            <a:off x="6477000" y="26479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dataset 檔案大小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BB3BACF-4C54-41FF-8820-CD0C696D58C8}"/>
              </a:ext>
            </a:extLst>
          </p:cNvPr>
          <p:cNvSpPr>
            <a:spLocks noGrp="1"/>
          </p:cNvSpPr>
          <p:nvPr/>
        </p:nvSpPr>
        <p:spPr>
          <a:xfrm>
            <a:off x="9048750" y="1905000"/>
            <a:ext cx="22479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CD4F8A2-3F5B-4D49-9B7C-06786CC353D3}"/>
              </a:ext>
            </a:extLst>
          </p:cNvPr>
          <p:cNvSpPr>
            <a:spLocks noGrp="1"/>
          </p:cNvSpPr>
          <p:nvPr/>
        </p:nvSpPr>
        <p:spPr>
          <a:xfrm>
            <a:off x="9220200" y="2076450"/>
            <a:ext cx="1905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E11D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E11D48"/>
                </a:solidFill>
                <a:latin typeface="Microsoft JhengHei"/>
                <a:ea typeface="Microsoft JhengHei"/>
                <a:cs typeface="Microsoft JhengHei"/>
              </a:rPr>
              <a:t>0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60C0EA8E-8251-4C16-B250-1C8D06EF87A6}"/>
              </a:ext>
            </a:extLst>
          </p:cNvPr>
          <p:cNvSpPr>
            <a:spLocks noGrp="1"/>
          </p:cNvSpPr>
          <p:nvPr/>
        </p:nvSpPr>
        <p:spPr>
          <a:xfrm>
            <a:off x="9220200" y="2647950"/>
            <a:ext cx="190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invalid rows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052C8F0-BEF5-43B8-AACE-873926226356}"/>
              </a:ext>
            </a:extLst>
          </p:cNvPr>
          <p:cNvSpPr>
            <a:spLocks noGrp="1"/>
          </p:cNvSpPr>
          <p:nvPr/>
        </p:nvSpPr>
        <p:spPr>
          <a:xfrm>
            <a:off x="1447800" y="3810000"/>
            <a:ext cx="9296400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CD934175-05DA-44D1-8719-1B54F1FC4559}"/>
              </a:ext>
            </a:extLst>
          </p:cNvPr>
          <p:cNvSpPr>
            <a:spLocks noGrp="1"/>
          </p:cNvSpPr>
          <p:nvPr/>
        </p:nvSpPr>
        <p:spPr>
          <a:xfrm>
            <a:off x="1676400" y="4095750"/>
            <a:ext cx="8839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結果分布：TORYO 4,829,692｜DRAW 104｜SENNICHITE 25,377</a:t>
            </a:r>
          </a:p>
        </p:txBody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40A46A40-3688-4067-BFFC-F0E6F929465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839454AD-8D29-41AD-992B-84764D8E9F6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44977CD3-338F-429E-8205-EE1D2BD3994D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3/14</a:t>
            </a:r>
          </a:p>
        </p:txBody>
      </p:sp>
    </p:spTree>
    <p:extLst>
      <p:ext uri="{BB962C8B-B14F-4D97-AF65-F5344CB8AC3E}">
        <p14:creationId xmlns:p14="http://schemas.microsoft.com/office/powerpoint/2010/main" val="594694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">
            <a:extLst>
              <a:ext uri="{FF2B5EF4-FFF2-40B4-BE49-F238E27FC236}">
                <a16:creationId xmlns:a16="http://schemas.microsoft.com/office/drawing/2014/main" id="{A111E14F-690A-4A88-82E9-1558534162C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PREPROCESSING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FA1D8AB5-6ACC-4913-9279-8ABDC8AFFAF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資料前處理：從 MySQL 到 .npz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B15F131-8E1F-4F7F-B291-7A1C26D32EA1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關鍵是把 positions 與 moves join 起來，得到「局面 → 下一手」訓練樣本。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62E5A32-42A3-4FC2-AA40-FE1130FE5D42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24F21B2-B39B-441E-9F7B-99C800FA83E1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FB3CD21-433D-4EF6-A897-FB8228C08829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300421FA-3DB6-4B94-9D15-B592E85869C4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D902122A-C93C-4384-AA3D-C5C8BA7647C4}"/>
              </a:ext>
            </a:extLst>
          </p:cNvPr>
          <p:cNvSpPr>
            <a:spLocks noGrp="1"/>
          </p:cNvSpPr>
          <p:nvPr/>
        </p:nvSpPr>
        <p:spPr>
          <a:xfrm>
            <a:off x="685800" y="2466975"/>
            <a:ext cx="1657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MySQL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 dirty="0" err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positions+moves</a:t>
            </a:r>
            <a:endParaRPr sz="1350" b="1" dirty="0">
              <a:solidFill>
                <a:srgbClr val="111827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CFEC86D1-65CB-4A04-8BAB-8585618F1999}"/>
              </a:ext>
            </a:extLst>
          </p:cNvPr>
          <p:cNvSpPr>
            <a:spLocks noGrp="1"/>
          </p:cNvSpPr>
          <p:nvPr/>
        </p:nvSpPr>
        <p:spPr>
          <a:xfrm>
            <a:off x="2400300" y="251460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F16A10F-A95E-4AC0-9BF0-85008253F304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E546534-2FDB-4967-938C-CFDC8E7FB8F1}"/>
              </a:ext>
            </a:extLst>
          </p:cNvPr>
          <p:cNvSpPr>
            <a:spLocks noGrp="1"/>
          </p:cNvSpPr>
          <p:nvPr/>
        </p:nvSpPr>
        <p:spPr>
          <a:xfrm>
            <a:off x="27051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94558486-168D-4990-AD9A-880E7D6D41F8}"/>
              </a:ext>
            </a:extLst>
          </p:cNvPr>
          <p:cNvSpPr>
            <a:spLocks noGrp="1"/>
          </p:cNvSpPr>
          <p:nvPr/>
        </p:nvSpPr>
        <p:spPr>
          <a:xfrm>
            <a:off x="2705100" y="249555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SFEN 還原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cshogi.Board</a:t>
            </a: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8D6B9437-8933-4ADC-966C-12664EE952EF}"/>
              </a:ext>
            </a:extLst>
          </p:cNvPr>
          <p:cNvSpPr>
            <a:spLocks noGrp="1"/>
          </p:cNvSpPr>
          <p:nvPr/>
        </p:nvSpPr>
        <p:spPr>
          <a:xfrm>
            <a:off x="4267200" y="251460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ACBFA67-4B4B-4BC3-B03A-376692CDED27}"/>
              </a:ext>
            </a:extLst>
          </p:cNvPr>
          <p:cNvSpPr>
            <a:spLocks noGrp="1"/>
          </p:cNvSpPr>
          <p:nvPr/>
        </p:nvSpPr>
        <p:spPr>
          <a:xfrm>
            <a:off x="44196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9A1C733-55C8-4A3C-BEF8-0DCFAC02EE20}"/>
              </a:ext>
            </a:extLst>
          </p:cNvPr>
          <p:cNvSpPr>
            <a:spLocks noGrp="1"/>
          </p:cNvSpPr>
          <p:nvPr/>
        </p:nvSpPr>
        <p:spPr>
          <a:xfrm>
            <a:off x="45720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C5B311F-7244-4C98-9BE6-B6576BC951B9}"/>
              </a:ext>
            </a:extLst>
          </p:cNvPr>
          <p:cNvSpPr>
            <a:spLocks noGrp="1"/>
          </p:cNvSpPr>
          <p:nvPr/>
        </p:nvSpPr>
        <p:spPr>
          <a:xfrm>
            <a:off x="4572000" y="249555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合法手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驗證</a:t>
            </a: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8A01BEBB-5284-46EC-979E-147F3A48C569}"/>
              </a:ext>
            </a:extLst>
          </p:cNvPr>
          <p:cNvSpPr>
            <a:spLocks noGrp="1"/>
          </p:cNvSpPr>
          <p:nvPr/>
        </p:nvSpPr>
        <p:spPr>
          <a:xfrm>
            <a:off x="6134100" y="251460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8203247-A068-410A-A6A7-5B649E98F63C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78E5D9A4-DAAC-430F-AA40-B0050B07F2E3}"/>
              </a:ext>
            </a:extLst>
          </p:cNvPr>
          <p:cNvSpPr>
            <a:spLocks noGrp="1"/>
          </p:cNvSpPr>
          <p:nvPr/>
        </p:nvSpPr>
        <p:spPr>
          <a:xfrm>
            <a:off x="64389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736976AE-9BA9-4F24-8576-6479C09BEB6E}"/>
              </a:ext>
            </a:extLst>
          </p:cNvPr>
          <p:cNvSpPr>
            <a:spLocks noGrp="1"/>
          </p:cNvSpPr>
          <p:nvPr/>
        </p:nvSpPr>
        <p:spPr>
          <a:xfrm>
            <a:off x="6438900" y="249555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43×9×9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state tensor</a:t>
            </a:r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707092A6-E232-422F-B40D-28A573DD5874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5EE22028-BBA8-4E77-B49F-D546CE78DD84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4CCEE137-AE5C-495C-98C2-C0973B824533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B5F10795-4367-4F53-BBEF-F2CCC37744B5}"/>
              </a:ext>
            </a:extLst>
          </p:cNvPr>
          <p:cNvSpPr>
            <a:spLocks noGrp="1"/>
          </p:cNvSpPr>
          <p:nvPr/>
        </p:nvSpPr>
        <p:spPr>
          <a:xfrm>
            <a:off x="8305800" y="249555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move label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encoding</a:t>
            </a:r>
          </a:p>
        </p:txBody>
      </p:sp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7E50496E-ADD9-4A24-999F-C1E2BEF40C5D}"/>
              </a:ext>
            </a:extLst>
          </p:cNvPr>
          <p:cNvSpPr>
            <a:spLocks noGrp="1"/>
          </p:cNvSpPr>
          <p:nvPr/>
        </p:nvSpPr>
        <p:spPr>
          <a:xfrm>
            <a:off x="9867900" y="251460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335D8634-8EBD-479B-A2FE-A590EBA410D0}"/>
              </a:ext>
            </a:extLst>
          </p:cNvPr>
          <p:cNvSpPr>
            <a:spLocks noGrp="1"/>
          </p:cNvSpPr>
          <p:nvPr/>
        </p:nvSpPr>
        <p:spPr>
          <a:xfrm>
            <a:off x="100203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7EF33F6C-457F-4410-97BF-A4D3CB0EBB65}"/>
              </a:ext>
            </a:extLst>
          </p:cNvPr>
          <p:cNvSpPr>
            <a:spLocks noGrp="1"/>
          </p:cNvSpPr>
          <p:nvPr/>
        </p:nvSpPr>
        <p:spPr>
          <a:xfrm>
            <a:off x="101727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7C261C6F-0D76-4DA4-AE96-2AC848A0F6A1}"/>
              </a:ext>
            </a:extLst>
          </p:cNvPr>
          <p:cNvSpPr>
            <a:spLocks noGrp="1"/>
          </p:cNvSpPr>
          <p:nvPr/>
        </p:nvSpPr>
        <p:spPr>
          <a:xfrm>
            <a:off x="10172700" y="249555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.npz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訓練資料</a:t>
            </a:r>
          </a:p>
        </p:txBody>
      </p:sp>
      <p:sp>
        <p:nvSpPr>
          <p:cNvPr id="29" name="text">
            <a:extLst>
              <a:ext uri="{FF2B5EF4-FFF2-40B4-BE49-F238E27FC236}">
                <a16:creationId xmlns:a16="http://schemas.microsoft.com/office/drawing/2014/main" id="{5AB1EF7F-8477-4E94-B16A-E9BA6DFA4E72}"/>
              </a:ext>
            </a:extLst>
          </p:cNvPr>
          <p:cNvSpPr>
            <a:spLocks noGrp="1"/>
          </p:cNvSpPr>
          <p:nvPr/>
        </p:nvSpPr>
        <p:spPr>
          <a:xfrm>
            <a:off x="1162050" y="4324350"/>
            <a:ext cx="9867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8000"/>
              </a:lnSpc>
              <a:buNone/>
              <a:defRPr sz="18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dirty="0" err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資料切分採</a:t>
            </a:r>
            <a:r>
              <a:rPr sz="1800" b="1" dirty="0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 game-level split，</a:t>
            </a:r>
            <a:endParaRPr lang="en-US" sz="1800" b="1" dirty="0">
              <a:solidFill>
                <a:srgbClr val="312E81"/>
              </a:solidFill>
              <a:latin typeface="Microsoft JhengHei"/>
              <a:ea typeface="Microsoft JhengHei"/>
              <a:cs typeface="Microsoft JhengHei"/>
            </a:endParaRPr>
          </a:p>
          <a:p>
            <a:pPr algn="ctr">
              <a:lnSpc>
                <a:spcPct val="118000"/>
              </a:lnSpc>
              <a:buNone/>
              <a:defRPr sz="18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dirty="0" err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避免同一盤棋的相似局面同時出現在訓練集與測試集造成過度樂觀</a:t>
            </a:r>
            <a:r>
              <a:rPr sz="1800" b="1" dirty="0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30" name="直線接點 29">
            <a:extLst>
              <a:ext uri="{FF2B5EF4-FFF2-40B4-BE49-F238E27FC236}">
                <a16:creationId xmlns:a16="http://schemas.microsoft.com/office/drawing/2014/main" id="{82627838-29A7-457B-A1AC-3947AFF658E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DCD2E0E8-F585-43D2-9BB7-6C7A36C0DAF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32" name="text">
            <a:extLst>
              <a:ext uri="{FF2B5EF4-FFF2-40B4-BE49-F238E27FC236}">
                <a16:creationId xmlns:a16="http://schemas.microsoft.com/office/drawing/2014/main" id="{ADEC8CAE-D971-4885-A7CA-03925038D825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4/14</a:t>
            </a:r>
          </a:p>
        </p:txBody>
      </p:sp>
    </p:spTree>
    <p:extLst>
      <p:ext uri="{BB962C8B-B14F-4D97-AF65-F5344CB8AC3E}">
        <p14:creationId xmlns:p14="http://schemas.microsoft.com/office/powerpoint/2010/main" val="316890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">
            <a:extLst>
              <a:ext uri="{FF2B5EF4-FFF2-40B4-BE49-F238E27FC236}">
                <a16:creationId xmlns:a16="http://schemas.microsoft.com/office/drawing/2014/main" id="{EFCF6AEC-82EF-488A-8452-56E811E31F2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FEATURE ENCODING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892F61B1-A936-43E7-BA40-BAFAEBEB5BB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局面特徵：43 × 9 × 9 planes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C0609A6-EE64-4AAA-BFD2-17E75FC87C06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CNN 不能直接讀 SFEN 字串，所以要把棋盤轉成多通道張量。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99FF405-2BFD-4954-A057-423D8923BF4A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56D1190-D732-4E4E-B4FC-F33BC75D5C41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2A03A75-5E71-4E13-B8D8-DFF318157D62}"/>
              </a:ext>
            </a:extLst>
          </p:cNvPr>
          <p:cNvSpPr>
            <a:spLocks noGrp="1"/>
          </p:cNvSpPr>
          <p:nvPr/>
        </p:nvSpPr>
        <p:spPr>
          <a:xfrm>
            <a:off x="876300" y="2133600"/>
            <a:ext cx="17907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FEC29A0-F08E-4EA0-8854-58726C80C742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1562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0–13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FF065EDF-E00F-412E-9626-D79A42B84555}"/>
              </a:ext>
            </a:extLst>
          </p:cNvPr>
          <p:cNvSpPr>
            <a:spLocks noGrp="1"/>
          </p:cNvSpPr>
          <p:nvPr/>
        </p:nvSpPr>
        <p:spPr>
          <a:xfrm>
            <a:off x="1009650" y="289560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己方棋盤駒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44C4512-130F-4690-A829-2B22256CDCD6}"/>
              </a:ext>
            </a:extLst>
          </p:cNvPr>
          <p:cNvSpPr>
            <a:spLocks noGrp="1"/>
          </p:cNvSpPr>
          <p:nvPr/>
        </p:nvSpPr>
        <p:spPr>
          <a:xfrm>
            <a:off x="2990850" y="2133600"/>
            <a:ext cx="17907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9DAC1F37-0053-4882-98CB-DB4145C7EF78}"/>
              </a:ext>
            </a:extLst>
          </p:cNvPr>
          <p:cNvSpPr>
            <a:spLocks noGrp="1"/>
          </p:cNvSpPr>
          <p:nvPr/>
        </p:nvSpPr>
        <p:spPr>
          <a:xfrm>
            <a:off x="3105150" y="2343150"/>
            <a:ext cx="1562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14–27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A5B23629-4F48-4085-BAFB-48B309B456D8}"/>
              </a:ext>
            </a:extLst>
          </p:cNvPr>
          <p:cNvSpPr>
            <a:spLocks noGrp="1"/>
          </p:cNvSpPr>
          <p:nvPr/>
        </p:nvSpPr>
        <p:spPr>
          <a:xfrm>
            <a:off x="3124200" y="289560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對方棋盤駒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DA8486B-F044-4376-9BC2-41F0A023CC75}"/>
              </a:ext>
            </a:extLst>
          </p:cNvPr>
          <p:cNvSpPr>
            <a:spLocks noGrp="1"/>
          </p:cNvSpPr>
          <p:nvPr/>
        </p:nvSpPr>
        <p:spPr>
          <a:xfrm>
            <a:off x="5105400" y="2133600"/>
            <a:ext cx="17907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204C0497-1662-419D-ABE2-5C6E3EF9D7CE}"/>
              </a:ext>
            </a:extLst>
          </p:cNvPr>
          <p:cNvSpPr>
            <a:spLocks noGrp="1"/>
          </p:cNvSpPr>
          <p:nvPr/>
        </p:nvSpPr>
        <p:spPr>
          <a:xfrm>
            <a:off x="5219700" y="2343150"/>
            <a:ext cx="1562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28–34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ED06E78-C367-40D5-8B68-6FCBE5DD119F}"/>
              </a:ext>
            </a:extLst>
          </p:cNvPr>
          <p:cNvSpPr>
            <a:spLocks noGrp="1"/>
          </p:cNvSpPr>
          <p:nvPr/>
        </p:nvSpPr>
        <p:spPr>
          <a:xfrm>
            <a:off x="5238750" y="289560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己方持駒數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72D5EB9-3217-47D0-91F2-1A16BBD792D6}"/>
              </a:ext>
            </a:extLst>
          </p:cNvPr>
          <p:cNvSpPr>
            <a:spLocks noGrp="1"/>
          </p:cNvSpPr>
          <p:nvPr/>
        </p:nvSpPr>
        <p:spPr>
          <a:xfrm>
            <a:off x="7219950" y="2133600"/>
            <a:ext cx="17907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0734B22F-7BE6-421E-BF53-EBCD248CE979}"/>
              </a:ext>
            </a:extLst>
          </p:cNvPr>
          <p:cNvSpPr>
            <a:spLocks noGrp="1"/>
          </p:cNvSpPr>
          <p:nvPr/>
        </p:nvSpPr>
        <p:spPr>
          <a:xfrm>
            <a:off x="7334250" y="2343150"/>
            <a:ext cx="1562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35–41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53620D41-B61F-4124-81A8-0FEC55D5968D}"/>
              </a:ext>
            </a:extLst>
          </p:cNvPr>
          <p:cNvSpPr>
            <a:spLocks noGrp="1"/>
          </p:cNvSpPr>
          <p:nvPr/>
        </p:nvSpPr>
        <p:spPr>
          <a:xfrm>
            <a:off x="7353300" y="289560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對方持駒數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336A8191-09FE-4F8C-B401-1B1ACAB2DF72}"/>
              </a:ext>
            </a:extLst>
          </p:cNvPr>
          <p:cNvSpPr>
            <a:spLocks noGrp="1"/>
          </p:cNvSpPr>
          <p:nvPr/>
        </p:nvSpPr>
        <p:spPr>
          <a:xfrm>
            <a:off x="9334500" y="2133600"/>
            <a:ext cx="1790700" cy="1428750"/>
          </a:xfrm>
          <a:prstGeom prst="roundRect">
            <a:avLst>
              <a:gd name="adj" fmla="val 5333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E2B5979C-8587-47F6-9E85-05A16F652F57}"/>
              </a:ext>
            </a:extLst>
          </p:cNvPr>
          <p:cNvSpPr>
            <a:spLocks noGrp="1"/>
          </p:cNvSpPr>
          <p:nvPr/>
        </p:nvSpPr>
        <p:spPr>
          <a:xfrm>
            <a:off x="9448800" y="2343150"/>
            <a:ext cx="1562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92400E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AB05041-1E4B-4CF7-9720-3F467E83B979}"/>
              </a:ext>
            </a:extLst>
          </p:cNvPr>
          <p:cNvSpPr>
            <a:spLocks noGrp="1"/>
          </p:cNvSpPr>
          <p:nvPr/>
        </p:nvSpPr>
        <p:spPr>
          <a:xfrm>
            <a:off x="9467850" y="2895600"/>
            <a:ext cx="152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行棋方 plane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2B5C5C12-3613-4566-B653-86B3DE56282F}"/>
              </a:ext>
            </a:extLst>
          </p:cNvPr>
          <p:cNvSpPr>
            <a:spLocks noGrp="1"/>
          </p:cNvSpPr>
          <p:nvPr/>
        </p:nvSpPr>
        <p:spPr>
          <a:xfrm>
            <a:off x="1524000" y="4210050"/>
            <a:ext cx="9144000" cy="106680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0FD4FC02-D88A-42A2-9D27-3ED379CA29FC}"/>
              </a:ext>
            </a:extLst>
          </p:cNvPr>
          <p:cNvSpPr>
            <a:spLocks noGrp="1"/>
          </p:cNvSpPr>
          <p:nvPr/>
        </p:nvSpPr>
        <p:spPr>
          <a:xfrm>
            <a:off x="1733550" y="4381500"/>
            <a:ext cx="8724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行棋方視角旋轉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D32AC0CE-577D-453E-9404-0CE815641FD2}"/>
              </a:ext>
            </a:extLst>
          </p:cNvPr>
          <p:cNvSpPr>
            <a:spLocks noGrp="1"/>
          </p:cNvSpPr>
          <p:nvPr/>
        </p:nvSpPr>
        <p:spPr>
          <a:xfrm>
            <a:off x="1733550" y="4743450"/>
            <a:ext cx="8724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當輪到後手時，局面會旋轉 180 度，讓模型永遠從「自己要下」的角度學習。</a:t>
            </a:r>
          </a:p>
        </p:txBody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A7A6CD2B-5295-4B3E-ACB1-6706B30E24F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ext">
            <a:extLst>
              <a:ext uri="{FF2B5EF4-FFF2-40B4-BE49-F238E27FC236}">
                <a16:creationId xmlns:a16="http://schemas.microsoft.com/office/drawing/2014/main" id="{93785BE4-F9F2-4ADC-A72C-C19DCE58A7D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26" name="text">
            <a:extLst>
              <a:ext uri="{FF2B5EF4-FFF2-40B4-BE49-F238E27FC236}">
                <a16:creationId xmlns:a16="http://schemas.microsoft.com/office/drawing/2014/main" id="{9FBA2CBD-2713-4D68-AE96-33A1C43673C2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5/14</a:t>
            </a:r>
          </a:p>
        </p:txBody>
      </p:sp>
    </p:spTree>
    <p:extLst>
      <p:ext uri="{BB962C8B-B14F-4D97-AF65-F5344CB8AC3E}">
        <p14:creationId xmlns:p14="http://schemas.microsoft.com/office/powerpoint/2010/main" val="740578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">
            <a:extLst>
              <a:ext uri="{FF2B5EF4-FFF2-40B4-BE49-F238E27FC236}">
                <a16:creationId xmlns:a16="http://schemas.microsoft.com/office/drawing/2014/main" id="{63BB0B8C-1D7A-4521-ABE2-FBA870D1FA3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LABEL DESIGN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ADC270F-323F-488C-A6E9-1ECB55E7F97B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走法標籤：13,689 種可能輸出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C4196EEB-6F50-4D06-A10F-D225E73D1F3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Policy head 的每一個 logit 對應一種可能走法，包含移動、升變與打入。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DCC866E-55B8-40FC-ABEB-7533D87D1EA5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6208759-9E24-43DD-8226-D91919AF0C66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EF0E1CDC-23A6-42FD-B3D5-AD24589771EE}"/>
              </a:ext>
            </a:extLst>
          </p:cNvPr>
          <p:cNvSpPr>
            <a:spLocks noGrp="1"/>
          </p:cNvSpPr>
          <p:nvPr/>
        </p:nvSpPr>
        <p:spPr>
          <a:xfrm>
            <a:off x="895350" y="2038350"/>
            <a:ext cx="10382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36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81 × 81 × 2  +  7 × 81  =  13,689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956749E-CB7F-416D-997D-7A3D12E9751E}"/>
              </a:ext>
            </a:extLst>
          </p:cNvPr>
          <p:cNvSpPr>
            <a:spLocks noGrp="1"/>
          </p:cNvSpPr>
          <p:nvPr/>
        </p:nvSpPr>
        <p:spPr>
          <a:xfrm>
            <a:off x="1638300" y="3476625"/>
            <a:ext cx="37147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AC9849B-C958-431D-AF4F-3B6469BB03CF}"/>
              </a:ext>
            </a:extLst>
          </p:cNvPr>
          <p:cNvSpPr>
            <a:spLocks noGrp="1"/>
          </p:cNvSpPr>
          <p:nvPr/>
        </p:nvSpPr>
        <p:spPr>
          <a:xfrm>
            <a:off x="1847850" y="3648075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盤上移動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D71BA3E5-BB12-4863-B62B-277059266901}"/>
              </a:ext>
            </a:extLst>
          </p:cNvPr>
          <p:cNvSpPr>
            <a:spLocks noGrp="1"/>
          </p:cNvSpPr>
          <p:nvPr/>
        </p:nvSpPr>
        <p:spPr>
          <a:xfrm>
            <a:off x="1847850" y="4010025"/>
            <a:ext cx="3295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81 個起點 × 81 個終點 × 是否升變，涵蓋大部分一般走法。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A9E5748-6242-4304-A35F-3C0D3B4B7730}"/>
              </a:ext>
            </a:extLst>
          </p:cNvPr>
          <p:cNvSpPr>
            <a:spLocks noGrp="1"/>
          </p:cNvSpPr>
          <p:nvPr/>
        </p:nvSpPr>
        <p:spPr>
          <a:xfrm>
            <a:off x="6838950" y="3476625"/>
            <a:ext cx="37147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55DBC65-7829-4ED6-9949-7C20C865AB46}"/>
              </a:ext>
            </a:extLst>
          </p:cNvPr>
          <p:cNvSpPr>
            <a:spLocks noGrp="1"/>
          </p:cNvSpPr>
          <p:nvPr/>
        </p:nvSpPr>
        <p:spPr>
          <a:xfrm>
            <a:off x="7048500" y="3648075"/>
            <a:ext cx="3295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持駒打入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B252B2A2-85B4-438F-AF69-6D776EFBD1E8}"/>
              </a:ext>
            </a:extLst>
          </p:cNvPr>
          <p:cNvSpPr>
            <a:spLocks noGrp="1"/>
          </p:cNvSpPr>
          <p:nvPr/>
        </p:nvSpPr>
        <p:spPr>
          <a:xfrm>
            <a:off x="7048500" y="4010025"/>
            <a:ext cx="32956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7 種可打入駒 × 81 個目標格，涵蓋將棋特有的 drop move。</a:t>
            </a:r>
          </a:p>
        </p:txBody>
      </p:sp>
      <p:sp>
        <p:nvSpPr>
          <p:cNvPr id="13" name="直線接點 12">
            <a:extLst>
              <a:ext uri="{FF2B5EF4-FFF2-40B4-BE49-F238E27FC236}">
                <a16:creationId xmlns:a16="http://schemas.microsoft.com/office/drawing/2014/main" id="{05B8FFB0-0092-4B2A-AF85-F9506265F40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13AAD4D1-B39A-4B36-B282-E2EC7911615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9B59BAEB-1F3E-4B1C-896F-F5B437CF5C1B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6/14</a:t>
            </a:r>
          </a:p>
        </p:txBody>
      </p:sp>
    </p:spTree>
    <p:extLst>
      <p:ext uri="{BB962C8B-B14F-4D97-AF65-F5344CB8AC3E}">
        <p14:creationId xmlns:p14="http://schemas.microsoft.com/office/powerpoint/2010/main" val="2041766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">
            <a:extLst>
              <a:ext uri="{FF2B5EF4-FFF2-40B4-BE49-F238E27FC236}">
                <a16:creationId xmlns:a16="http://schemas.microsoft.com/office/drawing/2014/main" id="{5E05ACFC-5E37-4E6C-9692-580D78BFFCE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POLICY ONLY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228C2F8D-1B2C-4FC0-B274-20A293F47840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為什麼拿掉 value head？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6F730DA-8E6C-481D-A6CC-D2C954D35A16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原本曾有 policy/value 雙頭模型，後來改成 policy-only，避免不可靠的局面價值干擾訓練。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DFE9A39-B4D3-4423-BCCB-328C5FA48BA6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5DB652B-4458-4BB3-9798-4D41E9C3A2D5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539EA79-00E4-48EF-AA57-FA66E8BBD271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33337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BFF3390-434A-4333-AB48-E2E45C05F1DE}"/>
              </a:ext>
            </a:extLst>
          </p:cNvPr>
          <p:cNvSpPr>
            <a:spLocks noGrp="1"/>
          </p:cNvSpPr>
          <p:nvPr/>
        </p:nvSpPr>
        <p:spPr>
          <a:xfrm>
            <a:off x="895350" y="20574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Value label 太粗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6B785AEE-EAF1-48C2-AB9C-B88BF9888F6A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2914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棋局勝負只有最後結果，拿來標記中盤每個局面，會把很複雜的局面判斷壓成 -1/0/1。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E65B510-5624-4B93-B158-1A3328030852}"/>
              </a:ext>
            </a:extLst>
          </p:cNvPr>
          <p:cNvSpPr>
            <a:spLocks noGrp="1"/>
          </p:cNvSpPr>
          <p:nvPr/>
        </p:nvSpPr>
        <p:spPr>
          <a:xfrm>
            <a:off x="4429125" y="1885950"/>
            <a:ext cx="33337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8C8DC992-2DEC-4152-BFF0-643CAF618239}"/>
              </a:ext>
            </a:extLst>
          </p:cNvPr>
          <p:cNvSpPr>
            <a:spLocks noGrp="1"/>
          </p:cNvSpPr>
          <p:nvPr/>
        </p:nvSpPr>
        <p:spPr>
          <a:xfrm>
            <a:off x="4638675" y="20574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投了與和棋訊號不穩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9C4CBEA2-C653-47FC-AC2F-07BD2DA9EC1E}"/>
              </a:ext>
            </a:extLst>
          </p:cNvPr>
          <p:cNvSpPr>
            <a:spLocks noGrp="1"/>
          </p:cNvSpPr>
          <p:nvPr/>
        </p:nvSpPr>
        <p:spPr>
          <a:xfrm>
            <a:off x="4638675" y="2419350"/>
            <a:ext cx="2914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TORYO、DRAW、SENNICHITE 代表的是棋局結果，不等於每個局面的精確勝率。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B3AD753-FB89-426A-A12A-618A20C73FD1}"/>
              </a:ext>
            </a:extLst>
          </p:cNvPr>
          <p:cNvSpPr>
            <a:spLocks noGrp="1"/>
          </p:cNvSpPr>
          <p:nvPr/>
        </p:nvSpPr>
        <p:spPr>
          <a:xfrm>
            <a:off x="8172450" y="1885950"/>
            <a:ext cx="333375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8C7B34E9-9530-4CD8-BC50-208387448D35}"/>
              </a:ext>
            </a:extLst>
          </p:cNvPr>
          <p:cNvSpPr>
            <a:spLocks noGrp="1"/>
          </p:cNvSpPr>
          <p:nvPr/>
        </p:nvSpPr>
        <p:spPr>
          <a:xfrm>
            <a:off x="8382000" y="205740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實際用途是排序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92B198FA-65E0-44C9-BCF3-1D48D4F3098B}"/>
              </a:ext>
            </a:extLst>
          </p:cNvPr>
          <p:cNvSpPr>
            <a:spLocks noGrp="1"/>
          </p:cNvSpPr>
          <p:nvPr/>
        </p:nvSpPr>
        <p:spPr>
          <a:xfrm>
            <a:off x="8382000" y="2419350"/>
            <a:ext cx="29146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目前 AI 主要靠 alpha-beta 評估局面，神經網路最適合提供候選手排序與 prior。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68BC77A5-A601-4B0B-8ADA-77B4D0D0B534}"/>
              </a:ext>
            </a:extLst>
          </p:cNvPr>
          <p:cNvSpPr>
            <a:spLocks noGrp="1"/>
          </p:cNvSpPr>
          <p:nvPr/>
        </p:nvSpPr>
        <p:spPr>
          <a:xfrm>
            <a:off x="1809750" y="4076700"/>
            <a:ext cx="8572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4288">
            <a:solidFill>
              <a:srgbClr val="047857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2D666A7E-5B05-4A9D-B89D-E7711E3C0679}"/>
              </a:ext>
            </a:extLst>
          </p:cNvPr>
          <p:cNvSpPr>
            <a:spLocks noGrp="1"/>
          </p:cNvSpPr>
          <p:nvPr/>
        </p:nvSpPr>
        <p:spPr>
          <a:xfrm>
            <a:off x="2114550" y="4324350"/>
            <a:ext cx="79629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8000"/>
              </a:lnSpc>
              <a:buNone/>
              <a:defRPr sz="19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最後決策：刪除 value head 與 root value</a:t>
            </a:r>
          </a:p>
          <a:p>
            <a:pPr algn="ctr">
              <a:lnSpc>
                <a:spcPct val="108000"/>
              </a:lnSpc>
              <a:buNone/>
              <a:defRPr sz="19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bonus，模型只訓練下一手 policy。</a:t>
            </a:r>
          </a:p>
        </p:txBody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7078141F-036E-416A-8132-98F304C1F8D7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4777D7D0-1B56-4CD3-BD23-FDF106D9F7EE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824945D9-361A-404D-8CD2-E848BD488380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7/14</a:t>
            </a:r>
          </a:p>
        </p:txBody>
      </p:sp>
    </p:spTree>
    <p:extLst>
      <p:ext uri="{BB962C8B-B14F-4D97-AF65-F5344CB8AC3E}">
        <p14:creationId xmlns:p14="http://schemas.microsoft.com/office/powerpoint/2010/main" val="1202875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">
            <a:extLst>
              <a:ext uri="{FF2B5EF4-FFF2-40B4-BE49-F238E27FC236}">
                <a16:creationId xmlns:a16="http://schemas.microsoft.com/office/drawing/2014/main" id="{EF40FE8D-166C-415F-B19D-94E3E8EDA88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MODEL ARCHITECTURE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35FC8640-8561-4FA4-AFE4-9CDE56FB2E6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Policy-only CNN 架構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309F288C-BD85-4587-BB93-1E80C5EBFFD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小型 CNN 將 43-channel 棋盤特徵壓成 13,689 維 move logits。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CD18C5FE-95BA-429B-8F9E-5F32AE9FEE92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0A80CDF-B8C1-42F0-AF27-DD5CE163FAB0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0222F35-2461-4353-88D2-09D5C71F06D4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61D1C821-F544-4AA6-B224-77495CFB2072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39EFAD0A-6FAE-47CF-9C5F-96CD81A8E5A6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Input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43×9×9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DCD48E86-55C1-42F1-90BA-16CB9D8CA619}"/>
              </a:ext>
            </a:extLst>
          </p:cNvPr>
          <p:cNvSpPr>
            <a:spLocks noGrp="1"/>
          </p:cNvSpPr>
          <p:nvPr/>
        </p:nvSpPr>
        <p:spPr>
          <a:xfrm>
            <a:off x="2400300" y="249555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3E230BC-E1F0-4A8D-9204-645197689539}"/>
              </a:ext>
            </a:extLst>
          </p:cNvPr>
          <p:cNvSpPr>
            <a:spLocks noGrp="1"/>
          </p:cNvSpPr>
          <p:nvPr/>
        </p:nvSpPr>
        <p:spPr>
          <a:xfrm>
            <a:off x="2552700" y="207645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E6BDC302-7DB1-41B9-89F5-4EC491F45650}"/>
              </a:ext>
            </a:extLst>
          </p:cNvPr>
          <p:cNvSpPr>
            <a:spLocks noGrp="1"/>
          </p:cNvSpPr>
          <p:nvPr/>
        </p:nvSpPr>
        <p:spPr>
          <a:xfrm>
            <a:off x="2705100" y="2190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88E5B7B5-FC63-408E-96C1-B77BB03A946D}"/>
              </a:ext>
            </a:extLst>
          </p:cNvPr>
          <p:cNvSpPr>
            <a:spLocks noGrp="1"/>
          </p:cNvSpPr>
          <p:nvPr/>
        </p:nvSpPr>
        <p:spPr>
          <a:xfrm>
            <a:off x="2705100" y="247650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Conv 64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ReLU</a:t>
            </a: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D4830765-E66F-4FEC-B65C-D71D8F479E4F}"/>
              </a:ext>
            </a:extLst>
          </p:cNvPr>
          <p:cNvSpPr>
            <a:spLocks noGrp="1"/>
          </p:cNvSpPr>
          <p:nvPr/>
        </p:nvSpPr>
        <p:spPr>
          <a:xfrm>
            <a:off x="4267200" y="249555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D4ED08B-6184-46CC-96EF-63D3BA36FB77}"/>
              </a:ext>
            </a:extLst>
          </p:cNvPr>
          <p:cNvSpPr>
            <a:spLocks noGrp="1"/>
          </p:cNvSpPr>
          <p:nvPr/>
        </p:nvSpPr>
        <p:spPr>
          <a:xfrm>
            <a:off x="4419600" y="207645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C4513DD-A980-419E-BC81-9A2B9D9E13F2}"/>
              </a:ext>
            </a:extLst>
          </p:cNvPr>
          <p:cNvSpPr>
            <a:spLocks noGrp="1"/>
          </p:cNvSpPr>
          <p:nvPr/>
        </p:nvSpPr>
        <p:spPr>
          <a:xfrm>
            <a:off x="4572000" y="2190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B05BAAB-01F1-4700-B63B-35FF5CCCCCDC}"/>
              </a:ext>
            </a:extLst>
          </p:cNvPr>
          <p:cNvSpPr>
            <a:spLocks noGrp="1"/>
          </p:cNvSpPr>
          <p:nvPr/>
        </p:nvSpPr>
        <p:spPr>
          <a:xfrm>
            <a:off x="4572000" y="247650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Conv 64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ReLU</a:t>
            </a: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0236AB78-5251-4D14-A37B-39E7708CC542}"/>
              </a:ext>
            </a:extLst>
          </p:cNvPr>
          <p:cNvSpPr>
            <a:spLocks noGrp="1"/>
          </p:cNvSpPr>
          <p:nvPr/>
        </p:nvSpPr>
        <p:spPr>
          <a:xfrm>
            <a:off x="6134100" y="249555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EFA5F33-C207-4528-A57B-A23F7396730B}"/>
              </a:ext>
            </a:extLst>
          </p:cNvPr>
          <p:cNvSpPr>
            <a:spLocks noGrp="1"/>
          </p:cNvSpPr>
          <p:nvPr/>
        </p:nvSpPr>
        <p:spPr>
          <a:xfrm>
            <a:off x="6286500" y="207645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F53E38FC-369E-4285-9D8A-6E3723CDEE4E}"/>
              </a:ext>
            </a:extLst>
          </p:cNvPr>
          <p:cNvSpPr>
            <a:spLocks noGrp="1"/>
          </p:cNvSpPr>
          <p:nvPr/>
        </p:nvSpPr>
        <p:spPr>
          <a:xfrm>
            <a:off x="6438900" y="2190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DB5086F-4D59-4304-A66B-D43A8D6CC080}"/>
              </a:ext>
            </a:extLst>
          </p:cNvPr>
          <p:cNvSpPr>
            <a:spLocks noGrp="1"/>
          </p:cNvSpPr>
          <p:nvPr/>
        </p:nvSpPr>
        <p:spPr>
          <a:xfrm>
            <a:off x="6438900" y="247650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Conv 32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ReLU</a:t>
            </a:r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42857710-4B63-448D-94B0-D2A86287D85C}"/>
              </a:ext>
            </a:extLst>
          </p:cNvPr>
          <p:cNvSpPr>
            <a:spLocks noGrp="1"/>
          </p:cNvSpPr>
          <p:nvPr/>
        </p:nvSpPr>
        <p:spPr>
          <a:xfrm>
            <a:off x="8001000" y="249555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C7331439-4C51-4F30-BA12-B80E199CC0FA}"/>
              </a:ext>
            </a:extLst>
          </p:cNvPr>
          <p:cNvSpPr>
            <a:spLocks noGrp="1"/>
          </p:cNvSpPr>
          <p:nvPr/>
        </p:nvSpPr>
        <p:spPr>
          <a:xfrm>
            <a:off x="8153400" y="207645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2AEC7922-E1DF-4B4A-BDE7-6222CE5C7E39}"/>
              </a:ext>
            </a:extLst>
          </p:cNvPr>
          <p:cNvSpPr>
            <a:spLocks noGrp="1"/>
          </p:cNvSpPr>
          <p:nvPr/>
        </p:nvSpPr>
        <p:spPr>
          <a:xfrm>
            <a:off x="8305800" y="2190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913360B7-6241-4116-B580-BE43D45BBDC1}"/>
              </a:ext>
            </a:extLst>
          </p:cNvPr>
          <p:cNvSpPr>
            <a:spLocks noGrp="1"/>
          </p:cNvSpPr>
          <p:nvPr/>
        </p:nvSpPr>
        <p:spPr>
          <a:xfrm>
            <a:off x="8305800" y="247650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Linear 512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ReLU</a:t>
            </a:r>
          </a:p>
        </p:txBody>
      </p:sp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FA554328-0334-4069-B06E-B05DE851692F}"/>
              </a:ext>
            </a:extLst>
          </p:cNvPr>
          <p:cNvSpPr>
            <a:spLocks noGrp="1"/>
          </p:cNvSpPr>
          <p:nvPr/>
        </p:nvSpPr>
        <p:spPr>
          <a:xfrm>
            <a:off x="9867900" y="249555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D67EF414-411C-43E2-AB42-C0047CAF4C51}"/>
              </a:ext>
            </a:extLst>
          </p:cNvPr>
          <p:cNvSpPr>
            <a:spLocks noGrp="1"/>
          </p:cNvSpPr>
          <p:nvPr/>
        </p:nvSpPr>
        <p:spPr>
          <a:xfrm>
            <a:off x="10020300" y="207645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5D839166-D182-459F-8A70-0C0E769C4801}"/>
              </a:ext>
            </a:extLst>
          </p:cNvPr>
          <p:cNvSpPr>
            <a:spLocks noGrp="1"/>
          </p:cNvSpPr>
          <p:nvPr/>
        </p:nvSpPr>
        <p:spPr>
          <a:xfrm>
            <a:off x="10172700" y="21907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7FB2F928-24F6-4B58-A44B-DF144367B2F6}"/>
              </a:ext>
            </a:extLst>
          </p:cNvPr>
          <p:cNvSpPr>
            <a:spLocks noGrp="1"/>
          </p:cNvSpPr>
          <p:nvPr/>
        </p:nvSpPr>
        <p:spPr>
          <a:xfrm>
            <a:off x="10172700" y="247650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Output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13,689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A0EFDB46-0A3D-4164-8F14-6D93B947046B}"/>
              </a:ext>
            </a:extLst>
          </p:cNvPr>
          <p:cNvSpPr>
            <a:spLocks noGrp="1"/>
          </p:cNvSpPr>
          <p:nvPr/>
        </p:nvSpPr>
        <p:spPr>
          <a:xfrm>
            <a:off x="1428750" y="4095750"/>
            <a:ext cx="9334500" cy="106680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92291B78-84A7-4FFA-B23C-09F45C76D81A}"/>
              </a:ext>
            </a:extLst>
          </p:cNvPr>
          <p:cNvSpPr>
            <a:spLocks noGrp="1"/>
          </p:cNvSpPr>
          <p:nvPr/>
        </p:nvSpPr>
        <p:spPr>
          <a:xfrm>
            <a:off x="1638300" y="4267200"/>
            <a:ext cx="8915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設計取捨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A24B41CA-9C5D-43B7-B928-4FE78E464025}"/>
              </a:ext>
            </a:extLst>
          </p:cNvPr>
          <p:cNvSpPr>
            <a:spLocks noGrp="1"/>
          </p:cNvSpPr>
          <p:nvPr/>
        </p:nvSpPr>
        <p:spPr>
          <a:xfrm>
            <a:off x="1638300" y="4629150"/>
            <a:ext cx="8915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模型容量不追求最大，而是能在 API 與搜尋流程中快速推論，提供候選手排序。</a:t>
            </a:r>
          </a:p>
        </p:txBody>
      </p:sp>
      <p:sp>
        <p:nvSpPr>
          <p:cNvPr id="32" name="直線接點 31">
            <a:extLst>
              <a:ext uri="{FF2B5EF4-FFF2-40B4-BE49-F238E27FC236}">
                <a16:creationId xmlns:a16="http://schemas.microsoft.com/office/drawing/2014/main" id="{93070FCF-3D24-4949-90D5-C808E016C47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F50D592A-E91A-4CEC-AB8D-5BF7F147ACA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BAB74F9C-87CC-4BCA-B01E-9D00530616BC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8/14</a:t>
            </a:r>
          </a:p>
        </p:txBody>
      </p:sp>
    </p:spTree>
    <p:extLst>
      <p:ext uri="{BB962C8B-B14F-4D97-AF65-F5344CB8AC3E}">
        <p14:creationId xmlns:p14="http://schemas.microsoft.com/office/powerpoint/2010/main" val="1061254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">
            <a:extLst>
              <a:ext uri="{FF2B5EF4-FFF2-40B4-BE49-F238E27FC236}">
                <a16:creationId xmlns:a16="http://schemas.microsoft.com/office/drawing/2014/main" id="{64C46182-5C01-4AEA-BA34-C6A94F9884F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TRAINING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CE3A70C4-E4C5-4C91-8A19-C6965D9F224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訓練方法：CrossEntropy + AdamW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928A315-E6FF-446E-A2DA-F7DA1271F312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Policy-only 訓練的目標是讓實戰下一手在所有 label 中得到最高機率。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2256524-3A4C-491F-9D4E-3190BBD711E1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FC157D9-E49E-4FD3-B388-B398A3A68309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7D9AB95-67F9-4494-8D96-F5E8ADC01B0E}"/>
              </a:ext>
            </a:extLst>
          </p:cNvPr>
          <p:cNvSpPr>
            <a:spLocks noGrp="1"/>
          </p:cNvSpPr>
          <p:nvPr/>
        </p:nvSpPr>
        <p:spPr>
          <a:xfrm>
            <a:off x="857250" y="2057400"/>
            <a:ext cx="3190875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F4F09039-EC16-4BEC-9D4F-63805C6D969A}"/>
              </a:ext>
            </a:extLst>
          </p:cNvPr>
          <p:cNvSpPr>
            <a:spLocks noGrp="1"/>
          </p:cNvSpPr>
          <p:nvPr/>
        </p:nvSpPr>
        <p:spPr>
          <a:xfrm>
            <a:off x="1066800" y="2228850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Loss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94D026F-4C17-43AC-8B6E-9E24EDA8461A}"/>
              </a:ext>
            </a:extLst>
          </p:cNvPr>
          <p:cNvSpPr>
            <a:spLocks noGrp="1"/>
          </p:cNvSpPr>
          <p:nvPr/>
        </p:nvSpPr>
        <p:spPr>
          <a:xfrm>
            <a:off x="1066800" y="2590800"/>
            <a:ext cx="27717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CrossEntropyLoss：把真實下一手當 target，懲罰模型沒有把該手排高。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D71A387-9888-42EB-A5A8-3D27A4735E2B}"/>
              </a:ext>
            </a:extLst>
          </p:cNvPr>
          <p:cNvSpPr>
            <a:spLocks noGrp="1"/>
          </p:cNvSpPr>
          <p:nvPr/>
        </p:nvSpPr>
        <p:spPr>
          <a:xfrm>
            <a:off x="4495800" y="2057400"/>
            <a:ext cx="3190875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F7E3168-1D9A-4B0F-BFEB-E79432372867}"/>
              </a:ext>
            </a:extLst>
          </p:cNvPr>
          <p:cNvSpPr>
            <a:spLocks noGrp="1"/>
          </p:cNvSpPr>
          <p:nvPr/>
        </p:nvSpPr>
        <p:spPr>
          <a:xfrm>
            <a:off x="4705350" y="2228850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Optimizer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8E7EC67-C433-4876-8E13-0304A08B9F78}"/>
              </a:ext>
            </a:extLst>
          </p:cNvPr>
          <p:cNvSpPr>
            <a:spLocks noGrp="1"/>
          </p:cNvSpPr>
          <p:nvPr/>
        </p:nvSpPr>
        <p:spPr>
          <a:xfrm>
            <a:off x="4705350" y="2590800"/>
            <a:ext cx="27717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AdamW：自適應梯度加上 weight decay，降低過擬合風險。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351CE1B-4AD4-4603-BD72-4BB2CC55AE29}"/>
              </a:ext>
            </a:extLst>
          </p:cNvPr>
          <p:cNvSpPr>
            <a:spLocks noGrp="1"/>
          </p:cNvSpPr>
          <p:nvPr/>
        </p:nvSpPr>
        <p:spPr>
          <a:xfrm>
            <a:off x="8134350" y="2057400"/>
            <a:ext cx="3190875" cy="146685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C69F1CCA-F9C4-466A-8547-FF75A47D35CF}"/>
              </a:ext>
            </a:extLst>
          </p:cNvPr>
          <p:cNvSpPr>
            <a:spLocks noGrp="1"/>
          </p:cNvSpPr>
          <p:nvPr/>
        </p:nvSpPr>
        <p:spPr>
          <a:xfrm>
            <a:off x="8343900" y="2228850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Scheduler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89BAEA4-C6B1-4FD3-A068-31C84BC02690}"/>
              </a:ext>
            </a:extLst>
          </p:cNvPr>
          <p:cNvSpPr>
            <a:spLocks noGrp="1"/>
          </p:cNvSpPr>
          <p:nvPr/>
        </p:nvSpPr>
        <p:spPr>
          <a:xfrm>
            <a:off x="8343900" y="2590800"/>
            <a:ext cx="277177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CosineAnnealingLR：學習率逐步下降，讓後期訓練更穩定。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E01A500-B446-4548-B9A7-A079580F7997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10058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2025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資料切分：Train 3,882,230｜Validation 487,292｜Test 485,651</a:t>
            </a:r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51009B78-3B4F-41C4-9F6D-7A37D4C6EB4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E47C2428-B258-49F7-9A43-5051B85FE99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69E082FB-35B8-4C17-A10D-2C812D2F651C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9/14</a:t>
            </a:r>
          </a:p>
        </p:txBody>
      </p:sp>
    </p:spTree>
    <p:extLst>
      <p:ext uri="{BB962C8B-B14F-4D97-AF65-F5344CB8AC3E}">
        <p14:creationId xmlns:p14="http://schemas.microsoft.com/office/powerpoint/2010/main" val="1865623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">
            <a:extLst>
              <a:ext uri="{FF2B5EF4-FFF2-40B4-BE49-F238E27FC236}">
                <a16:creationId xmlns:a16="http://schemas.microsoft.com/office/drawing/2014/main" id="{151F3990-3154-4A55-824C-3365302BA94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TRAINING RESULT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02077CE0-1C88-43D2-8413-5D66D59EE1E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最新訓練結果與模型同步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5CB71D15-3D71-43C9-820F-CB29A169B1ED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遠端 policy-only 訓練完成後，模型與驗證結果已同步回本地 models/policy_model.pt。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AEB5C28-D828-430E-AE13-A8A0FEDA4D4A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EDF0E4A-086D-4F36-8E39-B73EBC8E8431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4F8A4DB-E142-4398-A7D2-86A7438B9D48}"/>
              </a:ext>
            </a:extLst>
          </p:cNvPr>
          <p:cNvSpPr>
            <a:spLocks noGrp="1"/>
          </p:cNvSpPr>
          <p:nvPr/>
        </p:nvSpPr>
        <p:spPr>
          <a:xfrm>
            <a:off x="895350" y="1809750"/>
            <a:ext cx="2190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B607CE5B-6510-4CF0-B4AF-3946BDEAEB45}"/>
              </a:ext>
            </a:extLst>
          </p:cNvPr>
          <p:cNvSpPr>
            <a:spLocks noGrp="1"/>
          </p:cNvSpPr>
          <p:nvPr/>
        </p:nvSpPr>
        <p:spPr>
          <a:xfrm>
            <a:off x="1066800" y="1981200"/>
            <a:ext cx="1847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2.2751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68E9719-0E44-4412-958B-ADCF32F51F73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Test policy loss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58D7E5A-A956-4125-8ED6-201E4775D8E0}"/>
              </a:ext>
            </a:extLst>
          </p:cNvPr>
          <p:cNvSpPr>
            <a:spLocks noGrp="1"/>
          </p:cNvSpPr>
          <p:nvPr/>
        </p:nvSpPr>
        <p:spPr>
          <a:xfrm>
            <a:off x="3524250" y="1809750"/>
            <a:ext cx="2190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A94BD32F-C2EE-4956-9761-5F389950CC80}"/>
              </a:ext>
            </a:extLst>
          </p:cNvPr>
          <p:cNvSpPr>
            <a:spLocks noGrp="1"/>
          </p:cNvSpPr>
          <p:nvPr/>
        </p:nvSpPr>
        <p:spPr>
          <a:xfrm>
            <a:off x="3695700" y="1981200"/>
            <a:ext cx="1847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41.10%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ABA3119-B0EB-4F89-9C2F-73C26CC1C171}"/>
              </a:ext>
            </a:extLst>
          </p:cNvPr>
          <p:cNvSpPr>
            <a:spLocks noGrp="1"/>
          </p:cNvSpPr>
          <p:nvPr/>
        </p:nvSpPr>
        <p:spPr>
          <a:xfrm>
            <a:off x="3695700" y="255270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Top-1 accuracy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8436FD2-AB12-4CB0-9A20-51AAA2173CB6}"/>
              </a:ext>
            </a:extLst>
          </p:cNvPr>
          <p:cNvSpPr>
            <a:spLocks noGrp="1"/>
          </p:cNvSpPr>
          <p:nvPr/>
        </p:nvSpPr>
        <p:spPr>
          <a:xfrm>
            <a:off x="6153150" y="1809750"/>
            <a:ext cx="2190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DED2485A-8360-431C-93D6-A7A3C7F86072}"/>
              </a:ext>
            </a:extLst>
          </p:cNvPr>
          <p:cNvSpPr>
            <a:spLocks noGrp="1"/>
          </p:cNvSpPr>
          <p:nvPr/>
        </p:nvSpPr>
        <p:spPr>
          <a:xfrm>
            <a:off x="6324600" y="1981200"/>
            <a:ext cx="1847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59E0B"/>
                </a:solidFill>
                <a:latin typeface="Microsoft JhengHei"/>
                <a:ea typeface="Microsoft JhengHei"/>
                <a:cs typeface="Microsoft JhengHei"/>
              </a:rPr>
              <a:t>65.24%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7008DE64-E9A9-4298-83A0-45AAD03277B8}"/>
              </a:ext>
            </a:extLst>
          </p:cNvPr>
          <p:cNvSpPr>
            <a:spLocks noGrp="1"/>
          </p:cNvSpPr>
          <p:nvPr/>
        </p:nvSpPr>
        <p:spPr>
          <a:xfrm>
            <a:off x="6324600" y="255270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Top-3 accuracy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7BCA54A-207A-43C6-9996-3B24C8B82B74}"/>
              </a:ext>
            </a:extLst>
          </p:cNvPr>
          <p:cNvSpPr>
            <a:spLocks noGrp="1"/>
          </p:cNvSpPr>
          <p:nvPr/>
        </p:nvSpPr>
        <p:spPr>
          <a:xfrm>
            <a:off x="8782050" y="1809750"/>
            <a:ext cx="21907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D9CB978F-447A-4E25-8D29-A9787D0D79CC}"/>
              </a:ext>
            </a:extLst>
          </p:cNvPr>
          <p:cNvSpPr>
            <a:spLocks noGrp="1"/>
          </p:cNvSpPr>
          <p:nvPr/>
        </p:nvSpPr>
        <p:spPr>
          <a:xfrm>
            <a:off x="8953500" y="1981200"/>
            <a:ext cx="1847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3150" b="1">
                <a:solidFill>
                  <a:srgbClr val="E11D4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E11D48"/>
                </a:solidFill>
                <a:latin typeface="Microsoft JhengHei"/>
                <a:ea typeface="Microsoft JhengHei"/>
                <a:cs typeface="Microsoft JhengHei"/>
              </a:rPr>
              <a:t>74.49%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29998482-57B0-4925-8B61-3A0D84628D0D}"/>
              </a:ext>
            </a:extLst>
          </p:cNvPr>
          <p:cNvSpPr>
            <a:spLocks noGrp="1"/>
          </p:cNvSpPr>
          <p:nvPr/>
        </p:nvSpPr>
        <p:spPr>
          <a:xfrm>
            <a:off x="8953500" y="2552700"/>
            <a:ext cx="1847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Top-5 accuracy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="1809750" y="3524250"/>
          <a:ext cx="85725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直線接點 18">
            <a:extLst>
              <a:ext uri="{FF2B5EF4-FFF2-40B4-BE49-F238E27FC236}">
                <a16:creationId xmlns:a16="http://schemas.microsoft.com/office/drawing/2014/main" id="{F1364014-C08A-431E-896F-FDD4140AFEF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CFE8108-45D5-423C-9FBB-6FA564F195E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21" name="text">
            <a:extLst>
              <a:ext uri="{FF2B5EF4-FFF2-40B4-BE49-F238E27FC236}">
                <a16:creationId xmlns:a16="http://schemas.microsoft.com/office/drawing/2014/main" id="{DE6A9A0B-62C2-4726-BEC5-40BFA364C366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10/14</a:t>
            </a:r>
          </a:p>
        </p:txBody>
      </p:sp>
    </p:spTree>
    <p:extLst>
      <p:ext uri="{BB962C8B-B14F-4D97-AF65-F5344CB8AC3E}">
        <p14:creationId xmlns:p14="http://schemas.microsoft.com/office/powerpoint/2010/main" val="148621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">
            <a:extLst>
              <a:ext uri="{FF2B5EF4-FFF2-40B4-BE49-F238E27FC236}">
                <a16:creationId xmlns:a16="http://schemas.microsoft.com/office/drawing/2014/main" id="{9E1810F0-871A-432B-9243-71F101D7969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INFERENCE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E47DCF9-EC1F-47D1-99E1-80B1422B4B48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推論時如何使用 policy model？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381FD73-0067-4729-8AE5-0F098E452295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模型不直接決定勝負，而是把合法手依機率排序，交給搜尋演算法深入檢查。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ADFBEC0-C19A-401E-B1C1-BC4C52119238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BA0D849-DA7C-40F8-8E1D-FDDB7CF4FD08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1EEEC65-B451-43F1-B8ED-F0986781BDED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83851FE-212D-43C7-A1D2-DE470760629E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84230A25-7612-4482-8F45-7949DBE4B9EE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目前棋盤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Board</a:t>
            </a:r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DA2E43B9-A47A-4B37-82EB-DF38F50A3DAE}"/>
              </a:ext>
            </a:extLst>
          </p:cNvPr>
          <p:cNvSpPr>
            <a:spLocks noGrp="1"/>
          </p:cNvSpPr>
          <p:nvPr/>
        </p:nvSpPr>
        <p:spPr>
          <a:xfrm>
            <a:off x="2400300" y="251460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CE3288E-BCF5-4D86-9CF1-B446627BB7C1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2C514216-0470-49E8-A61E-6278321E3B21}"/>
              </a:ext>
            </a:extLst>
          </p:cNvPr>
          <p:cNvSpPr>
            <a:spLocks noGrp="1"/>
          </p:cNvSpPr>
          <p:nvPr/>
        </p:nvSpPr>
        <p:spPr>
          <a:xfrm>
            <a:off x="27051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AF06E86B-FFA2-421A-BFDB-4DDB17BA6B71}"/>
              </a:ext>
            </a:extLst>
          </p:cNvPr>
          <p:cNvSpPr>
            <a:spLocks noGrp="1"/>
          </p:cNvSpPr>
          <p:nvPr/>
        </p:nvSpPr>
        <p:spPr>
          <a:xfrm>
            <a:off x="2705100" y="249555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轉成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43 planes</a:t>
            </a:r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BAF26954-B9F8-43E8-BC24-2E5A57CE4B05}"/>
              </a:ext>
            </a:extLst>
          </p:cNvPr>
          <p:cNvSpPr>
            <a:spLocks noGrp="1"/>
          </p:cNvSpPr>
          <p:nvPr/>
        </p:nvSpPr>
        <p:spPr>
          <a:xfrm>
            <a:off x="4267200" y="251460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E9ADB9D4-0CBF-484C-9148-74DAD241EE24}"/>
              </a:ext>
            </a:extLst>
          </p:cNvPr>
          <p:cNvSpPr>
            <a:spLocks noGrp="1"/>
          </p:cNvSpPr>
          <p:nvPr/>
        </p:nvSpPr>
        <p:spPr>
          <a:xfrm>
            <a:off x="44196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A01279E6-95AF-4D29-AF36-E5E5AE8F55C0}"/>
              </a:ext>
            </a:extLst>
          </p:cNvPr>
          <p:cNvSpPr>
            <a:spLocks noGrp="1"/>
          </p:cNvSpPr>
          <p:nvPr/>
        </p:nvSpPr>
        <p:spPr>
          <a:xfrm>
            <a:off x="45720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1F25BDF5-AEB3-451C-BDE4-8C0BCD48E72F}"/>
              </a:ext>
            </a:extLst>
          </p:cNvPr>
          <p:cNvSpPr>
            <a:spLocks noGrp="1"/>
          </p:cNvSpPr>
          <p:nvPr/>
        </p:nvSpPr>
        <p:spPr>
          <a:xfrm>
            <a:off x="4572000" y="249555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PolicyNet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輸出 logits</a:t>
            </a:r>
          </a:p>
        </p:txBody>
      </p:sp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2DFDF238-5982-4933-A931-075A9125DD87}"/>
              </a:ext>
            </a:extLst>
          </p:cNvPr>
          <p:cNvSpPr>
            <a:spLocks noGrp="1"/>
          </p:cNvSpPr>
          <p:nvPr/>
        </p:nvSpPr>
        <p:spPr>
          <a:xfrm>
            <a:off x="6134100" y="251460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34F5552-E86E-47DF-8D58-9BF8F9D3C697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6D84C671-C37C-408F-BABE-E39AF6C0D671}"/>
              </a:ext>
            </a:extLst>
          </p:cNvPr>
          <p:cNvSpPr>
            <a:spLocks noGrp="1"/>
          </p:cNvSpPr>
          <p:nvPr/>
        </p:nvSpPr>
        <p:spPr>
          <a:xfrm>
            <a:off x="64389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F10C87AA-753E-4E20-80C5-D399EF890D46}"/>
              </a:ext>
            </a:extLst>
          </p:cNvPr>
          <p:cNvSpPr>
            <a:spLocks noGrp="1"/>
          </p:cNvSpPr>
          <p:nvPr/>
        </p:nvSpPr>
        <p:spPr>
          <a:xfrm>
            <a:off x="6438900" y="249555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過濾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合法手</a:t>
            </a:r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E43A5863-A772-4A09-B5B4-AB0824F30480}"/>
              </a:ext>
            </a:extLst>
          </p:cNvPr>
          <p:cNvSpPr>
            <a:spLocks noGrp="1"/>
          </p:cNvSpPr>
          <p:nvPr/>
        </p:nvSpPr>
        <p:spPr>
          <a:xfrm>
            <a:off x="8001000" y="251460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163DEE56-D4F6-4B54-A1C5-38064CA78F82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EEF2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CE17F7FE-0F77-406B-8D6B-E0ABF89C42B2}"/>
              </a:ext>
            </a:extLst>
          </p:cNvPr>
          <p:cNvSpPr>
            <a:spLocks noGrp="1"/>
          </p:cNvSpPr>
          <p:nvPr/>
        </p:nvSpPr>
        <p:spPr>
          <a:xfrm>
            <a:off x="83058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DDDD0E81-78A8-4BFF-B595-8C9A863EF9BD}"/>
              </a:ext>
            </a:extLst>
          </p:cNvPr>
          <p:cNvSpPr>
            <a:spLocks noGrp="1"/>
          </p:cNvSpPr>
          <p:nvPr/>
        </p:nvSpPr>
        <p:spPr>
          <a:xfrm>
            <a:off x="8305800" y="249555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排序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候選手</a:t>
            </a:r>
          </a:p>
        </p:txBody>
      </p:sp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6F9DBA02-CE25-4DA2-9C54-48FD40972DF5}"/>
              </a:ext>
            </a:extLst>
          </p:cNvPr>
          <p:cNvSpPr>
            <a:spLocks noGrp="1"/>
          </p:cNvSpPr>
          <p:nvPr/>
        </p:nvSpPr>
        <p:spPr>
          <a:xfrm>
            <a:off x="9867900" y="2514600"/>
            <a:ext cx="2857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12A48A8A-2522-4E67-B924-2450E3F06AC8}"/>
              </a:ext>
            </a:extLst>
          </p:cNvPr>
          <p:cNvSpPr>
            <a:spLocks noGrp="1"/>
          </p:cNvSpPr>
          <p:nvPr/>
        </p:nvSpPr>
        <p:spPr>
          <a:xfrm>
            <a:off x="10020300" y="2095500"/>
            <a:ext cx="16954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5D61CE50-3EF6-4DE0-B5A8-FCB4E9F99870}"/>
              </a:ext>
            </a:extLst>
          </p:cNvPr>
          <p:cNvSpPr>
            <a:spLocks noGrp="1"/>
          </p:cNvSpPr>
          <p:nvPr/>
        </p:nvSpPr>
        <p:spPr>
          <a:xfrm>
            <a:off x="10172700" y="22098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28" name="text">
            <a:extLst>
              <a:ext uri="{FF2B5EF4-FFF2-40B4-BE49-F238E27FC236}">
                <a16:creationId xmlns:a16="http://schemas.microsoft.com/office/drawing/2014/main" id="{2E0C334A-49FC-4895-8530-9F1FDEA84401}"/>
              </a:ext>
            </a:extLst>
          </p:cNvPr>
          <p:cNvSpPr>
            <a:spLocks noGrp="1"/>
          </p:cNvSpPr>
          <p:nvPr/>
        </p:nvSpPr>
        <p:spPr>
          <a:xfrm>
            <a:off x="10172700" y="2495550"/>
            <a:ext cx="1390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Alpha-beta</a:t>
            </a:r>
          </a:p>
          <a:p>
            <a:pPr algn="ctr">
              <a:lnSpc>
                <a:spcPct val="110000"/>
              </a:lnSpc>
              <a:buNone/>
              <a:def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優先搜尋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148F289F-D450-41C9-939F-71EC42F89A92}"/>
              </a:ext>
            </a:extLst>
          </p:cNvPr>
          <p:cNvSpPr>
            <a:spLocks noGrp="1"/>
          </p:cNvSpPr>
          <p:nvPr/>
        </p:nvSpPr>
        <p:spPr>
          <a:xfrm>
            <a:off x="1485900" y="4171950"/>
            <a:ext cx="92202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text">
            <a:extLst>
              <a:ext uri="{FF2B5EF4-FFF2-40B4-BE49-F238E27FC236}">
                <a16:creationId xmlns:a16="http://schemas.microsoft.com/office/drawing/2014/main" id="{18624222-C1AA-46C6-B179-2F3C0905A5ED}"/>
              </a:ext>
            </a:extLst>
          </p:cNvPr>
          <p:cNvSpPr>
            <a:spLocks noGrp="1"/>
          </p:cNvSpPr>
          <p:nvPr/>
        </p:nvSpPr>
        <p:spPr>
          <a:xfrm>
            <a:off x="1695450" y="4343400"/>
            <a:ext cx="880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實戰意義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FCCF4987-D5B1-47B7-8C40-FF347D5812AA}"/>
              </a:ext>
            </a:extLst>
          </p:cNvPr>
          <p:cNvSpPr>
            <a:spLocks noGrp="1"/>
          </p:cNvSpPr>
          <p:nvPr/>
        </p:nvSpPr>
        <p:spPr>
          <a:xfrm>
            <a:off x="1695450" y="4705350"/>
            <a:ext cx="8801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好的排序讓 alpha-beta 更早找到好手，剪枝更有效，有限時間內能搜尋更有價值的分支。</a:t>
            </a:r>
          </a:p>
        </p:txBody>
      </p:sp>
      <p:sp>
        <p:nvSpPr>
          <p:cNvPr id="32" name="直線接點 31">
            <a:extLst>
              <a:ext uri="{FF2B5EF4-FFF2-40B4-BE49-F238E27FC236}">
                <a16:creationId xmlns:a16="http://schemas.microsoft.com/office/drawing/2014/main" id="{8ADFBFD7-D78F-408D-BA53-3D60C275BD2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">
            <a:extLst>
              <a:ext uri="{FF2B5EF4-FFF2-40B4-BE49-F238E27FC236}">
                <a16:creationId xmlns:a16="http://schemas.microsoft.com/office/drawing/2014/main" id="{62216879-393D-43FB-9E38-DF6C07A06A7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5B6F274C-5DF3-42A1-B2C1-0B7480B92966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11/14</a:t>
            </a:r>
          </a:p>
        </p:txBody>
      </p:sp>
    </p:spTree>
    <p:extLst>
      <p:ext uri="{BB962C8B-B14F-4D97-AF65-F5344CB8AC3E}">
        <p14:creationId xmlns:p14="http://schemas.microsoft.com/office/powerpoint/2010/main" val="407211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">
            <a:extLst>
              <a:ext uri="{FF2B5EF4-FFF2-40B4-BE49-F238E27FC236}">
                <a16:creationId xmlns:a16="http://schemas.microsoft.com/office/drawing/2014/main" id="{0D06C329-01E5-4499-8A51-F182005C4A6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ALPHA BETA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6DDD1825-36D4-4DCB-A0B6-6DD8C9599CDD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Alpha-beta 搜尋：少看但不漏掉最佳解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6697ED8B-4754-4F10-B30A-899A40CA1739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Alpha-beta 是 minimax 的剪枝版本，利用上下界避免搜尋不可能影響結果的分支。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D5B38BD-24A7-4E3D-93A1-33B80E27627E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BBACF2A-AB49-4AF1-9274-A934C195A614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C830AD25-CF8B-46A8-83B1-523ABE8F63E3}"/>
              </a:ext>
            </a:extLst>
          </p:cNvPr>
          <p:cNvSpPr>
            <a:spLocks noGrp="1"/>
          </p:cNvSpPr>
          <p:nvPr/>
        </p:nvSpPr>
        <p:spPr>
          <a:xfrm>
            <a:off x="1123950" y="1952625"/>
            <a:ext cx="4762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5000"/>
              </a:lnSpc>
              <a:buNone/>
              <a:defRPr sz="21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α：目前我方至少能保證的分數</a:t>
            </a:r>
          </a:p>
          <a:p>
            <a:pPr algn="l">
              <a:lnSpc>
                <a:spcPct val="125000"/>
              </a:lnSpc>
              <a:buNone/>
              <a:defRPr sz="21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β：對手目前最多願意接受的分數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A433FAA-42A9-4D27-80E4-96A058155EC3}"/>
              </a:ext>
            </a:extLst>
          </p:cNvPr>
          <p:cNvSpPr>
            <a:spLocks noGrp="1"/>
          </p:cNvSpPr>
          <p:nvPr/>
        </p:nvSpPr>
        <p:spPr>
          <a:xfrm>
            <a:off x="6705600" y="1790700"/>
            <a:ext cx="4000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4288">
            <a:solidFill>
              <a:srgbClr val="3730A3"/>
            </a:solidFill>
            <a:prstDash val="solid"/>
          </a:ln>
        </p:spPr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717F0CCC-4DD1-4FEB-8D2C-93A2C6D5770F}"/>
              </a:ext>
            </a:extLst>
          </p:cNvPr>
          <p:cNvSpPr>
            <a:spLocks noGrp="1"/>
          </p:cNvSpPr>
          <p:nvPr/>
        </p:nvSpPr>
        <p:spPr>
          <a:xfrm>
            <a:off x="7086600" y="2190750"/>
            <a:ext cx="32385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5000"/>
              </a:lnSpc>
              <a:buNone/>
              <a:defRPr sz="25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當 α ≥ β 時</a:t>
            </a:r>
          </a:p>
          <a:p>
            <a:pPr algn="ctr">
              <a:lnSpc>
                <a:spcPct val="115000"/>
              </a:lnSpc>
              <a:buNone/>
              <a:defRPr sz="25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後面的分支不必再看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CF606F9-C7C5-4FFE-B1A4-869306869DA0}"/>
              </a:ext>
            </a:extLst>
          </p:cNvPr>
          <p:cNvSpPr>
            <a:spLocks noGrp="1"/>
          </p:cNvSpPr>
          <p:nvPr/>
        </p:nvSpPr>
        <p:spPr>
          <a:xfrm>
            <a:off x="1162050" y="4095750"/>
            <a:ext cx="29527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E4917DD3-6E9D-46A0-B316-8AD437DF3037}"/>
              </a:ext>
            </a:extLst>
          </p:cNvPr>
          <p:cNvSpPr>
            <a:spLocks noGrp="1"/>
          </p:cNvSpPr>
          <p:nvPr/>
        </p:nvSpPr>
        <p:spPr>
          <a:xfrm>
            <a:off x="1371600" y="42672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Negamax 寫法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AAD4606F-7A8A-4FAC-AD7A-7102476D06A9}"/>
              </a:ext>
            </a:extLst>
          </p:cNvPr>
          <p:cNvSpPr>
            <a:spLocks noGrp="1"/>
          </p:cNvSpPr>
          <p:nvPr/>
        </p:nvSpPr>
        <p:spPr>
          <a:xfrm>
            <a:off x="1371600" y="4629150"/>
            <a:ext cx="2533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雙方分數互為相反數，可把 minimax 寫成同一個遞迴函式。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42596AC-2DFF-42C2-9DA2-6A063DED63A5}"/>
              </a:ext>
            </a:extLst>
          </p:cNvPr>
          <p:cNvSpPr>
            <a:spLocks noGrp="1"/>
          </p:cNvSpPr>
          <p:nvPr/>
        </p:nvSpPr>
        <p:spPr>
          <a:xfrm>
            <a:off x="4629150" y="4095750"/>
            <a:ext cx="29527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06AF5BA6-4AD6-41B1-A1FF-F373E3C655E6}"/>
              </a:ext>
            </a:extLst>
          </p:cNvPr>
          <p:cNvSpPr>
            <a:spLocks noGrp="1"/>
          </p:cNvSpPr>
          <p:nvPr/>
        </p:nvSpPr>
        <p:spPr>
          <a:xfrm>
            <a:off x="4838700" y="42672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剪枝效果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EBE5EFE7-CE7C-44A6-A442-7D5AAD27A9F4}"/>
              </a:ext>
            </a:extLst>
          </p:cNvPr>
          <p:cNvSpPr>
            <a:spLocks noGrp="1"/>
          </p:cNvSpPr>
          <p:nvPr/>
        </p:nvSpPr>
        <p:spPr>
          <a:xfrm>
            <a:off x="4838700" y="4629150"/>
            <a:ext cx="2533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排序越好，越早找到強手，越容易剪掉不必要分支。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5496593D-0B7F-41E7-AAF5-FA0B3C49C179}"/>
              </a:ext>
            </a:extLst>
          </p:cNvPr>
          <p:cNvSpPr>
            <a:spLocks noGrp="1"/>
          </p:cNvSpPr>
          <p:nvPr/>
        </p:nvSpPr>
        <p:spPr>
          <a:xfrm>
            <a:off x="8096250" y="4095750"/>
            <a:ext cx="295275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E76A6D6A-5AE6-451F-AB04-9D90F23D1FB9}"/>
              </a:ext>
            </a:extLst>
          </p:cNvPr>
          <p:cNvSpPr>
            <a:spLocks noGrp="1"/>
          </p:cNvSpPr>
          <p:nvPr/>
        </p:nvSpPr>
        <p:spPr>
          <a:xfrm>
            <a:off x="8305800" y="426720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仍需評估函數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0EE8F609-B7C1-4A98-8EC7-2A9CA91D0E78}"/>
              </a:ext>
            </a:extLst>
          </p:cNvPr>
          <p:cNvSpPr>
            <a:spLocks noGrp="1"/>
          </p:cNvSpPr>
          <p:nvPr/>
        </p:nvSpPr>
        <p:spPr>
          <a:xfrm>
            <a:off x="8305800" y="4629150"/>
            <a:ext cx="2533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到達深度上限時，用評估函數估局面好壞。</a:t>
            </a:r>
          </a:p>
        </p:txBody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F61569B3-3903-4EC6-8B1E-FC8D8E69488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C0D0B82D-4169-4032-B7F5-82CD0A7B3EF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2B8A4B62-BBDB-4328-949E-5C6E257B6E58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12/14</a:t>
            </a:r>
          </a:p>
        </p:txBody>
      </p:sp>
    </p:spTree>
    <p:extLst>
      <p:ext uri="{BB962C8B-B14F-4D97-AF65-F5344CB8AC3E}">
        <p14:creationId xmlns:p14="http://schemas.microsoft.com/office/powerpoint/2010/main" val="2082490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">
            <a:extLst>
              <a:ext uri="{FF2B5EF4-FFF2-40B4-BE49-F238E27FC236}">
                <a16:creationId xmlns:a16="http://schemas.microsoft.com/office/drawing/2014/main" id="{415BF17E-D356-417E-8424-2E5711D2E30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SEARCH ENGINEERING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9280BE6F-B4BB-40F7-ADDC-D90CBBB16D1A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shogiAI 搜尋技術組合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2E7497A-7133-4306-B272-4867610ABD5E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實際 AI 不只是一個 alpha-beta，還需要多個工程技巧讓搜尋更快、更穩。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C55A364-D14C-4242-A12E-87523DCE625D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D40267A-8F66-4BC1-AC17-F53B3B1D66C1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E9BEF5D-6A2E-4FE4-A7C5-620A560CBC75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3333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09AD48F3-8864-4A8A-8A6A-CBCD78731CFE}"/>
              </a:ext>
            </a:extLst>
          </p:cNvPr>
          <p:cNvSpPr>
            <a:spLocks noGrp="1"/>
          </p:cNvSpPr>
          <p:nvPr/>
        </p:nvSpPr>
        <p:spPr>
          <a:xfrm>
            <a:off x="895350" y="20383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Quiescence Search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4A48ECEF-F6A5-4095-8EE2-DADEE042CD03}"/>
              </a:ext>
            </a:extLst>
          </p:cNvPr>
          <p:cNvSpPr>
            <a:spLocks noGrp="1"/>
          </p:cNvSpPr>
          <p:nvPr/>
        </p:nvSpPr>
        <p:spPr>
          <a:xfrm>
            <a:off x="895350" y="2400300"/>
            <a:ext cx="2914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在吃子、王手等劇烈局面繼續延伸，避免停在戰術爆點。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69A6DCA-8472-42D3-B20F-DB97FEAB14F1}"/>
              </a:ext>
            </a:extLst>
          </p:cNvPr>
          <p:cNvSpPr>
            <a:spLocks noGrp="1"/>
          </p:cNvSpPr>
          <p:nvPr/>
        </p:nvSpPr>
        <p:spPr>
          <a:xfrm>
            <a:off x="4429125" y="1866900"/>
            <a:ext cx="3333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B35C3DC8-733A-472F-B6E1-38472A88569C}"/>
              </a:ext>
            </a:extLst>
          </p:cNvPr>
          <p:cNvSpPr>
            <a:spLocks noGrp="1"/>
          </p:cNvSpPr>
          <p:nvPr/>
        </p:nvSpPr>
        <p:spPr>
          <a:xfrm>
            <a:off x="4638675" y="20383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Transposition Table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B2DCEFD3-86DB-45BC-A806-6AB34E135FB3}"/>
              </a:ext>
            </a:extLst>
          </p:cNvPr>
          <p:cNvSpPr>
            <a:spLocks noGrp="1"/>
          </p:cNvSpPr>
          <p:nvPr/>
        </p:nvSpPr>
        <p:spPr>
          <a:xfrm>
            <a:off x="4638675" y="2400300"/>
            <a:ext cx="2914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同一局面可能由不同手順到達，用 hash 快取搜尋結果。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FECD1832-6223-4C26-A361-375518EDF81F}"/>
              </a:ext>
            </a:extLst>
          </p:cNvPr>
          <p:cNvSpPr>
            <a:spLocks noGrp="1"/>
          </p:cNvSpPr>
          <p:nvPr/>
        </p:nvSpPr>
        <p:spPr>
          <a:xfrm>
            <a:off x="8172450" y="1866900"/>
            <a:ext cx="3333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4110D4B-A4B3-4E65-B7E5-245B89C0D23A}"/>
              </a:ext>
            </a:extLst>
          </p:cNvPr>
          <p:cNvSpPr>
            <a:spLocks noGrp="1"/>
          </p:cNvSpPr>
          <p:nvPr/>
        </p:nvSpPr>
        <p:spPr>
          <a:xfrm>
            <a:off x="8382000" y="20383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Killer / History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FC865B0-83A2-4D8C-93AD-6BD1C18C3C88}"/>
              </a:ext>
            </a:extLst>
          </p:cNvPr>
          <p:cNvSpPr>
            <a:spLocks noGrp="1"/>
          </p:cNvSpPr>
          <p:nvPr/>
        </p:nvSpPr>
        <p:spPr>
          <a:xfrm>
            <a:off x="8382000" y="2400300"/>
            <a:ext cx="2914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記錄曾造成剪枝的好手，提高相似節點搜尋優先權。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6DA023DE-260F-4FB2-9821-B2745AB1D039}"/>
              </a:ext>
            </a:extLst>
          </p:cNvPr>
          <p:cNvSpPr>
            <a:spLocks noGrp="1"/>
          </p:cNvSpPr>
          <p:nvPr/>
        </p:nvSpPr>
        <p:spPr>
          <a:xfrm>
            <a:off x="2524125" y="3810000"/>
            <a:ext cx="3333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638571C0-7188-4B02-AC16-D862E0B683CF}"/>
              </a:ext>
            </a:extLst>
          </p:cNvPr>
          <p:cNvSpPr>
            <a:spLocks noGrp="1"/>
          </p:cNvSpPr>
          <p:nvPr/>
        </p:nvSpPr>
        <p:spPr>
          <a:xfrm>
            <a:off x="2733675" y="39814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LMR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18D0296F-B8D8-4E7E-A86F-DA3D311D9CFA}"/>
              </a:ext>
            </a:extLst>
          </p:cNvPr>
          <p:cNvSpPr>
            <a:spLocks noGrp="1"/>
          </p:cNvSpPr>
          <p:nvPr/>
        </p:nvSpPr>
        <p:spPr>
          <a:xfrm>
            <a:off x="2733675" y="4343400"/>
            <a:ext cx="2914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排序靠後且較不重要的分支，先用較淺深度搜尋。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8ADCF5E7-C527-4550-B888-4D1C71676376}"/>
              </a:ext>
            </a:extLst>
          </p:cNvPr>
          <p:cNvSpPr>
            <a:spLocks noGrp="1"/>
          </p:cNvSpPr>
          <p:nvPr/>
        </p:nvSpPr>
        <p:spPr>
          <a:xfrm>
            <a:off x="6334125" y="3810000"/>
            <a:ext cx="33337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F696BBF7-5536-45B1-9FB5-46B71724E60C}"/>
              </a:ext>
            </a:extLst>
          </p:cNvPr>
          <p:cNvSpPr>
            <a:spLocks noGrp="1"/>
          </p:cNvSpPr>
          <p:nvPr/>
        </p:nvSpPr>
        <p:spPr>
          <a:xfrm>
            <a:off x="6543675" y="39814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Policy Ordering</a:t>
            </a:r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8E5BA1EA-B985-4F21-9E26-699626982F52}"/>
              </a:ext>
            </a:extLst>
          </p:cNvPr>
          <p:cNvSpPr>
            <a:spLocks noGrp="1"/>
          </p:cNvSpPr>
          <p:nvPr/>
        </p:nvSpPr>
        <p:spPr>
          <a:xfrm>
            <a:off x="6543675" y="4343400"/>
            <a:ext cx="2914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神經網路提供候選手 prior，讓搜尋優先檢查更像高手會下的手。</a:t>
            </a:r>
          </a:p>
        </p:txBody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A31AE252-897B-463B-891C-0700789785E6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text">
            <a:extLst>
              <a:ext uri="{FF2B5EF4-FFF2-40B4-BE49-F238E27FC236}">
                <a16:creationId xmlns:a16="http://schemas.microsoft.com/office/drawing/2014/main" id="{AF7962C1-CB6B-427B-9A00-DD97FB8A70C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23" name="text">
            <a:extLst>
              <a:ext uri="{FF2B5EF4-FFF2-40B4-BE49-F238E27FC236}">
                <a16:creationId xmlns:a16="http://schemas.microsoft.com/office/drawing/2014/main" id="{A846D7F1-A494-45CC-BE69-9AEFEB4CC6C3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13/14</a:t>
            </a:r>
          </a:p>
        </p:txBody>
      </p:sp>
    </p:spTree>
    <p:extLst>
      <p:ext uri="{BB962C8B-B14F-4D97-AF65-F5344CB8AC3E}">
        <p14:creationId xmlns:p14="http://schemas.microsoft.com/office/powerpoint/2010/main" val="317228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">
            <a:extLst>
              <a:ext uri="{FF2B5EF4-FFF2-40B4-BE49-F238E27FC236}">
                <a16:creationId xmlns:a16="http://schemas.microsoft.com/office/drawing/2014/main" id="{BA2A1E48-E068-4321-A94C-B209E811BE1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3730A3"/>
                </a:solidFill>
                <a:latin typeface="Microsoft JhengHei"/>
                <a:ea typeface="Microsoft JhengHei"/>
                <a:cs typeface="Microsoft JhengHei"/>
              </a:rPr>
              <a:t>SUMMARY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767986EE-9BDB-46A7-8746-1C071C61E1AC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8763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結論：資料、模型與搜尋互相補強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7D8211E-2638-485A-A178-05E635D1FF2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8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policy-only 模型讓搜尋更聰明，alpha-beta 搜尋讓模型推薦更可靠。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17BEBEC-B0C1-4020-8FF1-CD9E483FC85D}"/>
              </a:ext>
            </a:extLst>
          </p:cNvPr>
          <p:cNvSpPr>
            <a:spLocks noGrp="1"/>
          </p:cNvSpPr>
          <p:nvPr/>
        </p:nvSpPr>
        <p:spPr>
          <a:xfrm>
            <a:off x="10972800" y="419100"/>
            <a:ext cx="609600" cy="9525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CE8BF55-9049-4E08-92AF-1AB4F88541F3}"/>
              </a:ext>
            </a:extLst>
          </p:cNvPr>
          <p:cNvSpPr>
            <a:spLocks noGrp="1"/>
          </p:cNvSpPr>
          <p:nvPr/>
        </p:nvSpPr>
        <p:spPr>
          <a:xfrm>
            <a:off x="10306050" y="4191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3730A3"/>
          </a:solidFill>
          <a:ln w="0">
            <a:solidFill>
              <a:srgbClr val="3730A3"/>
            </a:solidFill>
            <a:prstDash val="solid"/>
          </a:ln>
        </p:spPr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DC79AB8-AAF3-47BA-827C-564910D8456D}"/>
              </a:ext>
            </a:extLst>
          </p:cNvPr>
          <p:cNvSpPr>
            <a:spLocks noGrp="1"/>
          </p:cNvSpPr>
          <p:nvPr/>
        </p:nvSpPr>
        <p:spPr>
          <a:xfrm>
            <a:off x="857250" y="2038350"/>
            <a:ext cx="3190875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A456C931-C37F-413F-AFCE-8B8287A40644}"/>
              </a:ext>
            </a:extLst>
          </p:cNvPr>
          <p:cNvSpPr>
            <a:spLocks noGrp="1"/>
          </p:cNvSpPr>
          <p:nvPr/>
        </p:nvSpPr>
        <p:spPr>
          <a:xfrm>
            <a:off x="1066800" y="2209800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資料面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34D6CA2-B1D5-4F6B-8F5E-CE253C6ED468}"/>
              </a:ext>
            </a:extLst>
          </p:cNvPr>
          <p:cNvSpPr>
            <a:spLocks noGrp="1"/>
          </p:cNvSpPr>
          <p:nvPr/>
        </p:nvSpPr>
        <p:spPr>
          <a:xfrm>
            <a:off x="1066800" y="2571750"/>
            <a:ext cx="27717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MySQL 棋譜被轉成 4,855,173 筆 Position → Move 樣本，形成可重複訓練的資料集。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5D72C6F-E7F6-45B3-9515-458A03F962BA}"/>
              </a:ext>
            </a:extLst>
          </p:cNvPr>
          <p:cNvSpPr>
            <a:spLocks noGrp="1"/>
          </p:cNvSpPr>
          <p:nvPr/>
        </p:nvSpPr>
        <p:spPr>
          <a:xfrm>
            <a:off x="4495800" y="2038350"/>
            <a:ext cx="3190875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60F9115F-081E-492A-8165-2DD0B0BBA901}"/>
              </a:ext>
            </a:extLst>
          </p:cNvPr>
          <p:cNvSpPr>
            <a:spLocks noGrp="1"/>
          </p:cNvSpPr>
          <p:nvPr/>
        </p:nvSpPr>
        <p:spPr>
          <a:xfrm>
            <a:off x="4705350" y="2209800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模型面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54DE5546-F98E-4160-96AF-43234C4277B6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27717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移除 value head 後，模型專注學習下一手 policy，Top-5 accuracy 達 74.49%。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3589393-5C77-4BD6-A0FE-F0167A620A41}"/>
              </a:ext>
            </a:extLst>
          </p:cNvPr>
          <p:cNvSpPr>
            <a:spLocks noGrp="1"/>
          </p:cNvSpPr>
          <p:nvPr/>
        </p:nvSpPr>
        <p:spPr>
          <a:xfrm>
            <a:off x="8134350" y="2038350"/>
            <a:ext cx="3190875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ABA0E28D-DEDF-4482-998F-9F95E11D062D}"/>
              </a:ext>
            </a:extLst>
          </p:cNvPr>
          <p:cNvSpPr>
            <a:spLocks noGrp="1"/>
          </p:cNvSpPr>
          <p:nvPr/>
        </p:nvSpPr>
        <p:spPr>
          <a:xfrm>
            <a:off x="8343900" y="2209800"/>
            <a:ext cx="27717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應用面</a:t>
            </a:r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EC54795-E277-4344-8E8F-F2680A156DBE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2771775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4B5563"/>
                </a:solidFill>
                <a:latin typeface="Microsoft JhengHei"/>
                <a:ea typeface="Microsoft JhengHei"/>
                <a:cs typeface="Microsoft JhengHei"/>
              </a:rPr>
              <a:t>AI 對弈以 opening book、policy ordering 與 alpha-beta 搜尋共同產生下一手。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FAE88E62-5873-4328-B66D-CFFC836B0648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0058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1875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12E81"/>
                </a:solidFill>
                <a:latin typeface="Microsoft JhengHei"/>
                <a:ea typeface="Microsoft JhengHei"/>
                <a:cs typeface="Microsoft JhengHei"/>
              </a:rPr>
              <a:t>未來方向：更大模型、更多資料品質標記、模型互打評估、搜尋參數自動調整。</a:t>
            </a:r>
          </a:p>
        </p:txBody>
      </p:sp>
      <p:sp>
        <p:nvSpPr>
          <p:cNvPr id="16" name="text">
            <a:extLst>
              <a:ext uri="{FF2B5EF4-FFF2-40B4-BE49-F238E27FC236}">
                <a16:creationId xmlns:a16="http://schemas.microsoft.com/office/drawing/2014/main" id="{ABE9470D-7545-4C72-90B6-38F97DFDB17D}"/>
              </a:ext>
            </a:extLst>
          </p:cNvPr>
          <p:cNvSpPr>
            <a:spLocks noGrp="1"/>
          </p:cNvSpPr>
          <p:nvPr/>
        </p:nvSpPr>
        <p:spPr>
          <a:xfrm>
            <a:off x="0" y="5219700"/>
            <a:ext cx="12192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36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047857"/>
                </a:solidFill>
                <a:latin typeface="Microsoft JhengHei"/>
                <a:ea typeface="Microsoft JhengHei"/>
                <a:cs typeface="Microsoft JhengHei"/>
              </a:rPr>
              <a:t>Q&amp;A</a:t>
            </a:r>
          </a:p>
        </p:txBody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CBD26C25-7F47-4558-801D-37BB3D503E9A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8" name="text">
            <a:extLst>
              <a:ext uri="{FF2B5EF4-FFF2-40B4-BE49-F238E27FC236}">
                <a16:creationId xmlns:a16="http://schemas.microsoft.com/office/drawing/2014/main" id="{1BBD1AEC-3A96-46FC-B48C-2BA62C7FD916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shogiAI 數據科學｜Policy-only、資料前處理、訓練結果與 Alpha-beta 搜尋</a:t>
            </a:r>
          </a:p>
        </p:txBody>
      </p:sp>
      <p:sp>
        <p:nvSpPr>
          <p:cNvPr id="19" name="text">
            <a:extLst>
              <a:ext uri="{FF2B5EF4-FFF2-40B4-BE49-F238E27FC236}">
                <a16:creationId xmlns:a16="http://schemas.microsoft.com/office/drawing/2014/main" id="{D1E03D6D-4E62-4E8C-A7D9-958039658312}"/>
              </a:ext>
            </a:extLst>
          </p:cNvPr>
          <p:cNvSpPr>
            <a:spLocks noGrp="1"/>
          </p:cNvSpPr>
          <p:nvPr/>
        </p:nvSpPr>
        <p:spPr>
          <a:xfrm>
            <a:off x="10668000" y="6457950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lnSpc>
                <a:spcPct val="112000"/>
              </a:lnSpc>
              <a:buNone/>
              <a:def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64748B"/>
                </a:solidFill>
                <a:latin typeface="Microsoft JhengHei"/>
                <a:ea typeface="Microsoft JhengHei"/>
                <a:cs typeface="Microsoft JhengHei"/>
              </a:rPr>
              <a:t>14/14</a:t>
            </a:r>
          </a:p>
        </p:txBody>
      </p:sp>
    </p:spTree>
    <p:extLst>
      <p:ext uri="{BB962C8B-B14F-4D97-AF65-F5344CB8AC3E}">
        <p14:creationId xmlns:p14="http://schemas.microsoft.com/office/powerpoint/2010/main" val="3152179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995</Words>
  <Application>Microsoft Office PowerPoint</Application>
  <DocSecurity>0</DocSecurity>
  <PresentationFormat>寬螢幕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子鈞 廖</cp:lastModifiedBy>
  <cp:revision>1</cp:revision>
  <dcterms:created xsi:type="dcterms:W3CDTF">2026-06-16T18:47:29Z</dcterms:created>
  <dcterms:modified xsi:type="dcterms:W3CDTF">2026-06-16T18:53:36Z</dcterms:modified>
</cp:coreProperties>
</file>