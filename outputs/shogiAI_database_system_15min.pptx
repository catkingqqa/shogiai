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開場直接說這份重點是資料庫設計。</a:t>
            </a:r>
          </a:p>
          <a:p>
            <a:r>
              <a:t>爬蟲與前端只是資料庫用途的周邊，主軸要放在為什麼這樣拆表、表之間怎麼連、如何支援查詢與 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這張先講設計目標。</a:t>
            </a:r>
          </a:p>
          <a:p>
            <a:r>
              <a:t>如果只存 CSA 檔案，就沒有辦法快速搜尋、分頁、回放與匯出 AI 訓練資料。</a:t>
            </a:r>
          </a:p>
          <a:p>
            <a:r>
              <a:t>所以資料庫設計要從用途倒推：前端查詢、局面回放、AI 訓練都需要什麼欄位。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這張是 ER 圖，講關聯。</a:t>
            </a:r>
          </a:p>
          <a:p>
            <a:r>
              <a:t>game_records 是中心表；players 透過 black_player_id 和 white_player_id 連進來。</a:t>
            </a:r>
          </a:p>
          <a:p>
            <a:r>
              <a:t>一盤棋會有多筆 moves，也會有多筆 positions。users 代表資料上傳或匯入來源。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這張逐表說明。</a:t>
            </a:r>
          </a:p>
          <a:p>
            <a:r>
              <a:t>可以強調正規化精神：不要把棋手名字在每盤棋重複存，改成 players 表。</a:t>
            </a:r>
          </a:p>
          <a:p>
            <a:r>
              <a:t>game_records 放一盤棋的基本資訊；moves 和 positions 是一對多的明細表。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這張講資料庫課堂很重要的正規化。</a:t>
            </a:r>
          </a:p>
          <a:p>
            <a:r>
              <a:t>重點不是背第幾正規化，而是說清楚為什麼 players、game_records、moves、positions 要分開。</a:t>
            </a:r>
          </a:p>
          <a:p>
            <a:r>
              <a:t>positions 也可以被視為為了系統用途而保存的可查詢局面快取。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這張講 PK/FK 與關聯。</a:t>
            </a:r>
          </a:p>
          <a:p>
            <a:r>
              <a:t>可以說主鍵是每筆資料的身分證，外鍵是關聯到別張表的線。</a:t>
            </a:r>
          </a:p>
          <a:p>
            <a:r>
              <a:t>這樣前端查某盤棋時，可以從 game_records 找到 moves 和 positions。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這張是最核心。</a:t>
            </a:r>
          </a:p>
          <a:p>
            <a:r>
              <a:t>positions 的 move_number 和 moves 的 move_number 差一手，因為第 t 個局面要預測下一手。</a:t>
            </a:r>
          </a:p>
          <a:p>
            <a:r>
              <a:t>這樣就能從資料庫直接匯出 AI 訓練資料，不需要重新解析原始棋譜。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這張把資料庫設計和查詢用途連起來。</a:t>
            </a:r>
          </a:p>
          <a:p>
            <a:r>
              <a:t>可以說索引要根據查詢模式設計：棋局列表需要 played_at，回放需要 game_id 和 move_number。</a:t>
            </a:r>
          </a:p>
          <a:p>
            <a:r>
              <a:t>API 只是把這些查詢包成前端能用的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這張講效能設計。</a:t>
            </a:r>
          </a:p>
          <a:p>
            <a:r>
              <a:t>資料庫課堂常會問索引，這裡可以說索引是為查詢服務，不是看到欄位就全部加。</a:t>
            </a:r>
          </a:p>
          <a:p>
            <a:r>
              <a:t>positions(game_id, move_number) 是最重要的回放索引之一。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這張講資料品質。</a:t>
            </a:r>
          </a:p>
          <a:p>
            <a:r>
              <a:t>重點是資料庫不是只要能寫入，更要保證寫入的內容可信。</a:t>
            </a:r>
          </a:p>
          <a:p>
            <a:r>
              <a:t>交易控制能避免資料庫裡出現只有半盤棋的狀況。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這張講架構與用途。</a:t>
            </a:r>
          </a:p>
          <a:p>
            <a:r>
              <a:t>CSA 匯入流程把資料寫進資料庫；API 和前端從資料庫讀資料；AI 從資料庫匯出訓練資料或建立 opening book。</a:t>
            </a:r>
          </a:p>
          <a:p>
            <a:r>
              <a:t>所以資料庫是系統中心，而不是附屬檔案夾。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這張把 API 拉回資料庫設計。</a:t>
            </a:r>
          </a:p>
          <a:p>
            <a:r>
              <a:t>老師如果問 API 與資料庫關係，可以說 API 是包裝 SQL 查詢的介面。</a:t>
            </a:r>
          </a:p>
          <a:p>
            <a:r>
              <a:t>前端看不到資料表細節，但後端 API 會依據 schema 去 join 與組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這張講 AI 用途，但仍然從資料庫設計角度說。</a:t>
            </a:r>
          </a:p>
          <a:p>
            <a:r>
              <a:t>positions 和 moves 的對齊是訓練資料來源，sfen_hash 則有助於統計相同局面的常見手。</a:t>
            </a:r>
          </a:p>
          <a:p>
            <a:r>
              <a:t>這說明資料庫設計會影響 AI 系統能力。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結尾強調三點：設計、架構、用途。</a:t>
            </a:r>
          </a:p>
          <a:p>
            <a:r>
              <a:t>如果要一句話總結：這個資料庫讓棋譜從靜態檔案變成可被系統與 AI 重複利用的資料資產。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1E9CE16-C739-44B9-8ECA-82E117D543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7FAFC"/>
          </a:solidFill>
          <a:ln w="0">
            <a:solidFill>
              <a:srgbClr val="F7FAFC"/>
            </a:solidFill>
            <a:prstDash val="solid"/>
          </a:ln>
        </p:spPr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279080AB-CD81-4623-B2EE-BE4ACE1E57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oundRect">
            <a:avLst>
              <a:gd name="adj" fmla="val 4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50C6624-568F-469F-ADAA-891930657D1C}"/>
              </a:ext>
            </a:extLst>
          </p:cNvPr>
          <p:cNvSpPr>
            <a:spLocks noGrp="1"/>
          </p:cNvSpPr>
          <p:nvPr/>
        </p:nvSpPr>
        <p:spPr>
          <a:xfrm>
            <a:off x="190500" y="0"/>
            <a:ext cx="95250" cy="6858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C7ED5D5-2144-4F2D-A8DE-2B9D1C129455}"/>
              </a:ext>
            </a:extLst>
          </p:cNvPr>
          <p:cNvSpPr>
            <a:spLocks noGrp="1"/>
          </p:cNvSpPr>
          <p:nvPr/>
        </p:nvSpPr>
        <p:spPr>
          <a:xfrm>
            <a:off x="800100" y="7810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SHOGIAI DATABASE DESIGN REPORT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86EA601-756F-456A-BBFD-82A56EAE8423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2000"/>
              </a:lnSpc>
              <a:buNone/>
              <a:defRPr sz="40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shogiAI</a:t>
            </a:r>
          </a:p>
          <a:p>
            <a:pPr algn="l">
              <a:lnSpc>
                <a:spcPct val="102000"/>
              </a:lnSpc>
              <a:buNone/>
              <a:defRPr sz="40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資料庫設計報告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57BDFDF-B9E1-4889-8049-1110C93B5550}"/>
              </a:ext>
            </a:extLst>
          </p:cNvPr>
          <p:cNvSpPr>
            <a:spLocks noGrp="1"/>
          </p:cNvSpPr>
          <p:nvPr/>
        </p:nvSpPr>
        <p:spPr>
          <a:xfrm>
            <a:off x="838200" y="3067050"/>
            <a:ext cx="666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資料表設計、關聯架構、查詢用途與 AI 資料支援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645F60A-0D9F-47A8-88CE-CF63862AF50D}"/>
              </a:ext>
            </a:extLst>
          </p:cNvPr>
          <p:cNvSpPr>
            <a:spLocks noGrp="1"/>
          </p:cNvSpPr>
          <p:nvPr/>
        </p:nvSpPr>
        <p:spPr>
          <a:xfrm>
            <a:off x="8191500" y="1257300"/>
            <a:ext cx="2781300" cy="34290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7772323-B77F-4925-BF2A-E96C32A0FFA1}"/>
              </a:ext>
            </a:extLst>
          </p:cNvPr>
          <p:cNvSpPr>
            <a:spLocks noGrp="1"/>
          </p:cNvSpPr>
          <p:nvPr/>
        </p:nvSpPr>
        <p:spPr>
          <a:xfrm>
            <a:off x="8496300" y="15621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725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15 分鐘主軸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2226873-89FA-4DDF-AFC6-9014BB8B686F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526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• 資料庫設計目標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• ER 架構與表關聯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• 正規化與資料品質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• 查詢、API、AI 用途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3A1C9FF-C2BC-466C-A366-0EE2443CBF66}"/>
              </a:ext>
            </a:extLst>
          </p:cNvPr>
          <p:cNvSpPr>
            <a:spLocks noGrp="1"/>
          </p:cNvSpPr>
          <p:nvPr/>
        </p:nvSpPr>
        <p:spPr>
          <a:xfrm>
            <a:off x="838200" y="56578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2026 年 6 月｜課堂報告用簡報</a:t>
            </a:r>
          </a:p>
        </p:txBody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817C49F1-63BB-49AD-A029-D3DB93235D3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5DF5514-F696-4510-8A55-037581A391C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4B696AE-7C95-425B-81A0-DB5763148D4D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1/14</a:t>
            </a:r>
          </a:p>
        </p:txBody>
      </p:sp>
    </p:spTree>
    <p:extLst>
      <p:ext uri="{BB962C8B-B14F-4D97-AF65-F5344CB8AC3E}">
        <p14:creationId xmlns:p14="http://schemas.microsoft.com/office/powerpoint/2010/main" val="706868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71DD781E-169C-4646-9B8F-17A6E88A81E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DESIGN GOAL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C88FE36-00BA-4D6F-828F-781A8F5EE17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資料庫設計目標：把棋譜變成可查詢的結構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4EA457B-6A2F-4B14-9CA1-51FC973C73B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核心不是保存 CSA 文字，而是把棋局拆成能被查詢、回放、分析與訓練的資料模型。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98F37D7-54F2-4B03-9B9A-64D73C80383F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7B0A987-79E1-42D7-B001-D6BA5C07C5A9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753BAA4-FC34-4A16-9B96-311B0A76A20E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32385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1EDA97C-9F1E-4080-9368-1756BF948BE6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查詢導向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395ACE4-5340-47E7-8B2B-9D32AAC9187E}"/>
              </a:ext>
            </a:extLst>
          </p:cNvPr>
          <p:cNvSpPr>
            <a:spLocks noGrp="1"/>
          </p:cNvSpPr>
          <p:nvPr/>
        </p:nvSpPr>
        <p:spPr>
          <a:xfrm>
            <a:off x="971550" y="2533650"/>
            <a:ext cx="2819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使用者要能依棋手、日期、賽事、開局、結果搜尋棋局，也能快速跳到任一手。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1A4EEC8-3FBC-4B2A-8B2F-3DE6A1F1D013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32385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5F9961E0-4E0B-4E51-A7C3-D625E4020819}"/>
              </a:ext>
            </a:extLst>
          </p:cNvPr>
          <p:cNvSpPr>
            <a:spLocks noGrp="1"/>
          </p:cNvSpPr>
          <p:nvPr/>
        </p:nvSpPr>
        <p:spPr>
          <a:xfrm>
            <a:off x="4686300" y="217170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一致性導向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CD065B0-D6B0-4A31-8203-0C9C3B770B29}"/>
              </a:ext>
            </a:extLst>
          </p:cNvPr>
          <p:cNvSpPr>
            <a:spLocks noGrp="1"/>
          </p:cNvSpPr>
          <p:nvPr/>
        </p:nvSpPr>
        <p:spPr>
          <a:xfrm>
            <a:off x="4686300" y="2533650"/>
            <a:ext cx="2819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同一位棋手、同一盤棋、同一手走法不應重複散落，資料要能維持關聯一致。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9D39D87-6880-4889-880D-49813726FBB4}"/>
              </a:ext>
            </a:extLst>
          </p:cNvPr>
          <p:cNvSpPr>
            <a:spLocks noGrp="1"/>
          </p:cNvSpPr>
          <p:nvPr/>
        </p:nvSpPr>
        <p:spPr>
          <a:xfrm>
            <a:off x="8191500" y="2000250"/>
            <a:ext cx="32385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19D7DB48-922F-4C1F-BB75-C20D6CD936A2}"/>
              </a:ext>
            </a:extLst>
          </p:cNvPr>
          <p:cNvSpPr>
            <a:spLocks noGrp="1"/>
          </p:cNvSpPr>
          <p:nvPr/>
        </p:nvSpPr>
        <p:spPr>
          <a:xfrm>
            <a:off x="8401050" y="217170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AI 導向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4CDF9FD-9BA0-4BB1-A1A6-24D015E963A2}"/>
              </a:ext>
            </a:extLst>
          </p:cNvPr>
          <p:cNvSpPr>
            <a:spLocks noGrp="1"/>
          </p:cNvSpPr>
          <p:nvPr/>
        </p:nvSpPr>
        <p:spPr>
          <a:xfrm>
            <a:off x="8401050" y="2533650"/>
            <a:ext cx="2819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positions 與 moves 必須能對齊，才能匯出 Position_t → Move_{t+1} 的訓練樣本。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5A31FDF-16B0-4EDF-BC55-281FD75A6FED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1038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dirty="0" err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設計問題：一盤棋同時包含</a:t>
            </a:r>
            <a:r>
              <a:rPr sz="1950" b="1" dirty="0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950" b="1" dirty="0" err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metadata、棋手、手順、每手局面、訓練標籤，所以必須拆表</a:t>
            </a:r>
            <a:r>
              <a:rPr sz="1950" b="1" dirty="0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A084140E-FE89-4752-8AFD-366B203FF56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9220C1B2-0F57-4DFB-9A0D-5E4E3FF2DAF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8B782DD2-50AB-4405-9FDA-DF01E741DD97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2063380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">
            <a:extLst>
              <a:ext uri="{FF2B5EF4-FFF2-40B4-BE49-F238E27FC236}">
                <a16:creationId xmlns:a16="http://schemas.microsoft.com/office/drawing/2014/main" id="{58E17E9E-5ADE-496A-ACD0-91548224C3B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SCHEMA OVERVIEW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5A3ACE4-E42D-42C8-B5C5-8D4105EC7D8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ER 架構總覽：五張表各自負責一種概念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F4D1FCB-2C8D-4766-956D-5054E7163AC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users、players、game_records、moves、positions 分別處理上傳者、棋手、棋局、走法與局面。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F78A34E-5878-4CE3-9871-E9AE487D12AD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00053E0-01A3-416D-9D7E-42ECAD5BC50C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587416A-46DB-4493-9406-B8B23D07C42F}"/>
              </a:ext>
            </a:extLst>
          </p:cNvPr>
          <p:cNvSpPr>
            <a:spLocks noGrp="1"/>
          </p:cNvSpPr>
          <p:nvPr/>
        </p:nvSpPr>
        <p:spPr>
          <a:xfrm>
            <a:off x="611253" y="3096064"/>
            <a:ext cx="176212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066C45F-AEAE-4C45-8DBD-81877A4486A9}"/>
              </a:ext>
            </a:extLst>
          </p:cNvPr>
          <p:cNvSpPr>
            <a:spLocks noGrp="1"/>
          </p:cNvSpPr>
          <p:nvPr/>
        </p:nvSpPr>
        <p:spPr>
          <a:xfrm>
            <a:off x="823913" y="3170270"/>
            <a:ext cx="1495425" cy="2678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users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DA718B3-3BD9-4999-9A60-C8CB6AB22559}"/>
              </a:ext>
            </a:extLst>
          </p:cNvPr>
          <p:cNvSpPr>
            <a:spLocks noGrp="1"/>
          </p:cNvSpPr>
          <p:nvPr/>
        </p:nvSpPr>
        <p:spPr>
          <a:xfrm>
            <a:off x="881063" y="3551270"/>
            <a:ext cx="1381125" cy="746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user_id PK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username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email UNIQUE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role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1550F7A-C75D-4B2C-99E7-A0DF7B6489DD}"/>
              </a:ext>
            </a:extLst>
          </p:cNvPr>
          <p:cNvSpPr>
            <a:spLocks noGrp="1"/>
          </p:cNvSpPr>
          <p:nvPr/>
        </p:nvSpPr>
        <p:spPr>
          <a:xfrm>
            <a:off x="3105150" y="1885950"/>
            <a:ext cx="195262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6BB6099-F971-4275-BA52-22464895081F}"/>
              </a:ext>
            </a:extLst>
          </p:cNvPr>
          <p:cNvSpPr>
            <a:spLocks noGrp="1"/>
          </p:cNvSpPr>
          <p:nvPr/>
        </p:nvSpPr>
        <p:spPr>
          <a:xfrm>
            <a:off x="3238500" y="2000250"/>
            <a:ext cx="1685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players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C5BEE8D-A97C-4C96-9212-20F5DF709F96}"/>
              </a:ext>
            </a:extLst>
          </p:cNvPr>
          <p:cNvSpPr>
            <a:spLocks noGrp="1"/>
          </p:cNvSpPr>
          <p:nvPr/>
        </p:nvSpPr>
        <p:spPr>
          <a:xfrm>
            <a:off x="3295650" y="2381250"/>
            <a:ext cx="1571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player_id PK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player_name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rank_name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EFD7270-A2DA-4AA7-9A4F-E0F788831166}"/>
              </a:ext>
            </a:extLst>
          </p:cNvPr>
          <p:cNvSpPr>
            <a:spLocks noGrp="1"/>
          </p:cNvSpPr>
          <p:nvPr/>
        </p:nvSpPr>
        <p:spPr>
          <a:xfrm>
            <a:off x="5638800" y="2266950"/>
            <a:ext cx="2190750" cy="1657350"/>
          </a:xfrm>
          <a:prstGeom prst="roundRect">
            <a:avLst>
              <a:gd name="adj" fmla="val 4598"/>
            </a:avLst>
          </a:prstGeom>
          <a:solidFill>
            <a:srgbClr val="E6F4F1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7C433078-EC21-4140-BAE2-D5D599FCFC80}"/>
              </a:ext>
            </a:extLst>
          </p:cNvPr>
          <p:cNvSpPr>
            <a:spLocks noGrp="1"/>
          </p:cNvSpPr>
          <p:nvPr/>
        </p:nvSpPr>
        <p:spPr>
          <a:xfrm>
            <a:off x="5772150" y="2381250"/>
            <a:ext cx="192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game_records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CA7C134F-07CC-4C0E-85AB-3BCC2AEEFFD7}"/>
              </a:ext>
            </a:extLst>
          </p:cNvPr>
          <p:cNvSpPr>
            <a:spLocks noGrp="1"/>
          </p:cNvSpPr>
          <p:nvPr/>
        </p:nvSpPr>
        <p:spPr>
          <a:xfrm>
            <a:off x="5829300" y="2762250"/>
            <a:ext cx="1809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game_id PK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black_player_id FK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white_player_id FK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event/result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played_at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B17976C-92CE-4723-8A18-84E7728F1DAD}"/>
              </a:ext>
            </a:extLst>
          </p:cNvPr>
          <p:cNvSpPr>
            <a:spLocks noGrp="1"/>
          </p:cNvSpPr>
          <p:nvPr/>
        </p:nvSpPr>
        <p:spPr>
          <a:xfrm>
            <a:off x="8477250" y="1790700"/>
            <a:ext cx="2000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44CD8E36-3CE1-4276-9E1F-5D7143B88564}"/>
              </a:ext>
            </a:extLst>
          </p:cNvPr>
          <p:cNvSpPr>
            <a:spLocks noGrp="1"/>
          </p:cNvSpPr>
          <p:nvPr/>
        </p:nvSpPr>
        <p:spPr>
          <a:xfrm>
            <a:off x="8610600" y="19050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moves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9FC3E5F1-3976-41AC-BCFB-7381366B4CFE}"/>
              </a:ext>
            </a:extLst>
          </p:cNvPr>
          <p:cNvSpPr>
            <a:spLocks noGrp="1"/>
          </p:cNvSpPr>
          <p:nvPr/>
        </p:nvSpPr>
        <p:spPr>
          <a:xfrm>
            <a:off x="8667750" y="2286000"/>
            <a:ext cx="1619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move_id PK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game_id FK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move_number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usi_move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3BE36E94-DAB3-4A22-BE15-BCBDD009C35F}"/>
              </a:ext>
            </a:extLst>
          </p:cNvPr>
          <p:cNvSpPr>
            <a:spLocks noGrp="1"/>
          </p:cNvSpPr>
          <p:nvPr/>
        </p:nvSpPr>
        <p:spPr>
          <a:xfrm>
            <a:off x="8477250" y="3790950"/>
            <a:ext cx="20002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F9C99E5-649C-48E5-82B9-DCFAE2591D49}"/>
              </a:ext>
            </a:extLst>
          </p:cNvPr>
          <p:cNvSpPr>
            <a:spLocks noGrp="1"/>
          </p:cNvSpPr>
          <p:nvPr/>
        </p:nvSpPr>
        <p:spPr>
          <a:xfrm>
            <a:off x="8610600" y="390525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positions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FED009A-B685-4610-B993-4C67B08F58FD}"/>
              </a:ext>
            </a:extLst>
          </p:cNvPr>
          <p:cNvSpPr>
            <a:spLocks noGrp="1"/>
          </p:cNvSpPr>
          <p:nvPr/>
        </p:nvSpPr>
        <p:spPr>
          <a:xfrm>
            <a:off x="8667750" y="4286250"/>
            <a:ext cx="1619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position_id PK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game_id FK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move_number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sfen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sfen_hash</a:t>
            </a:r>
          </a:p>
        </p:txBody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9FC7B2EA-65BC-4677-9D82-BC8ECAB44515}"/>
              </a:ext>
            </a:extLst>
          </p:cNvPr>
          <p:cNvSpPr>
            <a:spLocks noGrp="1"/>
          </p:cNvSpPr>
          <p:nvPr/>
        </p:nvSpPr>
        <p:spPr>
          <a:xfrm flipV="1">
            <a:off x="2392429" y="3295649"/>
            <a:ext cx="3246371" cy="561535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FA499854-03D5-436D-B43A-9B827BB27878}"/>
              </a:ext>
            </a:extLst>
          </p:cNvPr>
          <p:cNvSpPr>
            <a:spLocks noGrp="1"/>
          </p:cNvSpPr>
          <p:nvPr/>
        </p:nvSpPr>
        <p:spPr>
          <a:xfrm>
            <a:off x="3657600" y="3562349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 dirty="0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5A769E6B-F9E6-48EC-8E5C-480B96291B69}"/>
              </a:ext>
            </a:extLst>
          </p:cNvPr>
          <p:cNvSpPr>
            <a:spLocks noGrp="1"/>
          </p:cNvSpPr>
          <p:nvPr/>
        </p:nvSpPr>
        <p:spPr>
          <a:xfrm>
            <a:off x="5057775" y="2552700"/>
            <a:ext cx="581025" cy="17145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100838FB-D4B7-4066-A5DA-C1EB9A339266}"/>
              </a:ext>
            </a:extLst>
          </p:cNvPr>
          <p:cNvSpPr>
            <a:spLocks noGrp="1"/>
          </p:cNvSpPr>
          <p:nvPr/>
        </p:nvSpPr>
        <p:spPr>
          <a:xfrm>
            <a:off x="5019675" y="2375757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 dirty="0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N:1</a:t>
            </a:r>
          </a:p>
        </p:txBody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FE5F7751-A515-4BDA-967B-A2B2202A870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647700" cy="26670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2F1FA95D-2365-4A88-9CAD-158671FC2C63}"/>
              </a:ext>
            </a:extLst>
          </p:cNvPr>
          <p:cNvSpPr>
            <a:spLocks noGrp="1"/>
          </p:cNvSpPr>
          <p:nvPr/>
        </p:nvSpPr>
        <p:spPr>
          <a:xfrm>
            <a:off x="7829550" y="2412496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 dirty="0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B32E7FBA-32D4-4CDB-A588-5F545744E1DC}"/>
              </a:ext>
            </a:extLst>
          </p:cNvPr>
          <p:cNvSpPr>
            <a:spLocks noGrp="1"/>
          </p:cNvSpPr>
          <p:nvPr/>
        </p:nvSpPr>
        <p:spPr>
          <a:xfrm>
            <a:off x="7829550" y="3295650"/>
            <a:ext cx="647700" cy="120015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8D38F34C-CA98-4057-81B8-959DA979EAE0}"/>
              </a:ext>
            </a:extLst>
          </p:cNvPr>
          <p:cNvSpPr>
            <a:spLocks noGrp="1"/>
          </p:cNvSpPr>
          <p:nvPr/>
        </p:nvSpPr>
        <p:spPr>
          <a:xfrm>
            <a:off x="7924800" y="359267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1:N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36C8746C-4A86-4618-9332-BFA056A6A60C}"/>
              </a:ext>
            </a:extLst>
          </p:cNvPr>
          <p:cNvSpPr>
            <a:spLocks noGrp="1"/>
          </p:cNvSpPr>
          <p:nvPr/>
        </p:nvSpPr>
        <p:spPr>
          <a:xfrm>
            <a:off x="1428750" y="5562600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game_records 是中心表：一盤棋連到兩位 players，也連到多筆 moves 與 positions。</a:t>
            </a:r>
          </a:p>
        </p:txBody>
      </p:sp>
      <p:sp>
        <p:nvSpPr>
          <p:cNvPr id="30" name="直線接點 29">
            <a:extLst>
              <a:ext uri="{FF2B5EF4-FFF2-40B4-BE49-F238E27FC236}">
                <a16:creationId xmlns:a16="http://schemas.microsoft.com/office/drawing/2014/main" id="{3A4C2523-5967-440D-BF0C-EB4CBB8B20D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45508C46-0DF1-487A-8C2F-D35AA4B0B20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E24B1A47-9CA1-4241-AC02-B38472AA8BDA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3/14</a:t>
            </a:r>
          </a:p>
        </p:txBody>
      </p:sp>
    </p:spTree>
    <p:extLst>
      <p:ext uri="{BB962C8B-B14F-4D97-AF65-F5344CB8AC3E}">
        <p14:creationId xmlns:p14="http://schemas.microsoft.com/office/powerpoint/2010/main" val="494221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1DCC1BCF-2DB5-46A6-AFB5-76BFF3B5780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TABLE DESIGN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EABC4B1-AF3E-4AAE-9272-9754F889BDF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核心資料表設計：每張表的責任邊界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0770345-2AB2-4E5C-BA14-368314B083A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 dirty="0" err="1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好的資料表要有清楚責任，不把棋局</a:t>
            </a:r>
            <a:r>
              <a:rPr sz="1200" b="0" dirty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00" b="0" dirty="0" err="1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metadata、棋手名稱、走法和局面混在一起</a:t>
            </a:r>
            <a:r>
              <a:rPr sz="1200" b="0" dirty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C6723947-FE21-4030-B6E3-4FF6B7C880B3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8602A93-4B6C-4112-AFE4-01A7A425EF04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graphicFrame>
        <p:nvGraphicFramePr>
          <p:cNvPr id="16" name="表格 15"/>
          <p:cNvGraphicFramePr/>
          <p:nvPr>
            <p:extLst>
              <p:ext uri="{D42A27DB-BD31-4B8C-83A1-F6EECF244321}">
                <p14:modId xmlns:p14="http://schemas.microsoft.com/office/powerpoint/2010/main" val="3291458140"/>
              </p:ext>
            </p:extLst>
          </p:nvPr>
        </p:nvGraphicFramePr>
        <p:xfrm>
          <a:off x="704850" y="1962150"/>
          <a:ext cx="10782300" cy="3143250"/>
        </p:xfrm>
        <a:graphic>
          <a:graphicData uri="http://schemas.openxmlformats.org/drawingml/2006/table">
            <a:tbl>
              <a:tblPr firstRow="1" bandRow="1"/>
              <a:tblGrid>
                <a:gridCol w="269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資料表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主鍵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主要內容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設計理由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username, email,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追蹤匯入或上傳來源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player_id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player_name, rank_name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避免棋手名稱重複寫在每盤棋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game_records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event, result, players,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保存一盤棋的 metadata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move_id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move_number, usi_move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保存可回放的手順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position_id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move_number, sfen, 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支援任意手局面與</a:t>
                      </a:r>
                      <a:r>
                        <a:rPr sz="1400" dirty="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AI </a:t>
                      </a:r>
                      <a:r>
                        <a:rPr sz="1400" dirty="0" err="1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</a:t>
                      </a:r>
                      <a:endParaRPr sz="1400" dirty="0">
                        <a:solidFill>
                          <a:srgbClr val="13202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">
            <a:extLst>
              <a:ext uri="{FF2B5EF4-FFF2-40B4-BE49-F238E27FC236}">
                <a16:creationId xmlns:a16="http://schemas.microsoft.com/office/drawing/2014/main" id="{59D0B5AB-4464-4A79-8720-88657AF9EF6B}"/>
              </a:ext>
            </a:extLst>
          </p:cNvPr>
          <p:cNvSpPr>
            <a:spLocks noGrp="1"/>
          </p:cNvSpPr>
          <p:nvPr/>
        </p:nvSpPr>
        <p:spPr>
          <a:xfrm>
            <a:off x="1104900" y="5429250"/>
            <a:ext cx="9982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責任拆清楚後，查詢與更新都比較穩：改棋手資料不必修改所有棋局，查某盤棋也能分層取得。</a:t>
            </a:r>
          </a:p>
        </p:txBody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1E253BC5-145D-43AC-9089-ED55E9CE9CC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66E7E55D-8579-4BFA-8DA5-3994943E2CF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C761F79-C805-44EE-94F3-38FEAF1305D4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4/14</a:t>
            </a:r>
          </a:p>
        </p:txBody>
      </p:sp>
    </p:spTree>
    <p:extLst>
      <p:ext uri="{BB962C8B-B14F-4D97-AF65-F5344CB8AC3E}">
        <p14:creationId xmlns:p14="http://schemas.microsoft.com/office/powerpoint/2010/main" val="162853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B7F5CF68-A3FC-458D-B299-A0C965143DB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NORMALIZATION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5D2139F-EFED-40F3-9917-1E93FAB7235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正規化設計：降低重複與更新錯誤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A6FC4C2-616E-4189-A800-3114B9D4F79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資料庫拆表不是為了複雜，而是讓相同事實只存一份，避免資料不一致。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144076B-DB0C-47E3-B0C6-E6FA11122CCB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C405A35-8B70-4B90-A085-D7AB9D237F8B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EA40D61-CF5F-4214-A970-6D8ABA8B18EA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0ED1A81-B671-4097-AC7A-EFB7BC909C57}"/>
              </a:ext>
            </a:extLst>
          </p:cNvPr>
          <p:cNvSpPr>
            <a:spLocks noGrp="1"/>
          </p:cNvSpPr>
          <p:nvPr/>
        </p:nvSpPr>
        <p:spPr>
          <a:xfrm>
            <a:off x="1066800" y="22098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第一層：棋手獨立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351DF08-0063-43CB-B154-84469073E9DA}"/>
              </a:ext>
            </a:extLst>
          </p:cNvPr>
          <p:cNvSpPr>
            <a:spLocks noGrp="1"/>
          </p:cNvSpPr>
          <p:nvPr/>
        </p:nvSpPr>
        <p:spPr>
          <a:xfrm>
            <a:off x="1066800" y="2571750"/>
            <a:ext cx="2724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players 表保存棋手名稱與段位，game_records 只保存 player_id。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A09F8B0-F663-4444-B94A-CC43E9E125CE}"/>
              </a:ext>
            </a:extLst>
          </p:cNvPr>
          <p:cNvSpPr>
            <a:spLocks noGrp="1"/>
          </p:cNvSpPr>
          <p:nvPr/>
        </p:nvSpPr>
        <p:spPr>
          <a:xfrm>
            <a:off x="4524375" y="203835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DEC05CD-67CE-48C0-9117-DFE7FCB73A11}"/>
              </a:ext>
            </a:extLst>
          </p:cNvPr>
          <p:cNvSpPr>
            <a:spLocks noGrp="1"/>
          </p:cNvSpPr>
          <p:nvPr/>
        </p:nvSpPr>
        <p:spPr>
          <a:xfrm>
            <a:off x="4733925" y="22098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第二層：棋局與明細分離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72FDBAA-2625-496E-AD23-AFEDEDD0199B}"/>
              </a:ext>
            </a:extLst>
          </p:cNvPr>
          <p:cNvSpPr>
            <a:spLocks noGrp="1"/>
          </p:cNvSpPr>
          <p:nvPr/>
        </p:nvSpPr>
        <p:spPr>
          <a:xfrm>
            <a:off x="4733925" y="2571750"/>
            <a:ext cx="2724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game_records 存一盤棋；moves 與 positions 存多筆細節，符合一對多關係。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4CF268D-6186-4293-8042-6EE8098B5E9E}"/>
              </a:ext>
            </a:extLst>
          </p:cNvPr>
          <p:cNvSpPr>
            <a:spLocks noGrp="1"/>
          </p:cNvSpPr>
          <p:nvPr/>
        </p:nvSpPr>
        <p:spPr>
          <a:xfrm>
            <a:off x="8191500" y="203835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4508757-08F0-433C-988B-B4AA7EEF02FB}"/>
              </a:ext>
            </a:extLst>
          </p:cNvPr>
          <p:cNvSpPr>
            <a:spLocks noGrp="1"/>
          </p:cNvSpPr>
          <p:nvPr/>
        </p:nvSpPr>
        <p:spPr>
          <a:xfrm>
            <a:off x="8401050" y="22098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第三層：衍生用途分離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3FDCAF02-ADDB-44D4-95E4-8ACE0A751F14}"/>
              </a:ext>
            </a:extLst>
          </p:cNvPr>
          <p:cNvSpPr>
            <a:spLocks noGrp="1"/>
          </p:cNvSpPr>
          <p:nvPr/>
        </p:nvSpPr>
        <p:spPr>
          <a:xfrm>
            <a:off x="8401050" y="2571750"/>
            <a:ext cx="2724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positions 另存 SFEN 與 hash，讓回放、查局面、AI 匯出不需每次重算。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EBD959A0-AD60-4525-845E-4E038F3CFDDD}"/>
              </a:ext>
            </a:extLst>
          </p:cNvPr>
          <p:cNvSpPr>
            <a:spLocks noGrp="1"/>
          </p:cNvSpPr>
          <p:nvPr/>
        </p:nvSpPr>
        <p:spPr>
          <a:xfrm>
            <a:off x="1390650" y="4286250"/>
            <a:ext cx="9410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正規化後的好處：減少重複、方便維護、查詢語意清楚，也更容易建立索引。</a:t>
            </a:r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AE868D13-272C-4612-A23C-0E42C226EBC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CEAF665A-E4F2-4675-9F55-8A433B3E9CA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70949CBA-2A8E-4C55-B2A3-AEF25841095F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5/14</a:t>
            </a:r>
          </a:p>
        </p:txBody>
      </p:sp>
    </p:spTree>
    <p:extLst>
      <p:ext uri="{BB962C8B-B14F-4D97-AF65-F5344CB8AC3E}">
        <p14:creationId xmlns:p14="http://schemas.microsoft.com/office/powerpoint/2010/main" val="853436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1AD281CD-D30B-4C62-9775-43DC5C773B3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RELATIONSHIP DETAIL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6DCE679-5619-44F6-AAAB-5614EFA16AA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關聯與約束：用 Primary Key / Foreign Key 串起資料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18A33CE-D214-4754-9568-8A1967E961B6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每個 ID 都有意義：主鍵識別單筆資料，外鍵保證明細資料屬於某一盤棋或某位棋手。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5DE473C-4170-421B-AB2B-F32C2E7BAAB1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6F122B1-D071-48B3-8226-4EDC176C3CB4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graphicFrame>
        <p:nvGraphicFramePr>
          <p:cNvPr id="18" name="表格 17"/>
          <p:cNvGraphicFramePr/>
          <p:nvPr>
            <p:extLst>
              <p:ext uri="{D42A27DB-BD31-4B8C-83A1-F6EECF244321}">
                <p14:modId xmlns:p14="http://schemas.microsoft.com/office/powerpoint/2010/main" val="3481089143"/>
              </p:ext>
            </p:extLst>
          </p:nvPr>
        </p:nvGraphicFramePr>
        <p:xfrm>
          <a:off x="609600" y="1981200"/>
          <a:ext cx="10706100" cy="2857500"/>
        </p:xfrm>
        <a:graphic>
          <a:graphicData uri="http://schemas.openxmlformats.org/drawingml/2006/table">
            <a:tbl>
              <a:tblPr firstRow="1" bandRow="1"/>
              <a:tblGrid>
                <a:gridCol w="4102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1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關聯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型態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game_records.black_player_id → players.player_id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一位棋手可出現在多盤棋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game_records.white_player_id → players.player_id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 players 表同時支援先手與後手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moves.game_id → game_records.game_id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一盤棋有多手走法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positions.game_id → game_records.game_id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一盤棋有多個局面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positions(game_id, move_number)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unique-like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快速定位某盤棋第</a:t>
                      </a:r>
                      <a:r>
                        <a:rPr sz="1200" dirty="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n </a:t>
                      </a:r>
                      <a:r>
                        <a:rPr sz="1200" dirty="0" err="1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手局面</a:t>
                      </a:r>
                      <a:endParaRPr sz="1200" dirty="0">
                        <a:solidFill>
                          <a:srgbClr val="13202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矩形: 圓角 6">
            <a:extLst>
              <a:ext uri="{FF2B5EF4-FFF2-40B4-BE49-F238E27FC236}">
                <a16:creationId xmlns:a16="http://schemas.microsoft.com/office/drawing/2014/main" id="{B2F53047-9114-4488-B800-97461E7BD0B0}"/>
              </a:ext>
            </a:extLst>
          </p:cNvPr>
          <p:cNvSpPr>
            <a:spLocks noGrp="1"/>
          </p:cNvSpPr>
          <p:nvPr/>
        </p:nvSpPr>
        <p:spPr>
          <a:xfrm>
            <a:off x="1695450" y="5219700"/>
            <a:ext cx="8801100" cy="781050"/>
          </a:xfrm>
          <a:prstGeom prst="roundRect">
            <a:avLst>
              <a:gd name="adj" fmla="val 9756"/>
            </a:avLst>
          </a:prstGeom>
          <a:solidFill>
            <a:srgbClr val="E6F4F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1CBCCD5-5FBA-4871-9445-0E25B90E7C9B}"/>
              </a:ext>
            </a:extLst>
          </p:cNvPr>
          <p:cNvSpPr>
            <a:spLocks noGrp="1"/>
          </p:cNvSpPr>
          <p:nvPr/>
        </p:nvSpPr>
        <p:spPr>
          <a:xfrm>
            <a:off x="1905000" y="5391150"/>
            <a:ext cx="838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資料完整性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52D3328F-FE99-4C71-88DB-1920CEFAEBCA}"/>
              </a:ext>
            </a:extLst>
          </p:cNvPr>
          <p:cNvSpPr>
            <a:spLocks noGrp="1"/>
          </p:cNvSpPr>
          <p:nvPr/>
        </p:nvSpPr>
        <p:spPr>
          <a:xfrm>
            <a:off x="1905000" y="5753100"/>
            <a:ext cx="8382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如果 game_records 不存在，理論上 moves 與 positions 不應該單獨存在；這就是外鍵約束想保護的資料一致性。</a:t>
            </a:r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89CFC01D-0B31-401B-8573-37A55C6F4CC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9661C5C-815B-45A8-914D-F49D95255D2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27210BC-2583-495B-BCC1-93832E28693B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6/14</a:t>
            </a:r>
          </a:p>
        </p:txBody>
      </p:sp>
    </p:spTree>
    <p:extLst>
      <p:ext uri="{BB962C8B-B14F-4D97-AF65-F5344CB8AC3E}">
        <p14:creationId xmlns:p14="http://schemas.microsoft.com/office/powerpoint/2010/main" val="971367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">
            <a:extLst>
              <a:ext uri="{FF2B5EF4-FFF2-40B4-BE49-F238E27FC236}">
                <a16:creationId xmlns:a16="http://schemas.microsoft.com/office/drawing/2014/main" id="{539F8514-ADF1-422C-B6D1-3E77E0C2217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POSITION MOVE DESIGN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C802023-323A-424C-B733-6543694332F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Position 與 Move 的對齊設計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5778A23-5C92-4C0D-84E6-CF90E3A5D7B1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這是本專案最重要的資料庫設計：局面與下一手要能一一配對。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CD5E17E-69AA-4EEE-B613-20906E8F29D3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E443A04-FF18-4019-BA38-EDABBCC1FFBF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1B0B68B-2989-49FE-BAD3-06732D57EFF0}"/>
              </a:ext>
            </a:extLst>
          </p:cNvPr>
          <p:cNvSpPr>
            <a:spLocks noGrp="1"/>
          </p:cNvSpPr>
          <p:nvPr/>
        </p:nvSpPr>
        <p:spPr>
          <a:xfrm>
            <a:off x="1352550" y="2000250"/>
            <a:ext cx="9486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345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Position_t  +  Move_{t+1}  →  Position_{t+1}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84CBBFE-9018-4E45-9856-E4471A0457AF}"/>
              </a:ext>
            </a:extLst>
          </p:cNvPr>
          <p:cNvSpPr>
            <a:spLocks noGrp="1"/>
          </p:cNvSpPr>
          <p:nvPr/>
        </p:nvSpPr>
        <p:spPr>
          <a:xfrm>
            <a:off x="1047750" y="32956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7AF9A33-4C15-4BF3-A28B-0B8069060A0F}"/>
              </a:ext>
            </a:extLst>
          </p:cNvPr>
          <p:cNvSpPr>
            <a:spLocks noGrp="1"/>
          </p:cNvSpPr>
          <p:nvPr/>
        </p:nvSpPr>
        <p:spPr>
          <a:xfrm>
            <a:off x="1257300" y="34671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positions.move_number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26CA4FB-CDBA-40BF-ADB8-A76C04EC3241}"/>
              </a:ext>
            </a:extLst>
          </p:cNvPr>
          <p:cNvSpPr>
            <a:spLocks noGrp="1"/>
          </p:cNvSpPr>
          <p:nvPr/>
        </p:nvSpPr>
        <p:spPr>
          <a:xfrm>
            <a:off x="1257300" y="3829050"/>
            <a:ext cx="2724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0 代表初始局面；n 代表走完第 n 手後的 SFEN。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BDEFC22-1DDD-439B-AFB4-0694E94AD73E}"/>
              </a:ext>
            </a:extLst>
          </p:cNvPr>
          <p:cNvSpPr>
            <a:spLocks noGrp="1"/>
          </p:cNvSpPr>
          <p:nvPr/>
        </p:nvSpPr>
        <p:spPr>
          <a:xfrm>
            <a:off x="4524375" y="32956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80E6CA4-B918-49A3-93E0-54E8B9E26C16}"/>
              </a:ext>
            </a:extLst>
          </p:cNvPr>
          <p:cNvSpPr>
            <a:spLocks noGrp="1"/>
          </p:cNvSpPr>
          <p:nvPr/>
        </p:nvSpPr>
        <p:spPr>
          <a:xfrm>
            <a:off x="4733925" y="34671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moves.move_number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74732D9-6932-422B-A6BE-859EE9244777}"/>
              </a:ext>
            </a:extLst>
          </p:cNvPr>
          <p:cNvSpPr>
            <a:spLocks noGrp="1"/>
          </p:cNvSpPr>
          <p:nvPr/>
        </p:nvSpPr>
        <p:spPr>
          <a:xfrm>
            <a:off x="4733925" y="3829050"/>
            <a:ext cx="2724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1 代表第一手；n 代表第 n 手的 CSA/USI 走法。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AE3A1AF-2227-465F-A833-C472F71DB4E4}"/>
              </a:ext>
            </a:extLst>
          </p:cNvPr>
          <p:cNvSpPr>
            <a:spLocks noGrp="1"/>
          </p:cNvSpPr>
          <p:nvPr/>
        </p:nvSpPr>
        <p:spPr>
          <a:xfrm>
            <a:off x="8001000" y="32956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93EA558-720B-44F1-A037-346A4B77BAB8}"/>
              </a:ext>
            </a:extLst>
          </p:cNvPr>
          <p:cNvSpPr>
            <a:spLocks noGrp="1"/>
          </p:cNvSpPr>
          <p:nvPr/>
        </p:nvSpPr>
        <p:spPr>
          <a:xfrm>
            <a:off x="8210550" y="34671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AI 樣本形成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350A8E4-B00E-47A3-8B85-ED2487D444E6}"/>
              </a:ext>
            </a:extLst>
          </p:cNvPr>
          <p:cNvSpPr>
            <a:spLocks noGrp="1"/>
          </p:cNvSpPr>
          <p:nvPr/>
        </p:nvSpPr>
        <p:spPr>
          <a:xfrm>
            <a:off x="8210550" y="3829050"/>
            <a:ext cx="2724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用第 t 手局面預測第 t+1 手走法，直接匯出 supervised learning 樣本。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B5D6FC4C-0DC0-40FD-A268-AACD91CB2048}"/>
              </a:ext>
            </a:extLst>
          </p:cNvPr>
          <p:cNvSpPr>
            <a:spLocks noGrp="1"/>
          </p:cNvSpPr>
          <p:nvPr/>
        </p:nvSpPr>
        <p:spPr>
          <a:xfrm>
            <a:off x="1276350" y="5257800"/>
            <a:ext cx="962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這個設計同時服務前端回放、任意手查詢、opening book 統計與 policy-only 訓練。</a:t>
            </a:r>
          </a:p>
        </p:txBody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EC0FBF61-144A-4C10-9DCA-0B595EDCAD4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4AE8EEB8-19D5-489E-9D35-DD796FF207A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6AA94BF2-F159-438E-830E-ACAF7C574D19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7/14</a:t>
            </a:r>
          </a:p>
        </p:txBody>
      </p:sp>
    </p:spTree>
    <p:extLst>
      <p:ext uri="{BB962C8B-B14F-4D97-AF65-F5344CB8AC3E}">
        <p14:creationId xmlns:p14="http://schemas.microsoft.com/office/powerpoint/2010/main" val="660581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">
            <a:extLst>
              <a:ext uri="{FF2B5EF4-FFF2-40B4-BE49-F238E27FC236}">
                <a16:creationId xmlns:a16="http://schemas.microsoft.com/office/drawing/2014/main" id="{A44269B1-A768-4640-8022-1EC875096E7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QUERY DESIGN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70259B3-AE24-406C-91E6-7A63E78D8FF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查詢設計：讓常見操作不用掃完整資料庫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5C447E9-D9CB-4885-A242-EC69DCBBF40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資料庫設計要考慮實際查詢模式，而不是只把資料放進去。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F44FEA0-FFEE-45C6-8E4C-41301047CE54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C2AAAD4-D4DF-4715-88D7-97928FAD74A9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9CB309D-A3F2-4A28-9139-D5FCC726D027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31432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C1F417C-4C62-4E61-B104-CCDFC6DA90A3}"/>
              </a:ext>
            </a:extLst>
          </p:cNvPr>
          <p:cNvSpPr>
            <a:spLocks noGrp="1"/>
          </p:cNvSpPr>
          <p:nvPr/>
        </p:nvSpPr>
        <p:spPr>
          <a:xfrm>
            <a:off x="952500" y="21717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棋局列表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6B5EA88-4FE6-4516-BC60-EF4ED3977E84}"/>
              </a:ext>
            </a:extLst>
          </p:cNvPr>
          <p:cNvSpPr>
            <a:spLocks noGrp="1"/>
          </p:cNvSpPr>
          <p:nvPr/>
        </p:nvSpPr>
        <p:spPr>
          <a:xfrm>
            <a:off x="952500" y="2533650"/>
            <a:ext cx="2724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依 played_at、game_id 排序；支援 event、date、player、opening 條件過濾。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24E4564-8205-4C13-98C7-C9A166BAD050}"/>
              </a:ext>
            </a:extLst>
          </p:cNvPr>
          <p:cNvSpPr>
            <a:spLocks noGrp="1"/>
          </p:cNvSpPr>
          <p:nvPr/>
        </p:nvSpPr>
        <p:spPr>
          <a:xfrm>
            <a:off x="4524375" y="2000250"/>
            <a:ext cx="31432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701C541-5629-4E37-B682-F79C77EB761B}"/>
              </a:ext>
            </a:extLst>
          </p:cNvPr>
          <p:cNvSpPr>
            <a:spLocks noGrp="1"/>
          </p:cNvSpPr>
          <p:nvPr/>
        </p:nvSpPr>
        <p:spPr>
          <a:xfrm>
            <a:off x="4733925" y="21717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局面回放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560BF9C-6148-4FB2-925C-139CF78DDFDE}"/>
              </a:ext>
            </a:extLst>
          </p:cNvPr>
          <p:cNvSpPr>
            <a:spLocks noGrp="1"/>
          </p:cNvSpPr>
          <p:nvPr/>
        </p:nvSpPr>
        <p:spPr>
          <a:xfrm>
            <a:off x="4733925" y="2533650"/>
            <a:ext cx="2724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用 positions(game_id, move_number) 直接查第 n 手，不必從第一手重播。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CB75CF2-5F70-4257-9E3C-330F53872BBE}"/>
              </a:ext>
            </a:extLst>
          </p:cNvPr>
          <p:cNvSpPr>
            <a:spLocks noGrp="1"/>
          </p:cNvSpPr>
          <p:nvPr/>
        </p:nvSpPr>
        <p:spPr>
          <a:xfrm>
            <a:off x="8305800" y="2000250"/>
            <a:ext cx="314325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682D70B-1FA3-468F-AE31-B53ED6301218}"/>
              </a:ext>
            </a:extLst>
          </p:cNvPr>
          <p:cNvSpPr>
            <a:spLocks noGrp="1"/>
          </p:cNvSpPr>
          <p:nvPr/>
        </p:nvSpPr>
        <p:spPr>
          <a:xfrm>
            <a:off x="8515350" y="217170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手順顯示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73F1A1B-B17D-41DA-8206-D26CA97FE1FF}"/>
              </a:ext>
            </a:extLst>
          </p:cNvPr>
          <p:cNvSpPr>
            <a:spLocks noGrp="1"/>
          </p:cNvSpPr>
          <p:nvPr/>
        </p:nvSpPr>
        <p:spPr>
          <a:xfrm>
            <a:off x="8515350" y="2533650"/>
            <a:ext cx="2724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用 moves.game_id 撈出整盤手順，依 move_number 排序。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BB586B9-830A-40FA-87FB-7CD8CF5BDA98}"/>
              </a:ext>
            </a:extLst>
          </p:cNvPr>
          <p:cNvSpPr>
            <a:spLocks noGrp="1"/>
          </p:cNvSpPr>
          <p:nvPr/>
        </p:nvSpPr>
        <p:spPr>
          <a:xfrm>
            <a:off x="1466850" y="4019550"/>
            <a:ext cx="9258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75AB048-9F7F-4FD9-9D8F-0FD2C109639E}"/>
              </a:ext>
            </a:extLst>
          </p:cNvPr>
          <p:cNvSpPr>
            <a:spLocks noGrp="1"/>
          </p:cNvSpPr>
          <p:nvPr/>
        </p:nvSpPr>
        <p:spPr>
          <a:xfrm>
            <a:off x="1790700" y="4286250"/>
            <a:ext cx="861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典型流程：GET /api/games 搜尋棋局 → GET /api/games/{id}?ply=n 讀第 n 手 → 前端 renderState 畫棋盤</a:t>
            </a:r>
          </a:p>
        </p:txBody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A97A437C-C7D7-4164-953B-5D1BC1C0667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4F5D558-0597-44E7-8AEE-3CA4DCE2ED2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99E26FEC-3029-4D63-875A-0F8C8A2B4E23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8/14</a:t>
            </a:r>
          </a:p>
        </p:txBody>
      </p:sp>
    </p:spTree>
    <p:extLst>
      <p:ext uri="{BB962C8B-B14F-4D97-AF65-F5344CB8AC3E}">
        <p14:creationId xmlns:p14="http://schemas.microsoft.com/office/powerpoint/2010/main" val="1552315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6EBDF8BE-EC50-4190-876D-7A88A6FC723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INDEX STRATEGY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70C6217-7E62-47C0-8D2E-83A3F86A688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索引策略：把常用查詢變快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BFFB17C-809A-4FD0-8D89-D4CF11DA477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索引不是越多越好，而是針對高頻查詢與 join 條件建立。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789A329-99E8-4FDF-A494-4D6F3F2F2776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C585B09-68F6-4FF5-9280-0C0011FB35C7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graphicFrame>
        <p:nvGraphicFramePr>
          <p:cNvPr id="16" name="表格 15"/>
          <p:cNvGraphicFramePr/>
          <p:nvPr>
            <p:extLst>
              <p:ext uri="{D42A27DB-BD31-4B8C-83A1-F6EECF244321}">
                <p14:modId xmlns:p14="http://schemas.microsoft.com/office/powerpoint/2010/main" val="1863165505"/>
              </p:ext>
            </p:extLst>
          </p:nvPr>
        </p:nvGraphicFramePr>
        <p:xfrm>
          <a:off x="1104900" y="1962150"/>
          <a:ext cx="9982200" cy="3181353"/>
        </p:xfrm>
        <a:graphic>
          <a:graphicData uri="http://schemas.openxmlformats.org/drawingml/2006/table">
            <a:tbl>
              <a:tblPr firstRow="1" bandRow="1"/>
              <a:tblGrid>
                <a:gridCol w="499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4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索引候選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加速用途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game_records(played_at, game_id)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棋局列表依時間排序與分頁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game_records(event_name), 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依賽事或開局搜尋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players(player_name)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依棋手搜尋與 join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moves(game_id, move_number)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取得整盤手順與第 n 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positions(game_id, move_number)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直接定位某盤棋某手局面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positions(sfen_hash)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opening book / </a:t>
                      </a:r>
                      <a:r>
                        <a:rPr sz="1200" dirty="0" err="1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重複局面統計</a:t>
                      </a:r>
                      <a:endParaRPr sz="1200" dirty="0">
                        <a:solidFill>
                          <a:srgbClr val="13202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">
            <a:extLst>
              <a:ext uri="{FF2B5EF4-FFF2-40B4-BE49-F238E27FC236}">
                <a16:creationId xmlns:a16="http://schemas.microsoft.com/office/drawing/2014/main" id="{E2D8DE2C-B381-4063-B037-A3164958543F}"/>
              </a:ext>
            </a:extLst>
          </p:cNvPr>
          <p:cNvSpPr>
            <a:spLocks noGrp="1"/>
          </p:cNvSpPr>
          <p:nvPr/>
        </p:nvSpPr>
        <p:spPr>
          <a:xfrm>
            <a:off x="1104900" y="5467350"/>
            <a:ext cx="998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索引改善讀取速度，但會增加寫入成本；所以要根據前端、API、AI 匯出的實際需求選擇。</a:t>
            </a:r>
          </a:p>
        </p:txBody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2AF73ADB-6D48-404D-BB64-ECADC1A5425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D47AA47-6C48-473E-8D02-2137F48B854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26C4E33-79CD-4A68-83F0-7BB0E779607F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9/14</a:t>
            </a:r>
          </a:p>
        </p:txBody>
      </p:sp>
    </p:spTree>
    <p:extLst>
      <p:ext uri="{BB962C8B-B14F-4D97-AF65-F5344CB8AC3E}">
        <p14:creationId xmlns:p14="http://schemas.microsoft.com/office/powerpoint/2010/main" val="735900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>
            <a:extLst>
              <a:ext uri="{FF2B5EF4-FFF2-40B4-BE49-F238E27FC236}">
                <a16:creationId xmlns:a16="http://schemas.microsoft.com/office/drawing/2014/main" id="{125513DE-5457-433A-99F2-9E1254264AF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DATA QUALITY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354E128-66CB-4C13-9BE2-61023E07DA7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資料品質設計：合法性、去重與交易控制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8DFD796-2E95-440D-86C0-59E346DFBABB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乾淨資料比大量資料更重要，因為後續前端與 AI 都依賴資料庫。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6E6C4D3-C815-4074-900C-5B83FD7BF0BE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B71F78C-15C3-435D-8B8B-BBDD5DBC3852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A8A3AA0-2210-4A75-A4B6-2E6EB5F027CA}"/>
              </a:ext>
            </a:extLst>
          </p:cNvPr>
          <p:cNvSpPr>
            <a:spLocks noGrp="1"/>
          </p:cNvSpPr>
          <p:nvPr/>
        </p:nvSpPr>
        <p:spPr>
          <a:xfrm>
            <a:off x="781050" y="1981200"/>
            <a:ext cx="31432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5F963A2-ECFD-4C06-8E97-8DE85EB9C143}"/>
              </a:ext>
            </a:extLst>
          </p:cNvPr>
          <p:cNvSpPr>
            <a:spLocks noGrp="1"/>
          </p:cNvSpPr>
          <p:nvPr/>
        </p:nvSpPr>
        <p:spPr>
          <a:xfrm>
            <a:off x="990600" y="21526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合法性檢查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C75E9D1-4F32-4F49-BA24-967BC4AEDD06}"/>
              </a:ext>
            </a:extLst>
          </p:cNvPr>
          <p:cNvSpPr>
            <a:spLocks noGrp="1"/>
          </p:cNvSpPr>
          <p:nvPr/>
        </p:nvSpPr>
        <p:spPr>
          <a:xfrm>
            <a:off x="990600" y="2514600"/>
            <a:ext cx="2724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匯入時用 cshogi 驗證 CSA 走法是否合法，非法棋譜不寫入正式資料。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8B40721-9401-4A60-901E-B0569FAEADC9}"/>
              </a:ext>
            </a:extLst>
          </p:cNvPr>
          <p:cNvSpPr>
            <a:spLocks noGrp="1"/>
          </p:cNvSpPr>
          <p:nvPr/>
        </p:nvSpPr>
        <p:spPr>
          <a:xfrm>
            <a:off x="4524375" y="1981200"/>
            <a:ext cx="31432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F777BF4-EA7E-42A1-9069-B55DE61A98AD}"/>
              </a:ext>
            </a:extLst>
          </p:cNvPr>
          <p:cNvSpPr>
            <a:spLocks noGrp="1"/>
          </p:cNvSpPr>
          <p:nvPr/>
        </p:nvSpPr>
        <p:spPr>
          <a:xfrm>
            <a:off x="4733925" y="21526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重複控制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EB0F563-BDAF-4296-8600-75002D8E0DB3}"/>
              </a:ext>
            </a:extLst>
          </p:cNvPr>
          <p:cNvSpPr>
            <a:spLocks noGrp="1"/>
          </p:cNvSpPr>
          <p:nvPr/>
        </p:nvSpPr>
        <p:spPr>
          <a:xfrm>
            <a:off x="4733925" y="2514600"/>
            <a:ext cx="2724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original_file_name 與棋局指紋可避免同一盤棋被重複匯入。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3A0BBEB-E75D-4E36-A32D-A775E70411D7}"/>
              </a:ext>
            </a:extLst>
          </p:cNvPr>
          <p:cNvSpPr>
            <a:spLocks noGrp="1"/>
          </p:cNvSpPr>
          <p:nvPr/>
        </p:nvSpPr>
        <p:spPr>
          <a:xfrm>
            <a:off x="8267700" y="1981200"/>
            <a:ext cx="314325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4161221-45AD-4ADF-8E98-C1D0544297C4}"/>
              </a:ext>
            </a:extLst>
          </p:cNvPr>
          <p:cNvSpPr>
            <a:spLocks noGrp="1"/>
          </p:cNvSpPr>
          <p:nvPr/>
        </p:nvSpPr>
        <p:spPr>
          <a:xfrm>
            <a:off x="8477250" y="2152650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交易控制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52770DE-8DD9-4BCA-A77D-CB241C7DA2FE}"/>
              </a:ext>
            </a:extLst>
          </p:cNvPr>
          <p:cNvSpPr>
            <a:spLocks noGrp="1"/>
          </p:cNvSpPr>
          <p:nvPr/>
        </p:nvSpPr>
        <p:spPr>
          <a:xfrm>
            <a:off x="8477250" y="2514600"/>
            <a:ext cx="2724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整盤棋匯入成功才 commit；中途出錯 rollback，避免 moves 或 positions 缺一半。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7EAA98E-4A42-4287-A858-1A0997EC1DA2}"/>
              </a:ext>
            </a:extLst>
          </p:cNvPr>
          <p:cNvSpPr>
            <a:spLocks noGrp="1"/>
          </p:cNvSpPr>
          <p:nvPr/>
        </p:nvSpPr>
        <p:spPr>
          <a:xfrm>
            <a:off x="2628900" y="4095750"/>
            <a:ext cx="6934200" cy="857250"/>
          </a:xfrm>
          <a:prstGeom prst="roundRect">
            <a:avLst>
              <a:gd name="adj" fmla="val 8889"/>
            </a:avLst>
          </a:prstGeom>
          <a:solidFill>
            <a:srgbClr val="E6F4F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412F6BEB-DBE6-49A0-821A-23C8AC81D89C}"/>
              </a:ext>
            </a:extLst>
          </p:cNvPr>
          <p:cNvSpPr>
            <a:spLocks noGrp="1"/>
          </p:cNvSpPr>
          <p:nvPr/>
        </p:nvSpPr>
        <p:spPr>
          <a:xfrm>
            <a:off x="2838450" y="4267200"/>
            <a:ext cx="651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可追蹤性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B5723D7E-23CA-4F14-8CBB-82D18838BF6B}"/>
              </a:ext>
            </a:extLst>
          </p:cNvPr>
          <p:cNvSpPr>
            <a:spLocks noGrp="1"/>
          </p:cNvSpPr>
          <p:nvPr/>
        </p:nvSpPr>
        <p:spPr>
          <a:xfrm>
            <a:off x="2838450" y="4629150"/>
            <a:ext cx="6515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users 與檔案名稱保留來源資訊，方便日後檢查是哪一次匯入造成問題。</a:t>
            </a:r>
          </a:p>
        </p:txBody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BFEAD8D1-F653-4E99-A8C9-69C5AB240F4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9E00C7E7-013D-4995-92C7-100D3E6AD5D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3A44AFE8-2CB5-4F2D-B98E-A2965189951D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10/14</a:t>
            </a:r>
          </a:p>
        </p:txBody>
      </p:sp>
    </p:spTree>
    <p:extLst>
      <p:ext uri="{BB962C8B-B14F-4D97-AF65-F5344CB8AC3E}">
        <p14:creationId xmlns:p14="http://schemas.microsoft.com/office/powerpoint/2010/main" val="1656268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">
            <a:extLst>
              <a:ext uri="{FF2B5EF4-FFF2-40B4-BE49-F238E27FC236}">
                <a16:creationId xmlns:a16="http://schemas.microsoft.com/office/drawing/2014/main" id="{5E814A78-BB56-4D0F-9501-BF752ED536F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ARCHITECTURE USAGE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E3204C7-6199-461A-BF84-C82FB5FA667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系統架構中的資料庫角色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BCB98ED-990C-4C7D-B61F-A629A4C7F07A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資料庫位在中心，向上服務 API 與前端，向下承接匯入流程，向旁邊支援 AI。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71680A0-6167-428F-A636-9D4EB52A7CB8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F6DB883-AE41-4891-AADD-0FFA861D14A6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B6E229F-D6D0-45D6-A183-D41035522C00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A8F4AC6-013C-404E-9B4D-B1BD0B1C3325}"/>
              </a:ext>
            </a:extLst>
          </p:cNvPr>
          <p:cNvSpPr>
            <a:spLocks noGrp="1"/>
          </p:cNvSpPr>
          <p:nvPr/>
        </p:nvSpPr>
        <p:spPr>
          <a:xfrm>
            <a:off x="895350" y="268605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CSA 匯入流程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7AE85E4-0F55-4651-A6C4-E9F2D5AA1FBC}"/>
              </a:ext>
            </a:extLst>
          </p:cNvPr>
          <p:cNvSpPr>
            <a:spLocks noGrp="1"/>
          </p:cNvSpPr>
          <p:nvPr/>
        </p:nvSpPr>
        <p:spPr>
          <a:xfrm>
            <a:off x="952500" y="30670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解析 CSA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驗證合法手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寫入 MySQL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4A653BE-8D92-4181-B090-F1148802AD1D}"/>
              </a:ext>
            </a:extLst>
          </p:cNvPr>
          <p:cNvSpPr>
            <a:spLocks noGrp="1"/>
          </p:cNvSpPr>
          <p:nvPr/>
        </p:nvSpPr>
        <p:spPr>
          <a:xfrm>
            <a:off x="5048250" y="2266950"/>
            <a:ext cx="2286000" cy="1790700"/>
          </a:xfrm>
          <a:prstGeom prst="roundRect">
            <a:avLst>
              <a:gd name="adj" fmla="val 4255"/>
            </a:avLst>
          </a:prstGeom>
          <a:solidFill>
            <a:srgbClr val="E6F4F1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00AD383-213E-4B95-8C04-36469106B309}"/>
              </a:ext>
            </a:extLst>
          </p:cNvPr>
          <p:cNvSpPr>
            <a:spLocks noGrp="1"/>
          </p:cNvSpPr>
          <p:nvPr/>
        </p:nvSpPr>
        <p:spPr>
          <a:xfrm>
            <a:off x="5181600" y="23812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MySQL 資料庫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0A3A8A3-1066-43FB-9FE9-CC31300F2137}"/>
              </a:ext>
            </a:extLst>
          </p:cNvPr>
          <p:cNvSpPr>
            <a:spLocks noGrp="1"/>
          </p:cNvSpPr>
          <p:nvPr/>
        </p:nvSpPr>
        <p:spPr>
          <a:xfrm>
            <a:off x="5238750" y="2762250"/>
            <a:ext cx="1905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players / games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moves / positions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indexes / constraints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66556CD-6105-47F3-BE49-B1EB46E410A9}"/>
              </a:ext>
            </a:extLst>
          </p:cNvPr>
          <p:cNvSpPr>
            <a:spLocks noGrp="1"/>
          </p:cNvSpPr>
          <p:nvPr/>
        </p:nvSpPr>
        <p:spPr>
          <a:xfrm>
            <a:off x="9334500" y="25717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2CB3360-3DA7-4D44-9155-AEB756B94209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API / 前端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F167AB9-B8C0-4E61-9FB6-E067879A87F5}"/>
              </a:ext>
            </a:extLst>
          </p:cNvPr>
          <p:cNvSpPr>
            <a:spLocks noGrp="1"/>
          </p:cNvSpPr>
          <p:nvPr/>
        </p:nvSpPr>
        <p:spPr>
          <a:xfrm>
            <a:off x="9525000" y="306705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搜尋棋局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跳到任意手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上傳與互動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F4DCC48-C761-42E8-A164-24B635944EDD}"/>
              </a:ext>
            </a:extLst>
          </p:cNvPr>
          <p:cNvSpPr>
            <a:spLocks noGrp="1"/>
          </p:cNvSpPr>
          <p:nvPr/>
        </p:nvSpPr>
        <p:spPr>
          <a:xfrm>
            <a:off x="5048250" y="4533900"/>
            <a:ext cx="22860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3335">
            <a:solidFill>
              <a:srgbClr val="0F766E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CB335D3-B16C-4599-99A6-278CD34FFF55}"/>
              </a:ext>
            </a:extLst>
          </p:cNvPr>
          <p:cNvSpPr>
            <a:spLocks noGrp="1"/>
          </p:cNvSpPr>
          <p:nvPr/>
        </p:nvSpPr>
        <p:spPr>
          <a:xfrm>
            <a:off x="5181600" y="464820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AI 用途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BEFED43A-38EE-4860-885D-C0881FA40F85}"/>
              </a:ext>
            </a:extLst>
          </p:cNvPr>
          <p:cNvSpPr>
            <a:spLocks noGrp="1"/>
          </p:cNvSpPr>
          <p:nvPr/>
        </p:nvSpPr>
        <p:spPr>
          <a:xfrm>
            <a:off x="5238750" y="5029200"/>
            <a:ext cx="190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policy dataset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opening book</a:t>
            </a:r>
          </a:p>
          <a:p>
            <a:pPr algn="l">
              <a:lnSpc>
                <a:spcPct val="115000"/>
              </a:lnSpc>
              <a:buNone/>
              <a:def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model match</a:t>
            </a:r>
          </a:p>
        </p:txBody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3B64713B-38CA-4C01-8C0E-70876E14A04C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2190750" cy="13335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DEE64CE5-FEE9-473D-A3C5-FBA949A021F5}"/>
              </a:ext>
            </a:extLst>
          </p:cNvPr>
          <p:cNvSpPr>
            <a:spLocks noGrp="1"/>
          </p:cNvSpPr>
          <p:nvPr/>
        </p:nvSpPr>
        <p:spPr>
          <a:xfrm>
            <a:off x="3609975" y="2901626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 dirty="0" err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寫入</a:t>
            </a:r>
            <a:endParaRPr sz="900" b="1" dirty="0">
              <a:solidFill>
                <a:srgbClr val="D9770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65B63877-E073-480C-B3C0-C2D93BC4B713}"/>
              </a:ext>
            </a:extLst>
          </p:cNvPr>
          <p:cNvSpPr>
            <a:spLocks noGrp="1"/>
          </p:cNvSpPr>
          <p:nvPr/>
        </p:nvSpPr>
        <p:spPr>
          <a:xfrm>
            <a:off x="7334250" y="3143250"/>
            <a:ext cx="2000250" cy="13335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C9EAAD63-F5F5-4675-B3A5-7BAF58E4C75E}"/>
              </a:ext>
            </a:extLst>
          </p:cNvPr>
          <p:cNvSpPr>
            <a:spLocks noGrp="1"/>
          </p:cNvSpPr>
          <p:nvPr/>
        </p:nvSpPr>
        <p:spPr>
          <a:xfrm>
            <a:off x="7991475" y="2990851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 dirty="0" err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查詢</a:t>
            </a:r>
            <a:endParaRPr sz="900" b="1" dirty="0">
              <a:solidFill>
                <a:srgbClr val="D9770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09358080-B5B2-481B-B8FC-C8267B260E2B}"/>
              </a:ext>
            </a:extLst>
          </p:cNvPr>
          <p:cNvSpPr>
            <a:spLocks noGrp="1"/>
          </p:cNvSpPr>
          <p:nvPr/>
        </p:nvSpPr>
        <p:spPr>
          <a:xfrm>
            <a:off x="6191250" y="4057650"/>
            <a:ext cx="9525" cy="47625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25B3F606-97B0-4459-A23E-00C9E37BDA2C}"/>
              </a:ext>
            </a:extLst>
          </p:cNvPr>
          <p:cNvSpPr>
            <a:spLocks noGrp="1"/>
          </p:cNvSpPr>
          <p:nvPr/>
        </p:nvSpPr>
        <p:spPr>
          <a:xfrm>
            <a:off x="6000751" y="41529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匯出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AF841661-6253-49F4-9981-62E4A3527970}"/>
              </a:ext>
            </a:extLst>
          </p:cNvPr>
          <p:cNvSpPr>
            <a:spLocks noGrp="1"/>
          </p:cNvSpPr>
          <p:nvPr/>
        </p:nvSpPr>
        <p:spPr>
          <a:xfrm>
            <a:off x="1181100" y="1809750"/>
            <a:ext cx="9829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資料庫是「中介層」：把一次性的棋譜檔案轉成多個功能都能共用的資料資產。</a:t>
            </a:r>
          </a:p>
        </p:txBody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826BB2F9-7FE0-4AD4-AD5C-9B0E98E4C00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1BE7BDB1-C565-4284-BCA6-5153F420F65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3330ECCB-0697-4A23-B08E-9DF878E5E765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11/14</a:t>
            </a:r>
          </a:p>
        </p:txBody>
      </p:sp>
    </p:spTree>
    <p:extLst>
      <p:ext uri="{BB962C8B-B14F-4D97-AF65-F5344CB8AC3E}">
        <p14:creationId xmlns:p14="http://schemas.microsoft.com/office/powerpoint/2010/main" val="130762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09A49EA2-5124-4978-B989-4DBA8C577A7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API FROM DATABASE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FE3DDD4-E18B-4D68-9ED7-11F60E44115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API 用途：把資料庫查詢包成 JSON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B2074E7-7BE3-44F4-B179-3D0F7DA85B9B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API 的價值是讓前端不用知道 SQL，只要照約定呼叫網址取得資料。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B796241-1DB3-47D4-BEF0-6F22DA38A8CE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9D92401-F6B5-4D77-9EBA-2260ED21FB26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graphicFrame>
        <p:nvGraphicFramePr>
          <p:cNvPr id="16" name="表格 15"/>
          <p:cNvGraphicFramePr/>
          <p:nvPr>
            <p:extLst>
              <p:ext uri="{D42A27DB-BD31-4B8C-83A1-F6EECF244321}">
                <p14:modId xmlns:p14="http://schemas.microsoft.com/office/powerpoint/2010/main" val="339642941"/>
              </p:ext>
            </p:extLst>
          </p:nvPr>
        </p:nvGraphicFramePr>
        <p:xfrm>
          <a:off x="876300" y="1981200"/>
          <a:ext cx="10439400" cy="3105150"/>
        </p:xfrm>
        <a:graphic>
          <a:graphicData uri="http://schemas.openxmlformats.org/drawingml/2006/table">
            <a:tbl>
              <a:tblPr firstRow="1" bandRow="1"/>
              <a:tblGrid>
                <a:gridCol w="347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API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背後資料表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GET /api/games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game_records + players + moves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棋局搜尋、分頁、列表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GET /api/games/{id}?ply=n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positions + moves + game_records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n 手棋盤與手順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GET /api/db/stats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所有核心表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資料庫狀態統計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POST /api/upload-csa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users + game_records + moves + positions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上傳後匯入資料庫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POST /api/ai-play/move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positions / opening book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</a:t>
                      </a:r>
                      <a:r>
                        <a:rPr sz="1200" dirty="0" err="1">
                          <a:solidFill>
                            <a:srgbClr val="13202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對弈狀態更新</a:t>
                      </a:r>
                      <a:endParaRPr sz="1200" dirty="0">
                        <a:solidFill>
                          <a:srgbClr val="13202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">
            <a:extLst>
              <a:ext uri="{FF2B5EF4-FFF2-40B4-BE49-F238E27FC236}">
                <a16:creationId xmlns:a16="http://schemas.microsoft.com/office/drawing/2014/main" id="{EF274AF0-EB57-4759-AC32-410A3EA5C055}"/>
              </a:ext>
            </a:extLst>
          </p:cNvPr>
          <p:cNvSpPr>
            <a:spLocks noGrp="1"/>
          </p:cNvSpPr>
          <p:nvPr/>
        </p:nvSpPr>
        <p:spPr>
          <a:xfrm>
            <a:off x="1524000" y="542925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API 是用途層；真正支撐 API 的，是底下清楚的 schema 與索引設計。</a:t>
            </a:r>
          </a:p>
        </p:txBody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90C44492-29DD-4C08-B985-C1382E7AEFC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76E901F-AFF5-4133-A3BA-DD8D32CE384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3090164-BAA8-4B15-B233-BF97ED5ACF94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12/14</a:t>
            </a:r>
          </a:p>
        </p:txBody>
      </p:sp>
    </p:spTree>
    <p:extLst>
      <p:ext uri="{BB962C8B-B14F-4D97-AF65-F5344CB8AC3E}">
        <p14:creationId xmlns:p14="http://schemas.microsoft.com/office/powerpoint/2010/main" val="1103860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A9B67C96-6025-4DAC-A3F7-980D8E89B44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AI USAGE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703284C-9040-426B-92D4-42660B4F18B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AI 用途：資料庫如何支援訓練與搜尋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44399A9-A2A8-4FE1-86B6-EA118B463F1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資料庫不是只為前端服務，也支援 policy-only 模型與 alpha-beta 搜尋。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4934DFF-152B-45FD-A7AF-2590DC289F2B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7794C83-DDDD-4BC5-B4F0-8475E79D1BAD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DB7D85E-73E9-4F20-A723-DBADC72D52B0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32385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F5144F0-B35F-4F52-A721-2A932940E9FE}"/>
              </a:ext>
            </a:extLst>
          </p:cNvPr>
          <p:cNvSpPr>
            <a:spLocks noGrp="1"/>
          </p:cNvSpPr>
          <p:nvPr/>
        </p:nvSpPr>
        <p:spPr>
          <a:xfrm>
            <a:off x="1009650" y="217170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訓練資料匯出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EC8F09C-E22D-4153-A795-EAC738297D12}"/>
              </a:ext>
            </a:extLst>
          </p:cNvPr>
          <p:cNvSpPr>
            <a:spLocks noGrp="1"/>
          </p:cNvSpPr>
          <p:nvPr/>
        </p:nvSpPr>
        <p:spPr>
          <a:xfrm>
            <a:off x="1009650" y="2533650"/>
            <a:ext cx="2819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positions + moves 形成 4,855,173 筆 Position → Move 樣本，輸出 policy-only .npz。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A02D31A-3883-4DB7-BBA3-904FF8D005BC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32385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823EF50-AA85-4849-A900-B3EA5689C659}"/>
              </a:ext>
            </a:extLst>
          </p:cNvPr>
          <p:cNvSpPr>
            <a:spLocks noGrp="1"/>
          </p:cNvSpPr>
          <p:nvPr/>
        </p:nvSpPr>
        <p:spPr>
          <a:xfrm>
            <a:off x="4686300" y="217170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Opening Book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8832B2D-2066-4050-8114-C998A515B124}"/>
              </a:ext>
            </a:extLst>
          </p:cNvPr>
          <p:cNvSpPr>
            <a:spLocks noGrp="1"/>
          </p:cNvSpPr>
          <p:nvPr/>
        </p:nvSpPr>
        <p:spPr>
          <a:xfrm>
            <a:off x="4686300" y="2533650"/>
            <a:ext cx="2819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用 sfen_hash 統計同局面常見走法，AI 開局可優先採用實戰高頻手。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B876727-8424-4FDF-A992-82DDE171FD7A}"/>
              </a:ext>
            </a:extLst>
          </p:cNvPr>
          <p:cNvSpPr>
            <a:spLocks noGrp="1"/>
          </p:cNvSpPr>
          <p:nvPr/>
        </p:nvSpPr>
        <p:spPr>
          <a:xfrm>
            <a:off x="8153400" y="2000250"/>
            <a:ext cx="32385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A995496-2C89-4184-8ED5-815F0087FACB}"/>
              </a:ext>
            </a:extLst>
          </p:cNvPr>
          <p:cNvSpPr>
            <a:spLocks noGrp="1"/>
          </p:cNvSpPr>
          <p:nvPr/>
        </p:nvSpPr>
        <p:spPr>
          <a:xfrm>
            <a:off x="8362950" y="217170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模型同步後使用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64D27BE-812A-4D80-99F1-D1B65B2C542B}"/>
              </a:ext>
            </a:extLst>
          </p:cNvPr>
          <p:cNvSpPr>
            <a:spLocks noGrp="1"/>
          </p:cNvSpPr>
          <p:nvPr/>
        </p:nvSpPr>
        <p:spPr>
          <a:xfrm>
            <a:off x="8362950" y="2533650"/>
            <a:ext cx="2819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遠端訓練完成後模型同步回本地，API 載入 policy model 產生候選手。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A8C9033-0382-47DF-A742-679F821724DF}"/>
              </a:ext>
            </a:extLst>
          </p:cNvPr>
          <p:cNvSpPr>
            <a:spLocks noGrp="1"/>
          </p:cNvSpPr>
          <p:nvPr/>
        </p:nvSpPr>
        <p:spPr>
          <a:xfrm>
            <a:off x="1257300" y="4324350"/>
            <a:ext cx="9677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6000"/>
              </a:lnSpc>
              <a:buNone/>
              <a:defRPr sz="20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資料庫設計若沒有保存 positions 與 sfen_hash，AI 訓練與 opening book 都會變得困難。</a:t>
            </a:r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ADFE6FE2-B742-4F4B-B3B5-7BE80008972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E5DCC15B-075A-4A61-9D51-8E5DECE7BFC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A3EEC9AA-F185-4481-91B7-804C2A209F3D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13/14</a:t>
            </a:r>
          </a:p>
        </p:txBody>
      </p:sp>
    </p:spTree>
    <p:extLst>
      <p:ext uri="{BB962C8B-B14F-4D97-AF65-F5344CB8AC3E}">
        <p14:creationId xmlns:p14="http://schemas.microsoft.com/office/powerpoint/2010/main" val="2039661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8E7173A6-0749-42A6-B0A4-8765FE8128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SUMMARY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EBE59F3-730F-4F4F-A050-3A348070693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結論：資料庫設計決定整個系統能做什麼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D39E1FE-99D6-41ED-963A-28B21D1D215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shogiAI 的資料庫設計把棋譜資料轉成可搜尋、可回放、可訓練、可擴充的結構。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ADF390A-51FE-4972-8EA3-5AF65562ACEE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0DCF44F-4E78-4756-9771-00C2860050FF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5DA53D9-71BA-4AA1-9B97-D79224038533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3190875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83BC4ED-D8E3-4685-919C-86864395BC0D}"/>
              </a:ext>
            </a:extLst>
          </p:cNvPr>
          <p:cNvSpPr>
            <a:spLocks noGrp="1"/>
          </p:cNvSpPr>
          <p:nvPr/>
        </p:nvSpPr>
        <p:spPr>
          <a:xfrm>
            <a:off x="1066800" y="2209800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設計重點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B3C16D0-2BCE-4B31-95BF-89006F22D3BF}"/>
              </a:ext>
            </a:extLst>
          </p:cNvPr>
          <p:cNvSpPr>
            <a:spLocks noGrp="1"/>
          </p:cNvSpPr>
          <p:nvPr/>
        </p:nvSpPr>
        <p:spPr>
          <a:xfrm>
            <a:off x="1066800" y="2571750"/>
            <a:ext cx="27717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五張核心表分工清楚，game_records 作為中心，moves 與 positions 支援明細與局面。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118FAB0-66AA-4F14-B07D-D586B259B35C}"/>
              </a:ext>
            </a:extLst>
          </p:cNvPr>
          <p:cNvSpPr>
            <a:spLocks noGrp="1"/>
          </p:cNvSpPr>
          <p:nvPr/>
        </p:nvSpPr>
        <p:spPr>
          <a:xfrm>
            <a:off x="4495800" y="2038350"/>
            <a:ext cx="3190875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0D7A958-1814-468B-BA28-8C0C8BDBA1EF}"/>
              </a:ext>
            </a:extLst>
          </p:cNvPr>
          <p:cNvSpPr>
            <a:spLocks noGrp="1"/>
          </p:cNvSpPr>
          <p:nvPr/>
        </p:nvSpPr>
        <p:spPr>
          <a:xfrm>
            <a:off x="4705350" y="2209800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架構重點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ADB8C2C-A2B8-42D0-B43E-526E85D35735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27717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匯入流程、API、前端、AI 都圍繞 MySQL schema 運作，資料庫是系統中心。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BF530DE-4011-40EF-A9FB-70D380AFE88E}"/>
              </a:ext>
            </a:extLst>
          </p:cNvPr>
          <p:cNvSpPr>
            <a:spLocks noGrp="1"/>
          </p:cNvSpPr>
          <p:nvPr/>
        </p:nvSpPr>
        <p:spPr>
          <a:xfrm>
            <a:off x="8134350" y="2038350"/>
            <a:ext cx="3190875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4AC085D-BF5D-4E84-B6B1-4E30A38AC28A}"/>
              </a:ext>
            </a:extLst>
          </p:cNvPr>
          <p:cNvSpPr>
            <a:spLocks noGrp="1"/>
          </p:cNvSpPr>
          <p:nvPr/>
        </p:nvSpPr>
        <p:spPr>
          <a:xfrm>
            <a:off x="8343900" y="2209800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202F"/>
                </a:solidFill>
                <a:latin typeface="Microsoft JhengHei"/>
                <a:ea typeface="Microsoft JhengHei"/>
                <a:cs typeface="Microsoft JhengHei"/>
              </a:rPr>
              <a:t>用途重點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C65B588-778E-4576-85DA-C6573F470667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27717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16F"/>
                </a:solidFill>
                <a:latin typeface="Microsoft JhengHei"/>
                <a:ea typeface="Microsoft JhengHei"/>
                <a:cs typeface="Microsoft JhengHei"/>
              </a:rPr>
              <a:t>支援棋譜搜尋、任意手回放、CSA 上傳、opening book、policy-only 訓練資料匯出。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803FF7E-278B-41C1-AD16-E9F4A24A9EDB}"/>
              </a:ext>
            </a:extLst>
          </p:cNvPr>
          <p:cNvSpPr>
            <a:spLocks noGrp="1"/>
          </p:cNvSpPr>
          <p:nvPr/>
        </p:nvSpPr>
        <p:spPr>
          <a:xfrm>
            <a:off x="0" y="4686300"/>
            <a:ext cx="1219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42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Q&amp;A</a:t>
            </a:r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047F851A-C3D6-4056-BCCF-B77C788AA33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269B6F4-3C38-4C87-AFF4-2313E63B9DF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資料庫系統｜資料庫設計、架構、用途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2508612F-443A-4679-890A-E487B1A3ABDA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14/14</a:t>
            </a:r>
          </a:p>
        </p:txBody>
      </p:sp>
    </p:spTree>
    <p:extLst>
      <p:ext uri="{BB962C8B-B14F-4D97-AF65-F5344CB8AC3E}">
        <p14:creationId xmlns:p14="http://schemas.microsoft.com/office/powerpoint/2010/main" val="16317318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1513</Words>
  <Application>Microsoft Office PowerPoint</Application>
  <DocSecurity>0</DocSecurity>
  <PresentationFormat>寬螢幕</PresentationFormat>
  <Paragraphs>298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子鈞 廖</cp:lastModifiedBy>
  <cp:revision>1</cp:revision>
  <dcterms:created xsi:type="dcterms:W3CDTF">2026-06-16T18:59:14Z</dcterms:created>
  <dcterms:modified xsi:type="dcterms:W3CDTF">2026-06-16T19:07:24Z</dcterms:modified>
</cp:coreProperties>
</file>