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開場先說明這份簡報聚焦於資料庫設計，不只是介紹表格，而是說明 shogiAI 如何用資料庫支援棋譜瀏覽、CSA 匯入、AI 訓練與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這頁講系統需求：資料庫不是附屬品，而是把原始棋譜轉成應用可以使用的結構化資料。</a:t>
            </a:r>
          </a:p>
          <a:p>
            <a:r>
              <a:t>用四個功能串起後面的設計：保存、查詢、API、AI 訓練。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ER 的角度快速帶過五張表。game_records 是父表，moves 和 positions 是高量資料表，也是後面查詢和 AI 訓練最常碰到的地方。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這頁可以說 ER 圖的讀法。users 到 game_records 是一位使用者可上傳多場棋；players 透過兩個 FK 對應先手與後手；一場棋會有多個 moves 和多個 positions。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這頁把 relational model 解釋成資料表之間的契約。PK 是每筆資料的身份證，FK 是資料之間的連線規則。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這頁強調欄位是為了功能設計。moves 和 positions 不只為瀏覽服務，也為後面的 AI supervised learning 服務。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不要逐字念 SQL，講重點：utf8mb4 可處理中文與符號，InnoDB 支援 foreign key，AUTO_INCREMENT 給每筆資料一個主鍵。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這頁照流程講即可。特別說明 --create-tables 代表程式會先確認 schema 存在，--skip-existing 避免重複匯入。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這頁講資料完整性。game_id 是整場棋的主線，moves 和 positions 都必須用這個 game_id 回連到同一場棋。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這頁用一個查詢說明 API 如何把資料庫資料整理成前端需要的 JSON。JOIN 負責補棋手名稱，LIMIT/OFFSET 負責分頁。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這頁講 positions 的價值。若沒有 positions，前端要從第一手一路重播到第 n 手；有 positions 後可直接取指定局面。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這頁可補充目前模型是 policy-only，所以資料出口的主角是 sfen 與 usi_move。join 條件的 +1 很重要，代表用第 t 個局面預測第 t+1 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API 解釋給沒學過的人：前端不直接寫 SQL，而是呼叫 API；API 再根據路由去查資料庫，最後回傳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這頁講索引觀念。索引像書本目錄，查詢變快，但每次新增資料也要維護目錄，所以不是加越多越好。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最後收斂成一句話：資料庫設計的價值是讓同一批資料能被不同功能重複使用，而且保持結構清楚、查詢快速、訓練可靠。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5F51958-35BB-4AEF-BA57-47BC1A52C392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99F6E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9F6E4"/>
                </a:solidFill>
                <a:latin typeface="Microsoft JhengHei"/>
                <a:ea typeface="Microsoft JhengHei"/>
                <a:cs typeface="Microsoft JhengHei"/>
              </a:rPr>
              <a:t>shogiAI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516420-0B2A-42A5-BC59-4DB08F42AF26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7429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資料庫設計報告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4C501B-DF65-4851-AD80-AEF6B7903128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CCFBF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CFBF1"/>
                </a:solidFill>
                <a:latin typeface="Microsoft JhengHei"/>
                <a:ea typeface="Microsoft JhengHei"/>
                <a:cs typeface="Microsoft JhengHei"/>
              </a:rPr>
              <a:t>ER 圖、Relational Model、建表 SQL、查詢與 API 實作</a:t>
            </a:r>
          </a:p>
        </p:txBody>
      </p:sp>
      <p:sp>
        <p:nvSpPr>
          <p:cNvPr id="4" name="cover-a">
            <a:extLst>
              <a:ext uri="{FF2B5EF4-FFF2-40B4-BE49-F238E27FC236}">
                <a16:creationId xmlns:a16="http://schemas.microsoft.com/office/drawing/2014/main" id="{07A94470-AF5D-48C8-ABA0-2A7C34018BD1}"/>
              </a:ext>
            </a:extLst>
          </p:cNvPr>
          <p:cNvSpPr>
            <a:spLocks noGrp="1"/>
          </p:cNvSpPr>
          <p:nvPr/>
        </p:nvSpPr>
        <p:spPr>
          <a:xfrm>
            <a:off x="7334250" y="1181100"/>
            <a:ext cx="1524000" cy="876300"/>
          </a:xfrm>
          <a:prstGeom prst="roundRect">
            <a:avLst>
              <a:gd name="adj" fmla="val 2174"/>
            </a:avLst>
          </a:prstGeom>
          <a:solidFill>
            <a:srgbClr val="DDF7F1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E8C523-4F58-4030-9688-0080D64832A1}"/>
              </a:ext>
            </a:extLst>
          </p:cNvPr>
          <p:cNvSpPr>
            <a:spLocks noGrp="1"/>
          </p:cNvSpPr>
          <p:nvPr/>
        </p:nvSpPr>
        <p:spPr>
          <a:xfrm>
            <a:off x="7477125" y="1428750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game_records</a:t>
            </a:r>
          </a:p>
        </p:txBody>
      </p:sp>
      <p:sp>
        <p:nvSpPr>
          <p:cNvPr id="6" name="cover-b">
            <a:extLst>
              <a:ext uri="{FF2B5EF4-FFF2-40B4-BE49-F238E27FC236}">
                <a16:creationId xmlns:a16="http://schemas.microsoft.com/office/drawing/2014/main" id="{DFE3418B-2BD8-4D43-B66A-63B600A521A7}"/>
              </a:ext>
            </a:extLst>
          </p:cNvPr>
          <p:cNvSpPr>
            <a:spLocks noGrp="1"/>
          </p:cNvSpPr>
          <p:nvPr/>
        </p:nvSpPr>
        <p:spPr>
          <a:xfrm>
            <a:off x="9429750" y="685800"/>
            <a:ext cx="1333500" cy="7810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2B1622-9CAB-4288-8FE3-0B07CF8F83EB}"/>
              </a:ext>
            </a:extLst>
          </p:cNvPr>
          <p:cNvSpPr>
            <a:spLocks noGrp="1"/>
          </p:cNvSpPr>
          <p:nvPr/>
        </p:nvSpPr>
        <p:spPr>
          <a:xfrm>
            <a:off x="9715500" y="971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8" name="cover-c">
            <a:extLst>
              <a:ext uri="{FF2B5EF4-FFF2-40B4-BE49-F238E27FC236}">
                <a16:creationId xmlns:a16="http://schemas.microsoft.com/office/drawing/2014/main" id="{EDA3BA3B-24B8-44AB-9FF2-79F06E3CE530}"/>
              </a:ext>
            </a:extLst>
          </p:cNvPr>
          <p:cNvSpPr>
            <a:spLocks noGrp="1"/>
          </p:cNvSpPr>
          <p:nvPr/>
        </p:nvSpPr>
        <p:spPr>
          <a:xfrm>
            <a:off x="9525000" y="2266950"/>
            <a:ext cx="1524000" cy="781050"/>
          </a:xfrm>
          <a:prstGeom prst="roundRect">
            <a:avLst>
              <a:gd name="adj" fmla="val 2439"/>
            </a:avLst>
          </a:prstGeom>
          <a:solidFill>
            <a:srgbClr val="E0F2FE"/>
          </a:solidFill>
          <a:ln w="9525">
            <a:solidFill>
              <a:srgbClr val="7DD3F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132469-C126-40D0-A40D-DFD5F80D2B96}"/>
              </a:ext>
            </a:extLst>
          </p:cNvPr>
          <p:cNvSpPr>
            <a:spLocks noGrp="1"/>
          </p:cNvSpPr>
          <p:nvPr/>
        </p:nvSpPr>
        <p:spPr>
          <a:xfrm>
            <a:off x="9715500" y="2552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7598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75985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sp>
        <p:nvSpPr>
          <p:cNvPr id="10" name="cover-d">
            <a:extLst>
              <a:ext uri="{FF2B5EF4-FFF2-40B4-BE49-F238E27FC236}">
                <a16:creationId xmlns:a16="http://schemas.microsoft.com/office/drawing/2014/main" id="{0BFD6CA4-2FBE-4B4D-9594-09E4C2472AFB}"/>
              </a:ext>
            </a:extLst>
          </p:cNvPr>
          <p:cNvSpPr>
            <a:spLocks noGrp="1"/>
          </p:cNvSpPr>
          <p:nvPr/>
        </p:nvSpPr>
        <p:spPr>
          <a:xfrm>
            <a:off x="7286625" y="3125949"/>
            <a:ext cx="1333500" cy="781050"/>
          </a:xfrm>
          <a:prstGeom prst="roundRect">
            <a:avLst>
              <a:gd name="adj" fmla="val 2439"/>
            </a:avLst>
          </a:prstGeom>
          <a:solidFill>
            <a:srgbClr val="FEF3C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F8B922-15BD-43B3-816C-9A317D5092AA}"/>
              </a:ext>
            </a:extLst>
          </p:cNvPr>
          <p:cNvSpPr>
            <a:spLocks noGrp="1"/>
          </p:cNvSpPr>
          <p:nvPr/>
        </p:nvSpPr>
        <p:spPr>
          <a:xfrm>
            <a:off x="7524750" y="3333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2400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2400E"/>
                </a:solidFill>
                <a:latin typeface="Consolas"/>
                <a:ea typeface="Consolas"/>
                <a:cs typeface="Consolas"/>
              </a:rPr>
              <a:t>players</a:t>
            </a:r>
          </a:p>
        </p:txBody>
      </p:sp>
      <p:cxnSp>
        <p:nvCxnSpPr>
          <p:cNvPr id="27" name="直線單箭頭接點 26"/>
          <p:cNvCxnSpPr>
            <a:stCxn id="4" idx="3"/>
            <a:endCxn id="6" idx="1"/>
          </p:cNvCxnSpPr>
          <p:nvPr/>
        </p:nvCxnSpPr>
        <p:spPr>
          <a:xfrm flipV="1">
            <a:off x="8858250" y="1076325"/>
            <a:ext cx="571500" cy="542925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28" name="直線單箭頭接點 27"/>
          <p:cNvCxnSpPr>
            <a:stCxn id="4" idx="3"/>
            <a:endCxn id="8" idx="1"/>
          </p:cNvCxnSpPr>
          <p:nvPr/>
        </p:nvCxnSpPr>
        <p:spPr>
          <a:xfrm>
            <a:off x="8858250" y="1619250"/>
            <a:ext cx="666750" cy="1038225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29" name="直線單箭頭接點 28"/>
          <p:cNvCxnSpPr>
            <a:cxnSpLocks/>
            <a:stCxn id="10" idx="0"/>
            <a:endCxn id="4" idx="2"/>
          </p:cNvCxnSpPr>
          <p:nvPr/>
        </p:nvCxnSpPr>
        <p:spPr>
          <a:xfrm flipV="1">
            <a:off x="7953375" y="2057400"/>
            <a:ext cx="142875" cy="1068549"/>
          </a:xfrm>
          <a:prstGeom prst="straightConnector1">
            <a:avLst/>
          </a:prstGeom>
          <a:ln w="19050">
            <a:solidFill>
              <a:srgbClr val="D97706"/>
            </a:solidFill>
            <a:prstDash val="solid"/>
            <a:headEnd type="arrow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93BCCD0-BC00-4D50-9612-D63B28EF5DD4}"/>
              </a:ext>
            </a:extLst>
          </p:cNvPr>
          <p:cNvSpPr>
            <a:spLocks noGrp="1"/>
          </p:cNvSpPr>
          <p:nvPr/>
        </p:nvSpPr>
        <p:spPr>
          <a:xfrm>
            <a:off x="704850" y="60198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A7F3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7F3D0"/>
                </a:solidFill>
                <a:latin typeface="Microsoft JhengHei"/>
                <a:ea typeface="Microsoft JhengHei"/>
                <a:cs typeface="Microsoft JhengHei"/>
              </a:rPr>
              <a:t>課堂報告版｜約 15 分鐘</a:t>
            </a:r>
          </a:p>
        </p:txBody>
      </p:sp>
    </p:spTree>
    <p:extLst>
      <p:ext uri="{BB962C8B-B14F-4D97-AF65-F5344CB8AC3E}">
        <p14:creationId xmlns:p14="http://schemas.microsoft.com/office/powerpoint/2010/main" val="162533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04F74652-78DE-41DF-BD66-F364BB6D1D97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01 系統目標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C898FA-3D61-475C-A82F-13B8E7A21038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資料庫在系統中負責把棋譜變成可查、可訓練的資料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84F836F-C05F-4247-A20D-D92C795514E7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472E0C-A12F-4CD2-9481-79E0FC0F3848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goal1">
            <a:extLst>
              <a:ext uri="{FF2B5EF4-FFF2-40B4-BE49-F238E27FC236}">
                <a16:creationId xmlns:a16="http://schemas.microsoft.com/office/drawing/2014/main" id="{4E2EF147-BA8E-4213-BFC1-F5EB370DB5C9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238500" cy="14287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365E4C-5B8B-46BF-8FA3-2871196807BC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棋譜保存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00B6D2-0C57-4C6A-813D-D46DD8F58656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28956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把 CSA 檔案拆成對局、棋手、每一步與每個局面，避免只有原始檔案難以查詢。</a:t>
            </a:r>
          </a:p>
        </p:txBody>
      </p:sp>
      <p:sp>
        <p:nvSpPr>
          <p:cNvPr id="8" name="goal2">
            <a:extLst>
              <a:ext uri="{FF2B5EF4-FFF2-40B4-BE49-F238E27FC236}">
                <a16:creationId xmlns:a16="http://schemas.microsoft.com/office/drawing/2014/main" id="{40994593-17E1-4719-B3F9-E743058CAD96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3238500" cy="14287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7DEAE5-2C8B-42CC-91A0-3BA430D50A62}"/>
              </a:ext>
            </a:extLst>
          </p:cNvPr>
          <p:cNvSpPr>
            <a:spLocks noGrp="1"/>
          </p:cNvSpPr>
          <p:nvPr/>
        </p:nvSpPr>
        <p:spPr>
          <a:xfrm>
            <a:off x="4648200" y="175260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前端查詢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8CB88B-56AE-45B0-8B88-4ECA9EC886FA}"/>
              </a:ext>
            </a:extLst>
          </p:cNvPr>
          <p:cNvSpPr>
            <a:spLocks noGrp="1"/>
          </p:cNvSpPr>
          <p:nvPr/>
        </p:nvSpPr>
        <p:spPr>
          <a:xfrm>
            <a:off x="4648200" y="2114550"/>
            <a:ext cx="28956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支援列表、搜尋、分頁、指定手數回放，讓瀏覽器可以快速取得需要的資料。</a:t>
            </a:r>
          </a:p>
        </p:txBody>
      </p:sp>
      <p:sp>
        <p:nvSpPr>
          <p:cNvPr id="11" name="goal3">
            <a:extLst>
              <a:ext uri="{FF2B5EF4-FFF2-40B4-BE49-F238E27FC236}">
                <a16:creationId xmlns:a16="http://schemas.microsoft.com/office/drawing/2014/main" id="{EBBDA8F4-309D-4499-AF54-0FDC2F661CC1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3238500" cy="14287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EFE7AC-4DFF-48CE-A565-53F4E1370827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AI 資料出口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11C460-A798-4764-9DDD-D5A03A65F8C2}"/>
              </a:ext>
            </a:extLst>
          </p:cNvPr>
          <p:cNvSpPr>
            <a:spLocks noGrp="1"/>
          </p:cNvSpPr>
          <p:nvPr/>
        </p:nvSpPr>
        <p:spPr>
          <a:xfrm>
            <a:off x="8362950" y="2114550"/>
            <a:ext cx="28956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將 positions 與 moves </a:t>
            </a:r>
            <a:r>
              <a:rPr sz="1275" b="0" dirty="0" err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對齊，產生</a:t>
            </a:r>
            <a:r>
              <a:rPr sz="1275" b="0" dirty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 supervised learning </a:t>
            </a:r>
            <a:r>
              <a:rPr sz="1275" b="0" dirty="0" err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所需的「局面</a:t>
            </a:r>
            <a:r>
              <a:rPr sz="1275" b="0" dirty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endParaRPr lang="en-US" sz="1275" b="0" dirty="0">
              <a:solidFill>
                <a:srgbClr val="475569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-&gt; </a:t>
            </a:r>
            <a:r>
              <a:rPr sz="1275" b="0" dirty="0" err="1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下一手</a:t>
            </a:r>
            <a:r>
              <a:rPr sz="1275" b="0" dirty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」。</a:t>
            </a:r>
          </a:p>
        </p:txBody>
      </p:sp>
      <p:sp>
        <p:nvSpPr>
          <p:cNvPr id="14" name="pipe1">
            <a:extLst>
              <a:ext uri="{FF2B5EF4-FFF2-40B4-BE49-F238E27FC236}">
                <a16:creationId xmlns:a16="http://schemas.microsoft.com/office/drawing/2014/main" id="{EB4E058D-CBB9-451D-8F7A-A9F6FE12D758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1714500" cy="609600"/>
          </a:xfrm>
          <a:prstGeom prst="roundRect">
            <a:avLst>
              <a:gd name="adj" fmla="val 3125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BBBD81-7033-4A41-AD46-5405DE28D6DA}"/>
              </a:ext>
            </a:extLst>
          </p:cNvPr>
          <p:cNvSpPr>
            <a:spLocks noGrp="1"/>
          </p:cNvSpPr>
          <p:nvPr/>
        </p:nvSpPr>
        <p:spPr>
          <a:xfrm>
            <a:off x="1600200" y="42100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CSA 檔案</a:t>
            </a:r>
          </a:p>
        </p:txBody>
      </p:sp>
      <p:sp>
        <p:nvSpPr>
          <p:cNvPr id="16" name="pipe2">
            <a:extLst>
              <a:ext uri="{FF2B5EF4-FFF2-40B4-BE49-F238E27FC236}">
                <a16:creationId xmlns:a16="http://schemas.microsoft.com/office/drawing/2014/main" id="{55DECBC0-46C4-4F1F-B6B9-897837F0DCBB}"/>
              </a:ext>
            </a:extLst>
          </p:cNvPr>
          <p:cNvSpPr>
            <a:spLocks noGrp="1"/>
          </p:cNvSpPr>
          <p:nvPr/>
        </p:nvSpPr>
        <p:spPr>
          <a:xfrm>
            <a:off x="3619500" y="4000500"/>
            <a:ext cx="2000250" cy="609600"/>
          </a:xfrm>
          <a:prstGeom prst="roundRect">
            <a:avLst>
              <a:gd name="adj" fmla="val 312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97CE6B-95B3-4613-A105-2987DD60BAED}"/>
              </a:ext>
            </a:extLst>
          </p:cNvPr>
          <p:cNvSpPr>
            <a:spLocks noGrp="1"/>
          </p:cNvSpPr>
          <p:nvPr/>
        </p:nvSpPr>
        <p:spPr>
          <a:xfrm>
            <a:off x="4286250" y="41910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E3A8A"/>
                </a:solidFill>
                <a:latin typeface="Consolas"/>
                <a:ea typeface="Consolas"/>
                <a:cs typeface="Consolas"/>
              </a:defRPr>
            </a:pPr>
            <a:r>
              <a:rPr sz="1500" b="1" dirty="0">
                <a:solidFill>
                  <a:srgbClr val="1E3A8A"/>
                </a:solidFill>
                <a:latin typeface="Consolas"/>
                <a:ea typeface="Consolas"/>
                <a:cs typeface="Consolas"/>
              </a:rPr>
              <a:t>MySQL</a:t>
            </a:r>
          </a:p>
        </p:txBody>
      </p:sp>
      <p:sp>
        <p:nvSpPr>
          <p:cNvPr id="18" name="pipe3">
            <a:extLst>
              <a:ext uri="{FF2B5EF4-FFF2-40B4-BE49-F238E27FC236}">
                <a16:creationId xmlns:a16="http://schemas.microsoft.com/office/drawing/2014/main" id="{CB3CA8B4-46F1-4D2C-A0BA-B2825E57688E}"/>
              </a:ext>
            </a:extLst>
          </p:cNvPr>
          <p:cNvSpPr>
            <a:spLocks noGrp="1"/>
          </p:cNvSpPr>
          <p:nvPr/>
        </p:nvSpPr>
        <p:spPr>
          <a:xfrm>
            <a:off x="6724650" y="5180045"/>
            <a:ext cx="1809750" cy="609600"/>
          </a:xfrm>
          <a:prstGeom prst="roundRect">
            <a:avLst>
              <a:gd name="adj" fmla="val 3125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F86C9D-C4FF-4368-85A5-392FF67691C6}"/>
              </a:ext>
            </a:extLst>
          </p:cNvPr>
          <p:cNvSpPr>
            <a:spLocks noGrp="1"/>
          </p:cNvSpPr>
          <p:nvPr/>
        </p:nvSpPr>
        <p:spPr>
          <a:xfrm>
            <a:off x="7045195" y="5295901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dirty="0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1650" b="1" dirty="0" err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rPr>
              <a:t>查詢</a:t>
            </a:r>
            <a:endParaRPr sz="1650" b="1" dirty="0">
              <a:solidFill>
                <a:srgbClr val="92400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pipe4">
            <a:extLst>
              <a:ext uri="{FF2B5EF4-FFF2-40B4-BE49-F238E27FC236}">
                <a16:creationId xmlns:a16="http://schemas.microsoft.com/office/drawing/2014/main" id="{1C2C9B10-40AD-48E4-8FEA-5DF82C871958}"/>
              </a:ext>
            </a:extLst>
          </p:cNvPr>
          <p:cNvSpPr>
            <a:spLocks noGrp="1"/>
          </p:cNvSpPr>
          <p:nvPr/>
        </p:nvSpPr>
        <p:spPr>
          <a:xfrm>
            <a:off x="6477000" y="3255606"/>
            <a:ext cx="1714500" cy="609600"/>
          </a:xfrm>
          <a:prstGeom prst="roundRect">
            <a:avLst>
              <a:gd name="adj" fmla="val 3125"/>
            </a:avLst>
          </a:prstGeom>
          <a:solidFill>
            <a:srgbClr val="FFE4E6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082E1E-5EE2-4065-8C33-A7B1485E66B6}"/>
              </a:ext>
            </a:extLst>
          </p:cNvPr>
          <p:cNvSpPr>
            <a:spLocks noGrp="1"/>
          </p:cNvSpPr>
          <p:nvPr/>
        </p:nvSpPr>
        <p:spPr>
          <a:xfrm>
            <a:off x="6858000" y="34099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8813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dirty="0">
                <a:solidFill>
                  <a:srgbClr val="881337"/>
                </a:solidFill>
                <a:latin typeface="Microsoft JhengHei"/>
                <a:ea typeface="Microsoft JhengHei"/>
                <a:cs typeface="Microsoft JhengHei"/>
              </a:rPr>
              <a:t>AI </a:t>
            </a:r>
            <a:r>
              <a:rPr sz="1650" b="1" dirty="0" err="1">
                <a:solidFill>
                  <a:srgbClr val="881337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  <a:endParaRPr sz="1650" b="1" dirty="0">
              <a:solidFill>
                <a:srgbClr val="88133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48" name="直線單箭頭接點 47"/>
          <p:cNvCxnSpPr>
            <a:cxnSpLocks/>
            <a:stCxn id="16" idx="1"/>
            <a:endCxn id="14" idx="3"/>
          </p:cNvCxnSpPr>
          <p:nvPr/>
        </p:nvCxnSpPr>
        <p:spPr>
          <a:xfrm flipH="1">
            <a:off x="2952750" y="4305300"/>
            <a:ext cx="66675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49" name="直線單箭頭接點 48"/>
          <p:cNvCxnSpPr>
            <a:stCxn id="16" idx="3"/>
            <a:endCxn id="18" idx="1"/>
          </p:cNvCxnSpPr>
          <p:nvPr/>
        </p:nvCxnSpPr>
        <p:spPr>
          <a:xfrm>
            <a:off x="5619750" y="4305300"/>
            <a:ext cx="1104900" cy="1179545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50" name="直線單箭頭接點 49"/>
          <p:cNvCxnSpPr>
            <a:stCxn id="16" idx="3"/>
            <a:endCxn id="20" idx="1"/>
          </p:cNvCxnSpPr>
          <p:nvPr/>
        </p:nvCxnSpPr>
        <p:spPr>
          <a:xfrm flipV="1">
            <a:off x="5619750" y="3560406"/>
            <a:ext cx="857250" cy="744894"/>
          </a:xfrm>
          <a:prstGeom prst="straightConnector1">
            <a:avLst/>
          </a:prstGeom>
          <a:ln w="19050">
            <a:solidFill>
              <a:srgbClr val="BE123C"/>
            </a:solidFill>
            <a:prstDash val="solid"/>
            <a:headEnd type="arrow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5B0E73C4-3263-4AF4-86F4-AA8D66DD6AC6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DC8AEB-2DA0-4C1D-BD1D-C8F217E8B28C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036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DD647C3C-FC98-4B5C-9180-DB52C0261B97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02 Schema 全貌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90F7B6-D6B2-4C9E-B03D-C3373E4BF975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058596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五張表分工：game_records</a:t>
            </a:r>
            <a:r>
              <a:rPr sz="2325" b="1" dirty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25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是中心，moves</a:t>
            </a:r>
            <a:r>
              <a:rPr sz="2325" b="1" dirty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 與 positions </a:t>
            </a:r>
            <a:r>
              <a:rPr sz="2325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是訓練資料核心</a:t>
            </a:r>
            <a:endParaRPr sz="2325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29362334-D028-49E4-9EDD-E26765937197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2D4CA9-CA56-43A1-9691-CDF658EB7499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entity-game_records">
            <a:extLst>
              <a:ext uri="{FF2B5EF4-FFF2-40B4-BE49-F238E27FC236}">
                <a16:creationId xmlns:a16="http://schemas.microsoft.com/office/drawing/2014/main" id="{29DE59C0-8C7A-41E4-90D8-B13969944AA4}"/>
              </a:ext>
            </a:extLst>
          </p:cNvPr>
          <p:cNvSpPr>
            <a:spLocks noGrp="1"/>
          </p:cNvSpPr>
          <p:nvPr/>
        </p:nvSpPr>
        <p:spPr>
          <a:xfrm>
            <a:off x="4619625" y="2381250"/>
            <a:ext cx="2952750" cy="1524000"/>
          </a:xfrm>
          <a:prstGeom prst="roundRect">
            <a:avLst>
              <a:gd name="adj" fmla="val 1250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5F3953-944B-4C74-BC28-535D0C268D3D}"/>
              </a:ext>
            </a:extLst>
          </p:cNvPr>
          <p:cNvSpPr>
            <a:spLocks noGrp="1"/>
          </p:cNvSpPr>
          <p:nvPr/>
        </p:nvSpPr>
        <p:spPr>
          <a:xfrm>
            <a:off x="4752975" y="2476500"/>
            <a:ext cx="2686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game_records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4AA97F-6EF8-47D5-9449-EF72FFC96882}"/>
              </a:ext>
            </a:extLst>
          </p:cNvPr>
          <p:cNvSpPr>
            <a:spLocks noGrp="1"/>
          </p:cNvSpPr>
          <p:nvPr/>
        </p:nvSpPr>
        <p:spPr>
          <a:xfrm>
            <a:off x="4752975" y="2800350"/>
            <a:ext cx="26860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PK game_id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FK uploader_id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FK black_player_id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FK white_player_id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event/opening/result</a:t>
            </a:r>
          </a:p>
        </p:txBody>
      </p:sp>
      <p:sp>
        <p:nvSpPr>
          <p:cNvPr id="8" name="entity-users">
            <a:extLst>
              <a:ext uri="{FF2B5EF4-FFF2-40B4-BE49-F238E27FC236}">
                <a16:creationId xmlns:a16="http://schemas.microsoft.com/office/drawing/2014/main" id="{62D5E670-02B4-4350-8BEE-2436EB2F2293}"/>
              </a:ext>
            </a:extLst>
          </p:cNvPr>
          <p:cNvSpPr>
            <a:spLocks noGrp="1"/>
          </p:cNvSpPr>
          <p:nvPr/>
        </p:nvSpPr>
        <p:spPr>
          <a:xfrm>
            <a:off x="1047750" y="1333500"/>
            <a:ext cx="2333625" cy="123825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51B755-CDBE-4370-A063-F8E069AA4DCE}"/>
              </a:ext>
            </a:extLst>
          </p:cNvPr>
          <p:cNvSpPr>
            <a:spLocks noGrp="1"/>
          </p:cNvSpPr>
          <p:nvPr/>
        </p:nvSpPr>
        <p:spPr>
          <a:xfrm>
            <a:off x="1181100" y="1428750"/>
            <a:ext cx="2066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F23DA4-B9F0-4788-87D0-9C334D5634DC}"/>
              </a:ext>
            </a:extLst>
          </p:cNvPr>
          <p:cNvSpPr>
            <a:spLocks noGrp="1"/>
          </p:cNvSpPr>
          <p:nvPr/>
        </p:nvSpPr>
        <p:spPr>
          <a:xfrm>
            <a:off x="1181100" y="1752600"/>
            <a:ext cx="20669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PK user_id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username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email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role</a:t>
            </a:r>
          </a:p>
        </p:txBody>
      </p:sp>
      <p:sp>
        <p:nvSpPr>
          <p:cNvPr id="11" name="entity-players">
            <a:extLst>
              <a:ext uri="{FF2B5EF4-FFF2-40B4-BE49-F238E27FC236}">
                <a16:creationId xmlns:a16="http://schemas.microsoft.com/office/drawing/2014/main" id="{ADD2E3E2-B5D8-44E8-B9F3-092F66D371C0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2333625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7B5E0A-4FB2-47AB-9B7A-B80E94556B2C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2066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players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04EECA-B73B-4DF2-AE76-E3CF40CEFD75}"/>
              </a:ext>
            </a:extLst>
          </p:cNvPr>
          <p:cNvSpPr>
            <a:spLocks noGrp="1"/>
          </p:cNvSpPr>
          <p:nvPr/>
        </p:nvSpPr>
        <p:spPr>
          <a:xfrm>
            <a:off x="1181100" y="4514850"/>
            <a:ext cx="2066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PK player_id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player_name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rank_name</a:t>
            </a:r>
          </a:p>
        </p:txBody>
      </p:sp>
      <p:sp>
        <p:nvSpPr>
          <p:cNvPr id="14" name="entity-moves">
            <a:extLst>
              <a:ext uri="{FF2B5EF4-FFF2-40B4-BE49-F238E27FC236}">
                <a16:creationId xmlns:a16="http://schemas.microsoft.com/office/drawing/2014/main" id="{1BC10FE0-0A27-4C0A-97B0-6C2DA296C29E}"/>
              </a:ext>
            </a:extLst>
          </p:cNvPr>
          <p:cNvSpPr>
            <a:spLocks noGrp="1"/>
          </p:cNvSpPr>
          <p:nvPr/>
        </p:nvSpPr>
        <p:spPr>
          <a:xfrm>
            <a:off x="8715375" y="1333500"/>
            <a:ext cx="2333625" cy="123825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FF5B98-1E1A-42BB-8116-4C99F2045596}"/>
              </a:ext>
            </a:extLst>
          </p:cNvPr>
          <p:cNvSpPr>
            <a:spLocks noGrp="1"/>
          </p:cNvSpPr>
          <p:nvPr/>
        </p:nvSpPr>
        <p:spPr>
          <a:xfrm>
            <a:off x="8848725" y="1428750"/>
            <a:ext cx="2066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moves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1675EB-C0BE-4331-B791-6BCE7432C2E4}"/>
              </a:ext>
            </a:extLst>
          </p:cNvPr>
          <p:cNvSpPr>
            <a:spLocks noGrp="1"/>
          </p:cNvSpPr>
          <p:nvPr/>
        </p:nvSpPr>
        <p:spPr>
          <a:xfrm>
            <a:off x="8848725" y="1752600"/>
            <a:ext cx="20669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PK move_id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FK game_id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move_number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usi_move</a:t>
            </a:r>
          </a:p>
        </p:txBody>
      </p:sp>
      <p:sp>
        <p:nvSpPr>
          <p:cNvPr id="17" name="entity-positions">
            <a:extLst>
              <a:ext uri="{FF2B5EF4-FFF2-40B4-BE49-F238E27FC236}">
                <a16:creationId xmlns:a16="http://schemas.microsoft.com/office/drawing/2014/main" id="{960AFF8B-2492-42D3-B5CF-FB7509C9F129}"/>
              </a:ext>
            </a:extLst>
          </p:cNvPr>
          <p:cNvSpPr>
            <a:spLocks noGrp="1"/>
          </p:cNvSpPr>
          <p:nvPr/>
        </p:nvSpPr>
        <p:spPr>
          <a:xfrm>
            <a:off x="8715375" y="4095750"/>
            <a:ext cx="2333625" cy="13335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7548EC-BDF0-44FA-8C24-5DE5ACDFF702}"/>
              </a:ext>
            </a:extLst>
          </p:cNvPr>
          <p:cNvSpPr>
            <a:spLocks noGrp="1"/>
          </p:cNvSpPr>
          <p:nvPr/>
        </p:nvSpPr>
        <p:spPr>
          <a:xfrm>
            <a:off x="8848725" y="4191000"/>
            <a:ext cx="2066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positions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2D6894-9DF2-4C59-B5C2-DD32CF9BFCF2}"/>
              </a:ext>
            </a:extLst>
          </p:cNvPr>
          <p:cNvSpPr>
            <a:spLocks noGrp="1"/>
          </p:cNvSpPr>
          <p:nvPr/>
        </p:nvSpPr>
        <p:spPr>
          <a:xfrm>
            <a:off x="8848725" y="4514850"/>
            <a:ext cx="20669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PK position_id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FK game_id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move_number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sfen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sfen_hash</a:t>
            </a:r>
          </a:p>
        </p:txBody>
      </p:sp>
      <p:cxnSp>
        <p:nvCxnSpPr>
          <p:cNvPr id="46" name="直線單箭頭接點 45"/>
          <p:cNvCxnSpPr>
            <a:stCxn id="8" idx="3"/>
            <a:endCxn id="5" idx="1"/>
          </p:cNvCxnSpPr>
          <p:nvPr/>
        </p:nvCxnSpPr>
        <p:spPr>
          <a:xfrm>
            <a:off x="3381375" y="1952625"/>
            <a:ext cx="1238250" cy="1190625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</a:ln>
        </p:spPr>
      </p:cxnSp>
      <p:cxnSp>
        <p:nvCxnSpPr>
          <p:cNvPr id="47" name="直線單箭頭接點 46"/>
          <p:cNvCxnSpPr>
            <a:stCxn id="11" idx="3"/>
            <a:endCxn id="5" idx="1"/>
          </p:cNvCxnSpPr>
          <p:nvPr/>
        </p:nvCxnSpPr>
        <p:spPr>
          <a:xfrm flipV="1">
            <a:off x="3381375" y="3143250"/>
            <a:ext cx="1238250" cy="1524000"/>
          </a:xfrm>
          <a:prstGeom prst="straightConnector1">
            <a:avLst/>
          </a:prstGeom>
          <a:ln w="19050">
            <a:solidFill>
              <a:srgbClr val="D97706"/>
            </a:solidFill>
            <a:prstDash val="solid"/>
          </a:ln>
        </p:spPr>
      </p:cxnSp>
      <p:cxnSp>
        <p:nvCxnSpPr>
          <p:cNvPr id="48" name="直線單箭頭接點 47"/>
          <p:cNvCxnSpPr>
            <a:stCxn id="5" idx="3"/>
            <a:endCxn id="14" idx="1"/>
          </p:cNvCxnSpPr>
          <p:nvPr/>
        </p:nvCxnSpPr>
        <p:spPr>
          <a:xfrm flipV="1">
            <a:off x="7572375" y="1952625"/>
            <a:ext cx="1143000" cy="1190625"/>
          </a:xfrm>
          <a:prstGeom prst="straightConnector1">
            <a:avLst/>
          </a:prstGeom>
          <a:ln w="19050">
            <a:solidFill>
              <a:srgbClr val="BE123C"/>
            </a:solidFill>
            <a:prstDash val="solid"/>
          </a:ln>
        </p:spPr>
      </p:cxnSp>
      <p:cxnSp>
        <p:nvCxnSpPr>
          <p:cNvPr id="49" name="直線單箭頭接點 48"/>
          <p:cNvCxnSpPr>
            <a:stCxn id="5" idx="3"/>
            <a:endCxn id="17" idx="1"/>
          </p:cNvCxnSpPr>
          <p:nvPr/>
        </p:nvCxnSpPr>
        <p:spPr>
          <a:xfrm>
            <a:off x="7572375" y="3143250"/>
            <a:ext cx="1143000" cy="161925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7A033BB-2A0B-47C3-84EA-98E3E6490AB3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設計重點：把「一場棋」與「每一步 / 每個局面」拆開，查詢與訓練就能各取所需。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F9D4BA-741F-4EA4-B5BB-C6ECD88BD223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9D255E6-AA0F-4A24-8B5C-4FAFBD6C6FBD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214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B0605E4-90E6-43E4-AB77-B0D7F98227CF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03 ER Diagram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7A15C9-7670-4E19-B426-9B54890244BF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ER 圖呈現上傳者、棋手、對局、著手與局面的關係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CA20966E-99E4-467B-85E7-7C3DE355A6FE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662517-81D2-474A-8A78-756D8AD7D85A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entity-users">
            <a:extLst>
              <a:ext uri="{FF2B5EF4-FFF2-40B4-BE49-F238E27FC236}">
                <a16:creationId xmlns:a16="http://schemas.microsoft.com/office/drawing/2014/main" id="{956A176B-8045-4336-B946-54EA4C3E794D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2190750" cy="10668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98F27B-99A8-454B-919C-43270CA37FD6}"/>
              </a:ext>
            </a:extLst>
          </p:cNvPr>
          <p:cNvSpPr>
            <a:spLocks noGrp="1"/>
          </p:cNvSpPr>
          <p:nvPr/>
        </p:nvSpPr>
        <p:spPr>
          <a:xfrm>
            <a:off x="990600" y="1762125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E14E37-EFEE-4A68-A7B9-AF65BA25E667}"/>
              </a:ext>
            </a:extLst>
          </p:cNvPr>
          <p:cNvSpPr>
            <a:spLocks noGrp="1"/>
          </p:cNvSpPr>
          <p:nvPr/>
        </p:nvSpPr>
        <p:spPr>
          <a:xfrm>
            <a:off x="990600" y="2085975"/>
            <a:ext cx="1924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user_id PK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username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email</a:t>
            </a:r>
          </a:p>
        </p:txBody>
      </p:sp>
      <p:sp>
        <p:nvSpPr>
          <p:cNvPr id="8" name="entity-players">
            <a:extLst>
              <a:ext uri="{FF2B5EF4-FFF2-40B4-BE49-F238E27FC236}">
                <a16:creationId xmlns:a16="http://schemas.microsoft.com/office/drawing/2014/main" id="{27B1FBA3-53AD-4311-B600-D0E2E4DEDEED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219075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D3BC8E-C988-42ED-9BFB-27CA8B434CC1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players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313F3B-1AD0-4CC1-821C-F169BF8507E6}"/>
              </a:ext>
            </a:extLst>
          </p:cNvPr>
          <p:cNvSpPr>
            <a:spLocks noGrp="1"/>
          </p:cNvSpPr>
          <p:nvPr/>
        </p:nvSpPr>
        <p:spPr>
          <a:xfrm>
            <a:off x="990600" y="4467225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player_id PK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player_name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rank_name</a:t>
            </a:r>
          </a:p>
        </p:txBody>
      </p:sp>
      <p:sp>
        <p:nvSpPr>
          <p:cNvPr id="11" name="entity-game_records">
            <a:extLst>
              <a:ext uri="{FF2B5EF4-FFF2-40B4-BE49-F238E27FC236}">
                <a16:creationId xmlns:a16="http://schemas.microsoft.com/office/drawing/2014/main" id="{1AD42B2F-689F-4A37-BE0E-5EE74409BF8A}"/>
              </a:ext>
            </a:extLst>
          </p:cNvPr>
          <p:cNvSpPr>
            <a:spLocks noGrp="1"/>
          </p:cNvSpPr>
          <p:nvPr/>
        </p:nvSpPr>
        <p:spPr>
          <a:xfrm>
            <a:off x="4619625" y="2667000"/>
            <a:ext cx="2952750" cy="1428750"/>
          </a:xfrm>
          <a:prstGeom prst="roundRect">
            <a:avLst>
              <a:gd name="adj" fmla="val 1333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8F387F-50D3-4764-88A0-B75EEC1AFFBB}"/>
              </a:ext>
            </a:extLst>
          </p:cNvPr>
          <p:cNvSpPr>
            <a:spLocks noGrp="1"/>
          </p:cNvSpPr>
          <p:nvPr/>
        </p:nvSpPr>
        <p:spPr>
          <a:xfrm>
            <a:off x="4752975" y="2762250"/>
            <a:ext cx="2686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game_records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AA6502-90A5-42C9-8343-3B419ADF9439}"/>
              </a:ext>
            </a:extLst>
          </p:cNvPr>
          <p:cNvSpPr>
            <a:spLocks noGrp="1"/>
          </p:cNvSpPr>
          <p:nvPr/>
        </p:nvSpPr>
        <p:spPr>
          <a:xfrm>
            <a:off x="4752975" y="3086100"/>
            <a:ext cx="26860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game_id PK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uploader_id FK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black_player_id FK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white_player_id FK</a:t>
            </a:r>
          </a:p>
        </p:txBody>
      </p:sp>
      <p:sp>
        <p:nvSpPr>
          <p:cNvPr id="14" name="entity-moves">
            <a:extLst>
              <a:ext uri="{FF2B5EF4-FFF2-40B4-BE49-F238E27FC236}">
                <a16:creationId xmlns:a16="http://schemas.microsoft.com/office/drawing/2014/main" id="{85D920EF-2130-4DC8-989E-F26C5E8B230C}"/>
              </a:ext>
            </a:extLst>
          </p:cNvPr>
          <p:cNvSpPr>
            <a:spLocks noGrp="1"/>
          </p:cNvSpPr>
          <p:nvPr/>
        </p:nvSpPr>
        <p:spPr>
          <a:xfrm>
            <a:off x="8953500" y="1666875"/>
            <a:ext cx="2286000" cy="120015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5DF442-57AA-49B8-86AF-DB03081655A5}"/>
              </a:ext>
            </a:extLst>
          </p:cNvPr>
          <p:cNvSpPr>
            <a:spLocks noGrp="1"/>
          </p:cNvSpPr>
          <p:nvPr/>
        </p:nvSpPr>
        <p:spPr>
          <a:xfrm>
            <a:off x="9086850" y="1762125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moves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B1E1D2-95E9-4D55-B390-B8A6C4330709}"/>
              </a:ext>
            </a:extLst>
          </p:cNvPr>
          <p:cNvSpPr>
            <a:spLocks noGrp="1"/>
          </p:cNvSpPr>
          <p:nvPr/>
        </p:nvSpPr>
        <p:spPr>
          <a:xfrm>
            <a:off x="9086850" y="2085975"/>
            <a:ext cx="2019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move_id PK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game_id FK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move_number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usi_move</a:t>
            </a:r>
          </a:p>
        </p:txBody>
      </p:sp>
      <p:sp>
        <p:nvSpPr>
          <p:cNvPr id="17" name="entity-positions">
            <a:extLst>
              <a:ext uri="{FF2B5EF4-FFF2-40B4-BE49-F238E27FC236}">
                <a16:creationId xmlns:a16="http://schemas.microsoft.com/office/drawing/2014/main" id="{74B92A8F-BD3C-4047-8357-603977340D76}"/>
              </a:ext>
            </a:extLst>
          </p:cNvPr>
          <p:cNvSpPr>
            <a:spLocks noGrp="1"/>
          </p:cNvSpPr>
          <p:nvPr/>
        </p:nvSpPr>
        <p:spPr>
          <a:xfrm>
            <a:off x="8953500" y="4048125"/>
            <a:ext cx="2286000" cy="120015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404403-DA1C-41C2-B8B0-ADD37222C94E}"/>
              </a:ext>
            </a:extLst>
          </p:cNvPr>
          <p:cNvSpPr>
            <a:spLocks noGrp="1"/>
          </p:cNvSpPr>
          <p:nvPr/>
        </p:nvSpPr>
        <p:spPr>
          <a:xfrm>
            <a:off x="9086850" y="4143375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positions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1EF038-6B06-4324-96D1-2E6A79673EA9}"/>
              </a:ext>
            </a:extLst>
          </p:cNvPr>
          <p:cNvSpPr>
            <a:spLocks noGrp="1"/>
          </p:cNvSpPr>
          <p:nvPr/>
        </p:nvSpPr>
        <p:spPr>
          <a:xfrm>
            <a:off x="9086850" y="4467225"/>
            <a:ext cx="2019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position_id PK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game_id FK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move_number</a:t>
            </a:r>
          </a:p>
          <a:p>
            <a:pPr algn="l"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sfen</a:t>
            </a:r>
          </a:p>
        </p:txBody>
      </p:sp>
      <p:cxnSp>
        <p:nvCxnSpPr>
          <p:cNvPr id="49" name="直線單箭頭接點 48"/>
          <p:cNvCxnSpPr>
            <a:stCxn id="5" idx="3"/>
            <a:endCxn id="11" idx="1"/>
          </p:cNvCxnSpPr>
          <p:nvPr/>
        </p:nvCxnSpPr>
        <p:spPr>
          <a:xfrm>
            <a:off x="3048000" y="2200275"/>
            <a:ext cx="1571625" cy="118110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AB6601D5-1528-4A23-947D-07081AC13043}"/>
              </a:ext>
            </a:extLst>
          </p:cNvPr>
          <p:cNvSpPr>
            <a:spLocks noGrp="1"/>
          </p:cNvSpPr>
          <p:nvPr/>
        </p:nvSpPr>
        <p:spPr>
          <a:xfrm>
            <a:off x="3314700" y="20002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  <a:p>
            <a:pPr algn="ctr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上傳</a:t>
            </a:r>
          </a:p>
        </p:txBody>
      </p:sp>
      <p:cxnSp>
        <p:nvCxnSpPr>
          <p:cNvPr id="51" name="直線單箭頭接點 50"/>
          <p:cNvCxnSpPr>
            <a:stCxn id="8" idx="3"/>
            <a:endCxn id="11" idx="1"/>
          </p:cNvCxnSpPr>
          <p:nvPr/>
        </p:nvCxnSpPr>
        <p:spPr>
          <a:xfrm flipV="1">
            <a:off x="3048000" y="3381375"/>
            <a:ext cx="1571625" cy="1228725"/>
          </a:xfrm>
          <a:prstGeom prst="straightConnector1">
            <a:avLst/>
          </a:prstGeom>
          <a:ln w="19050">
            <a:solidFill>
              <a:srgbClr val="D97706"/>
            </a:solidFill>
            <a:prstDash val="soli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B23AC940-151D-4466-9959-329AFAFAB7F7}"/>
              </a:ext>
            </a:extLst>
          </p:cNvPr>
          <p:cNvSpPr>
            <a:spLocks noGrp="1"/>
          </p:cNvSpPr>
          <p:nvPr/>
        </p:nvSpPr>
        <p:spPr>
          <a:xfrm>
            <a:off x="3286125" y="4333875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  <a:p>
            <a:pPr algn="ctr">
              <a:defRPr sz="11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先手/後手</a:t>
            </a:r>
          </a:p>
        </p:txBody>
      </p:sp>
      <p:cxnSp>
        <p:nvCxnSpPr>
          <p:cNvPr id="53" name="直線單箭頭接點 52"/>
          <p:cNvCxnSpPr>
            <a:stCxn id="11" idx="3"/>
            <a:endCxn id="14" idx="1"/>
          </p:cNvCxnSpPr>
          <p:nvPr/>
        </p:nvCxnSpPr>
        <p:spPr>
          <a:xfrm flipV="1">
            <a:off x="7572375" y="2266950"/>
            <a:ext cx="1381125" cy="1114425"/>
          </a:xfrm>
          <a:prstGeom prst="straightConnector1">
            <a:avLst/>
          </a:prstGeom>
          <a:ln w="19050">
            <a:solidFill>
              <a:srgbClr val="BE123C"/>
            </a:solidFill>
            <a:prstDash val="soli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1B4BC88-35C7-4D5F-965B-D7AF6D26620D}"/>
              </a:ext>
            </a:extLst>
          </p:cNvPr>
          <p:cNvSpPr>
            <a:spLocks noGrp="1"/>
          </p:cNvSpPr>
          <p:nvPr/>
        </p:nvSpPr>
        <p:spPr>
          <a:xfrm>
            <a:off x="7762875" y="2047875"/>
            <a:ext cx="904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  <a:p>
            <a:pPr algn="ctr">
              <a:defRPr sz="1125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著手序列</a:t>
            </a:r>
          </a:p>
        </p:txBody>
      </p:sp>
      <p:cxnSp>
        <p:nvCxnSpPr>
          <p:cNvPr id="55" name="直線單箭頭接點 54"/>
          <p:cNvCxnSpPr>
            <a:stCxn id="11" idx="3"/>
            <a:endCxn id="17" idx="1"/>
          </p:cNvCxnSpPr>
          <p:nvPr/>
        </p:nvCxnSpPr>
        <p:spPr>
          <a:xfrm>
            <a:off x="7572375" y="3381375"/>
            <a:ext cx="1381125" cy="1266825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29F3611-6192-4194-994B-F49F951BD3BA}"/>
              </a:ext>
            </a:extLst>
          </p:cNvPr>
          <p:cNvSpPr>
            <a:spLocks noGrp="1"/>
          </p:cNvSpPr>
          <p:nvPr/>
        </p:nvSpPr>
        <p:spPr>
          <a:xfrm>
            <a:off x="7762875" y="4381500"/>
            <a:ext cx="904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  <a:p>
            <a:pPr algn="ctr">
              <a:defRPr sz="11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局面序列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A2C6DF-0404-414E-A552-D7948A3B13E2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069C7AC-EA2C-4101-B833-D75AFE86A6BD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8335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FFE08383-9CE3-42B0-B6AC-E8F1DB6CFE16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04 Relational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EA6B6F-F6FA-4D20-96A3-C97823CBC9B1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Relational Model 用 PK / FK 把資料完整性固定下來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51C9A541-7F83-4874-936E-D77AC3624D62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093942-98DD-4925-864C-19A3235C00ED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9D2485-0A99-49E8-BECD-8F6639EE7F19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2095500" cy="552450"/>
          </a:xfrm>
          <a:prstGeom prst="rect">
            <a:avLst/>
          </a:prstGeom>
          <a:solidFill>
            <a:srgbClr val="0F766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F07242-A6AA-41EF-BD9B-BD25B70437C3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621CFB-DC40-4B7C-AED5-C4F049A25DBD}"/>
              </a:ext>
            </a:extLst>
          </p:cNvPr>
          <p:cNvSpPr>
            <a:spLocks noGrp="1"/>
          </p:cNvSpPr>
          <p:nvPr/>
        </p:nvSpPr>
        <p:spPr>
          <a:xfrm>
            <a:off x="2952750" y="1619250"/>
            <a:ext cx="2000250" cy="552450"/>
          </a:xfrm>
          <a:prstGeom prst="rect">
            <a:avLst/>
          </a:prstGeom>
          <a:solidFill>
            <a:srgbClr val="0F766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AA2292-B225-4116-ADD6-A02A670B3291}"/>
              </a:ext>
            </a:extLst>
          </p:cNvPr>
          <p:cNvSpPr>
            <a:spLocks noGrp="1"/>
          </p:cNvSpPr>
          <p:nvPr/>
        </p:nvSpPr>
        <p:spPr>
          <a:xfrm>
            <a:off x="3086100" y="17716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Primary Key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854C2B-7AF1-4600-A307-1644623B2548}"/>
              </a:ext>
            </a:extLst>
          </p:cNvPr>
          <p:cNvSpPr>
            <a:spLocks noGrp="1"/>
          </p:cNvSpPr>
          <p:nvPr/>
        </p:nvSpPr>
        <p:spPr>
          <a:xfrm>
            <a:off x="4953000" y="1619250"/>
            <a:ext cx="6572250" cy="552450"/>
          </a:xfrm>
          <a:prstGeom prst="rect">
            <a:avLst/>
          </a:prstGeom>
          <a:solidFill>
            <a:srgbClr val="0F766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A5658E-C066-496E-AAE5-44F040C9DDBC}"/>
              </a:ext>
            </a:extLst>
          </p:cNvPr>
          <p:cNvSpPr>
            <a:spLocks noGrp="1"/>
          </p:cNvSpPr>
          <p:nvPr/>
        </p:nvSpPr>
        <p:spPr>
          <a:xfrm>
            <a:off x="5086350" y="1771650"/>
            <a:ext cx="630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Foreign Key / 角色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8BFE67-C0A9-414E-AF11-99DD10B05F31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8B3A87-ED1B-4995-87A5-01E313596ED1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users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0D2207-BEE8-4BBA-B490-E6FD6F2D56DF}"/>
              </a:ext>
            </a:extLst>
          </p:cNvPr>
          <p:cNvSpPr>
            <a:spLocks noGrp="1"/>
          </p:cNvSpPr>
          <p:nvPr/>
        </p:nvSpPr>
        <p:spPr>
          <a:xfrm>
            <a:off x="2952750" y="217170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86B286-ABB1-47CF-BAA3-7E8A750E4F38}"/>
              </a:ext>
            </a:extLst>
          </p:cNvPr>
          <p:cNvSpPr>
            <a:spLocks noGrp="1"/>
          </p:cNvSpPr>
          <p:nvPr/>
        </p:nvSpPr>
        <p:spPr>
          <a:xfrm>
            <a:off x="3086100" y="23241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user_id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DB7E90-D741-4CA6-8036-6DA370FE6906}"/>
              </a:ext>
            </a:extLst>
          </p:cNvPr>
          <p:cNvSpPr>
            <a:spLocks noGrp="1"/>
          </p:cNvSpPr>
          <p:nvPr/>
        </p:nvSpPr>
        <p:spPr>
          <a:xfrm>
            <a:off x="4953000" y="2171700"/>
            <a:ext cx="6572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355021-05A3-4FC1-85C9-48556869F6D2}"/>
              </a:ext>
            </a:extLst>
          </p:cNvPr>
          <p:cNvSpPr>
            <a:spLocks noGrp="1"/>
          </p:cNvSpPr>
          <p:nvPr/>
        </p:nvSpPr>
        <p:spPr>
          <a:xfrm>
            <a:off x="5086350" y="2324100"/>
            <a:ext cx="630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上傳者帳號與權限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89F07A-D503-4D32-952A-71961161B84B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2095500" cy="5524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A91D34-FAF4-4086-B984-80F07783A067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players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0C6441-B3FC-4FEC-8795-8E9CD72C76AF}"/>
              </a:ext>
            </a:extLst>
          </p:cNvPr>
          <p:cNvSpPr>
            <a:spLocks noGrp="1"/>
          </p:cNvSpPr>
          <p:nvPr/>
        </p:nvSpPr>
        <p:spPr>
          <a:xfrm>
            <a:off x="2952750" y="2724150"/>
            <a:ext cx="2000250" cy="5524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4478BF-E16A-4AB0-B355-1BC7F8D088D1}"/>
              </a:ext>
            </a:extLst>
          </p:cNvPr>
          <p:cNvSpPr>
            <a:spLocks noGrp="1"/>
          </p:cNvSpPr>
          <p:nvPr/>
        </p:nvSpPr>
        <p:spPr>
          <a:xfrm>
            <a:off x="3086100" y="28765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player_id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FF57A35-643C-46BC-AB08-BD326398EACA}"/>
              </a:ext>
            </a:extLst>
          </p:cNvPr>
          <p:cNvSpPr>
            <a:spLocks noGrp="1"/>
          </p:cNvSpPr>
          <p:nvPr/>
        </p:nvSpPr>
        <p:spPr>
          <a:xfrm>
            <a:off x="4953000" y="2724150"/>
            <a:ext cx="6572250" cy="5524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B27DA1-BC5F-4E46-9BA8-C6F59D1A2AA3}"/>
              </a:ext>
            </a:extLst>
          </p:cNvPr>
          <p:cNvSpPr>
            <a:spLocks noGrp="1"/>
          </p:cNvSpPr>
          <p:nvPr/>
        </p:nvSpPr>
        <p:spPr>
          <a:xfrm>
            <a:off x="5086350" y="2876550"/>
            <a:ext cx="630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棋手姓名與段位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0C266E-AC09-4FAD-B494-47EADD096702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1F330A-7F6B-483F-B10F-4C763C1317E9}"/>
              </a:ext>
            </a:extLst>
          </p:cNvPr>
          <p:cNvSpPr>
            <a:spLocks noGrp="1"/>
          </p:cNvSpPr>
          <p:nvPr/>
        </p:nvSpPr>
        <p:spPr>
          <a:xfrm>
            <a:off x="990600" y="342900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game_records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C5A763-B65F-49D0-A767-76DB75FEE7E1}"/>
              </a:ext>
            </a:extLst>
          </p:cNvPr>
          <p:cNvSpPr>
            <a:spLocks noGrp="1"/>
          </p:cNvSpPr>
          <p:nvPr/>
        </p:nvSpPr>
        <p:spPr>
          <a:xfrm>
            <a:off x="2952750" y="327660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7956F7-F923-4140-8D35-C5F76B2E9AF8}"/>
              </a:ext>
            </a:extLst>
          </p:cNvPr>
          <p:cNvSpPr>
            <a:spLocks noGrp="1"/>
          </p:cNvSpPr>
          <p:nvPr/>
        </p:nvSpPr>
        <p:spPr>
          <a:xfrm>
            <a:off x="3086100" y="34290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game_id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606742-893B-4534-8386-1EA1D8D04B97}"/>
              </a:ext>
            </a:extLst>
          </p:cNvPr>
          <p:cNvSpPr>
            <a:spLocks noGrp="1"/>
          </p:cNvSpPr>
          <p:nvPr/>
        </p:nvSpPr>
        <p:spPr>
          <a:xfrm>
            <a:off x="4953000" y="3276600"/>
            <a:ext cx="6572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E98DB3-81E6-4B57-AF44-C834A9B0F8FE}"/>
              </a:ext>
            </a:extLst>
          </p:cNvPr>
          <p:cNvSpPr>
            <a:spLocks noGrp="1"/>
          </p:cNvSpPr>
          <p:nvPr/>
        </p:nvSpPr>
        <p:spPr>
          <a:xfrm>
            <a:off x="5086350" y="3429000"/>
            <a:ext cx="630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uploader_id, black_player_id, white_player_id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5FA076-2F43-4DFA-8D6D-1F96E7A8595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2095500" cy="5524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DFDC2A-D417-485B-9287-36F8DB7EABAB}"/>
              </a:ext>
            </a:extLst>
          </p:cNvPr>
          <p:cNvSpPr>
            <a:spLocks noGrp="1"/>
          </p:cNvSpPr>
          <p:nvPr/>
        </p:nvSpPr>
        <p:spPr>
          <a:xfrm>
            <a:off x="990600" y="39814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E3A8D3-124B-41F6-BABB-B896B040C1AD}"/>
              </a:ext>
            </a:extLst>
          </p:cNvPr>
          <p:cNvSpPr>
            <a:spLocks noGrp="1"/>
          </p:cNvSpPr>
          <p:nvPr/>
        </p:nvSpPr>
        <p:spPr>
          <a:xfrm>
            <a:off x="2952750" y="3829050"/>
            <a:ext cx="2000250" cy="5524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3B719A-3DC8-4DEA-ACE9-4F66013183A4}"/>
              </a:ext>
            </a:extLst>
          </p:cNvPr>
          <p:cNvSpPr>
            <a:spLocks noGrp="1"/>
          </p:cNvSpPr>
          <p:nvPr/>
        </p:nvSpPr>
        <p:spPr>
          <a:xfrm>
            <a:off x="3086100" y="39814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move_id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DF19BA7-AD39-45F9-A58C-8733FB7FE934}"/>
              </a:ext>
            </a:extLst>
          </p:cNvPr>
          <p:cNvSpPr>
            <a:spLocks noGrp="1"/>
          </p:cNvSpPr>
          <p:nvPr/>
        </p:nvSpPr>
        <p:spPr>
          <a:xfrm>
            <a:off x="4953000" y="3829050"/>
            <a:ext cx="6572250" cy="5524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DB6643C-914D-47E8-A3D4-39B29FC05FE6}"/>
              </a:ext>
            </a:extLst>
          </p:cNvPr>
          <p:cNvSpPr>
            <a:spLocks noGrp="1"/>
          </p:cNvSpPr>
          <p:nvPr/>
        </p:nvSpPr>
        <p:spPr>
          <a:xfrm>
            <a:off x="5086350" y="3981450"/>
            <a:ext cx="630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game_id，保存每一步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648B289-FAF2-4A07-A133-0579D8E8F99F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867409E-FF8D-468A-B6D1-C3A96AA31438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3D6814-95A5-4712-B10D-A34EDDBEE2D7}"/>
              </a:ext>
            </a:extLst>
          </p:cNvPr>
          <p:cNvSpPr>
            <a:spLocks noGrp="1"/>
          </p:cNvSpPr>
          <p:nvPr/>
        </p:nvSpPr>
        <p:spPr>
          <a:xfrm>
            <a:off x="2952750" y="438150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1D6CD1-841D-4FE0-9594-F9D0A12009A2}"/>
              </a:ext>
            </a:extLst>
          </p:cNvPr>
          <p:cNvSpPr>
            <a:spLocks noGrp="1"/>
          </p:cNvSpPr>
          <p:nvPr/>
        </p:nvSpPr>
        <p:spPr>
          <a:xfrm>
            <a:off x="3086100" y="45339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position_id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5EA0A46-6357-4A6D-A5E2-886348892D1B}"/>
              </a:ext>
            </a:extLst>
          </p:cNvPr>
          <p:cNvSpPr>
            <a:spLocks noGrp="1"/>
          </p:cNvSpPr>
          <p:nvPr/>
        </p:nvSpPr>
        <p:spPr>
          <a:xfrm>
            <a:off x="4953000" y="4381500"/>
            <a:ext cx="6572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EEBA77-D96F-48DF-8C96-26ACB4FA2E11}"/>
              </a:ext>
            </a:extLst>
          </p:cNvPr>
          <p:cNvSpPr>
            <a:spLocks noGrp="1"/>
          </p:cNvSpPr>
          <p:nvPr/>
        </p:nvSpPr>
        <p:spPr>
          <a:xfrm>
            <a:off x="5086350" y="4533900"/>
            <a:ext cx="630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game_id，保存每個局面 SFEN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5CAE765-3D55-428D-9108-A1BFB541105B}"/>
              </a:ext>
            </a:extLst>
          </p:cNvPr>
          <p:cNvSpPr>
            <a:spLocks noGrp="1"/>
          </p:cNvSpPr>
          <p:nvPr/>
        </p:nvSpPr>
        <p:spPr>
          <a:xfrm>
            <a:off x="1028700" y="53340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為什麼要拆表？避免重複資料、讓查詢更快、讓 AI 匯出可以用 JOIN 精準對齊。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F55A350-8799-4203-AA9C-B106A660E259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F0A3D59-4595-46EE-90EC-956181D81760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035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4608B35-04CC-4AFF-9C1B-3613B71466A6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05 欄位設計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99990E-6899-428C-BEBC-E8344D6C6ED4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資料庫設計不是只存資料，而是配合使用情境做欄位取捨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2818B61-CD22-4DBA-B8DB-8E140D665D77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CA21F7-F9FF-4687-BEB2-B86319977E3E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designA">
            <a:extLst>
              <a:ext uri="{FF2B5EF4-FFF2-40B4-BE49-F238E27FC236}">
                <a16:creationId xmlns:a16="http://schemas.microsoft.com/office/drawing/2014/main" id="{D6286DB0-4287-422F-9F8C-0BC32BC9ADAC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3143250" cy="180975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3DBA7C-A54F-4EC0-95CA-509D181827FF}"/>
              </a:ext>
            </a:extLst>
          </p:cNvPr>
          <p:cNvSpPr>
            <a:spLocks noGrp="1"/>
          </p:cNvSpPr>
          <p:nvPr/>
        </p:nvSpPr>
        <p:spPr>
          <a:xfrm>
            <a:off x="1028700" y="1752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game_records：一場棋的 metadata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42F01E-D671-4210-AF96-D6A213FC630A}"/>
              </a:ext>
            </a:extLst>
          </p:cNvPr>
          <p:cNvSpPr>
            <a:spLocks noGrp="1"/>
          </p:cNvSpPr>
          <p:nvPr/>
        </p:nvSpPr>
        <p:spPr>
          <a:xfrm>
            <a:off x="1028700" y="2114550"/>
            <a:ext cx="28003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event_name、site、opening、result、played_at、original_file_name，用來列表、搜尋與去重。</a:t>
            </a:r>
          </a:p>
        </p:txBody>
      </p:sp>
      <p:sp>
        <p:nvSpPr>
          <p:cNvPr id="8" name="designB">
            <a:extLst>
              <a:ext uri="{FF2B5EF4-FFF2-40B4-BE49-F238E27FC236}">
                <a16:creationId xmlns:a16="http://schemas.microsoft.com/office/drawing/2014/main" id="{4DE7CC3C-AEA2-4035-BE2B-B50E5F955DB8}"/>
              </a:ext>
            </a:extLst>
          </p:cNvPr>
          <p:cNvSpPr>
            <a:spLocks noGrp="1"/>
          </p:cNvSpPr>
          <p:nvPr/>
        </p:nvSpPr>
        <p:spPr>
          <a:xfrm>
            <a:off x="4524375" y="1619250"/>
            <a:ext cx="3143250" cy="180975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1CA21C-B368-400E-A2FC-F84735D06EF9}"/>
              </a:ext>
            </a:extLst>
          </p:cNvPr>
          <p:cNvSpPr>
            <a:spLocks noGrp="1"/>
          </p:cNvSpPr>
          <p:nvPr/>
        </p:nvSpPr>
        <p:spPr>
          <a:xfrm>
            <a:off x="4695825" y="1752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moves：人類可讀與模型可用的著手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7E794F-3C16-4B12-BFE6-978763CBD3FA}"/>
              </a:ext>
            </a:extLst>
          </p:cNvPr>
          <p:cNvSpPr>
            <a:spLocks noGrp="1"/>
          </p:cNvSpPr>
          <p:nvPr/>
        </p:nvSpPr>
        <p:spPr>
          <a:xfrm>
            <a:off x="4695825" y="2114550"/>
            <a:ext cx="28003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original_move 保留 CSA 原始記法，usi_move 給 cshogi / AI 使用，move_number 維持順序。</a:t>
            </a:r>
          </a:p>
        </p:txBody>
      </p:sp>
      <p:sp>
        <p:nvSpPr>
          <p:cNvPr id="11" name="designC">
            <a:extLst>
              <a:ext uri="{FF2B5EF4-FFF2-40B4-BE49-F238E27FC236}">
                <a16:creationId xmlns:a16="http://schemas.microsoft.com/office/drawing/2014/main" id="{CCC65EC1-1520-430A-83EB-BCA3FE85833B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3143250" cy="180975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7F3412-4AC7-40D9-86A8-363F1F1A3C7F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positions：每一步後的盤面狀態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A1575B-6A47-435B-9A33-4AC41E0BCB15}"/>
              </a:ext>
            </a:extLst>
          </p:cNvPr>
          <p:cNvSpPr>
            <a:spLocks noGrp="1"/>
          </p:cNvSpPr>
          <p:nvPr/>
        </p:nvSpPr>
        <p:spPr>
          <a:xfrm>
            <a:off x="8362950" y="2114550"/>
            <a:ext cx="28003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sfen 保存完整局面，sfen_hash 用於快速查詢，is_check / legal_moves_count 做品質與分析。</a:t>
            </a:r>
          </a:p>
        </p:txBody>
      </p:sp>
      <p:sp>
        <p:nvSpPr>
          <p:cNvPr id="14" name="code-block">
            <a:extLst>
              <a:ext uri="{FF2B5EF4-FFF2-40B4-BE49-F238E27FC236}">
                <a16:creationId xmlns:a16="http://schemas.microsoft.com/office/drawing/2014/main" id="{278A3719-1C8C-4C40-9133-DC38DB4CC70D}"/>
              </a:ext>
            </a:extLst>
          </p:cNvPr>
          <p:cNvSpPr>
            <a:spLocks noGrp="1"/>
          </p:cNvSpPr>
          <p:nvPr/>
        </p:nvSpPr>
        <p:spPr>
          <a:xfrm>
            <a:off x="2095500" y="4095750"/>
            <a:ext cx="8001000" cy="1104900"/>
          </a:xfrm>
          <a:prstGeom prst="roundRect">
            <a:avLst>
              <a:gd name="adj" fmla="val 1724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044E99-EAA8-425C-B864-3858128BC815}"/>
              </a:ext>
            </a:extLst>
          </p:cNvPr>
          <p:cNvSpPr>
            <a:spLocks noGrp="1"/>
          </p:cNvSpPr>
          <p:nvPr/>
        </p:nvSpPr>
        <p:spPr>
          <a:xfrm>
            <a:off x="2266950" y="4229100"/>
            <a:ext cx="7658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AI 資料對齊規則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D0DF68-68FB-4327-9894-81AC223D2859}"/>
              </a:ext>
            </a:extLst>
          </p:cNvPr>
          <p:cNvSpPr>
            <a:spLocks noGrp="1"/>
          </p:cNvSpPr>
          <p:nvPr/>
        </p:nvSpPr>
        <p:spPr>
          <a:xfrm>
            <a:off x="2266950" y="4381500"/>
            <a:ext cx="7658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positions.move_number</a:t>
            </a: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+ 1 = </a:t>
            </a:r>
            <a:r>
              <a:rPr sz="112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moves.move_number</a:t>
            </a:r>
            <a:endParaRPr sz="1125" b="0" dirty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endParaRPr sz="1125" b="0" dirty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SFEN  -&gt;  </a:t>
            </a:r>
            <a:r>
              <a:rPr sz="112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下一手</a:t>
            </a: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usi_move</a:t>
            </a:r>
            <a:endParaRPr sz="1125" b="0" dirty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局面</a:t>
            </a: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-&gt;  policy label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859FEE-CB20-44FF-B6AA-DA7CFF6A9636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7CFC2DE-E0D7-45DD-B061-2FDE6002B020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941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B1C3E1A-F918-43ED-81EC-82FA539D80F1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06 建表 SQL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4271ED-5E2B-4974-9F91-CFBFE1BAA469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CREATE 階段先建立資料庫，再建立五張 InnoDB / utf8mb4 表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1F115981-B200-4601-8DFB-20F528CDDF16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54BE8E-DC71-4930-8CE0-981EBFF5414A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" name="code-block">
            <a:extLst>
              <a:ext uri="{FF2B5EF4-FFF2-40B4-BE49-F238E27FC236}">
                <a16:creationId xmlns:a16="http://schemas.microsoft.com/office/drawing/2014/main" id="{28E2C667-3102-417D-B48E-B78173638B30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4953000" cy="161925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46BD38-AE08-4BDA-BB3F-1B7C07C84464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461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建立資料庫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4D0AC2-32C3-4CAB-82C5-40AC44760931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46101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DATABASE IF NOT EXISTS DB11211213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DEFAULT CHARACTER SET utf8mb4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DEFAULT COLLATE utf8mb4_unicode_ci;</a:t>
            </a:r>
          </a:p>
          <a:p>
            <a:endParaRPr sz="1125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 DB11211213;</a:t>
            </a:r>
          </a:p>
        </p:txBody>
      </p:sp>
      <p:sp>
        <p:nvSpPr>
          <p:cNvPr id="8" name="code-block">
            <a:extLst>
              <a:ext uri="{FF2B5EF4-FFF2-40B4-BE49-F238E27FC236}">
                <a16:creationId xmlns:a16="http://schemas.microsoft.com/office/drawing/2014/main" id="{CE2B074B-8699-45B3-BDD3-97A2AE813ACD}"/>
              </a:ext>
            </a:extLst>
          </p:cNvPr>
          <p:cNvSpPr>
            <a:spLocks noGrp="1"/>
          </p:cNvSpPr>
          <p:nvPr/>
        </p:nvSpPr>
        <p:spPr>
          <a:xfrm>
            <a:off x="6143625" y="1524000"/>
            <a:ext cx="5286375" cy="3619500"/>
          </a:xfrm>
          <a:prstGeom prst="roundRect">
            <a:avLst>
              <a:gd name="adj" fmla="val 526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C25A5-E5C3-46FB-8E2E-CA7458D41187}"/>
              </a:ext>
            </a:extLst>
          </p:cNvPr>
          <p:cNvSpPr>
            <a:spLocks noGrp="1"/>
          </p:cNvSpPr>
          <p:nvPr/>
        </p:nvSpPr>
        <p:spPr>
          <a:xfrm>
            <a:off x="6315075" y="1657350"/>
            <a:ext cx="4943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父表範例：game_records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85920B-91FC-43A8-A273-855420FB2BA0}"/>
              </a:ext>
            </a:extLst>
          </p:cNvPr>
          <p:cNvSpPr>
            <a:spLocks noGrp="1"/>
          </p:cNvSpPr>
          <p:nvPr/>
        </p:nvSpPr>
        <p:spPr>
          <a:xfrm>
            <a:off x="6315075" y="1943100"/>
            <a:ext cx="4943475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TABLE IF NOT EXISTS game_records (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game_id INT AUTO_INCREMENT PRIMARY KEY,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uploader_id INT,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black_player_id INT,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white_player_id INT,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event_name VARCHAR(255),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opening VARCHAR(100),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result VARCHAR(50),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original_file_name VARCHAR(255),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played_at DATE,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FOREIGN KEY (uploader_id) REFERENCES users(user_id),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FOREIGN KEY (black_player_id) REFERENCES players(player_id),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FOREIGN KEY (white_player_id) REFERENCES players(player_id)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 ENGINE=InnoDB DEFAULT CHARSET=utf8mb4;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A1FDEF-FA94-4A87-AEDD-7F186095FE5B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完整報告另外列出 users / players / moves / positions 的 CREATE TABLE。程式執行時也可用 --create-tables 自動建表。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AEB88E-202B-4E30-A43F-59F3AE6DA9E8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5906F7-A38B-4B64-8311-12713D423885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2633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B1CA01C-984B-4E83-8C24-46A06A0C925C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07 匯入流程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EC949B-C909-45E5-A2A0-581617DC68D9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Python 匯入器把 CSA 檔解析後，自動寫入 schema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3FF87CAE-B997-433A-88EC-C6F9A70BACAF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4DB08A-87BF-4CC1-A0BC-1607340129FE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" name="import-1">
            <a:extLst>
              <a:ext uri="{FF2B5EF4-FFF2-40B4-BE49-F238E27FC236}">
                <a16:creationId xmlns:a16="http://schemas.microsoft.com/office/drawing/2014/main" id="{CC425827-5CA2-44DE-A257-D3CD987D7F04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476375" cy="1123950"/>
          </a:xfrm>
          <a:prstGeom prst="roundRect">
            <a:avLst>
              <a:gd name="adj" fmla="val 1695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CDDCA7-40E6-4006-A6B0-1A21E7C9431D}"/>
              </a:ext>
            </a:extLst>
          </p:cNvPr>
          <p:cNvSpPr>
            <a:spLocks noGrp="1"/>
          </p:cNvSpPr>
          <p:nvPr/>
        </p:nvSpPr>
        <p:spPr>
          <a:xfrm>
            <a:off x="895350" y="2543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3BA05A-8F9D-4A94-8677-C1A612F065CB}"/>
              </a:ext>
            </a:extLst>
          </p:cNvPr>
          <p:cNvSpPr>
            <a:spLocks noGrp="1"/>
          </p:cNvSpPr>
          <p:nvPr/>
        </p:nvSpPr>
        <p:spPr>
          <a:xfrm>
            <a:off x="1238250" y="26003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讀取 CSA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B7FA62-1E0B-4E43-9969-14FF5BAFFBA7}"/>
              </a:ext>
            </a:extLst>
          </p:cNvPr>
          <p:cNvSpPr>
            <a:spLocks noGrp="1"/>
          </p:cNvSpPr>
          <p:nvPr/>
        </p:nvSpPr>
        <p:spPr>
          <a:xfrm>
            <a:off x="914400" y="29813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掃描檔案或資料夾</a:t>
            </a:r>
          </a:p>
        </p:txBody>
      </p:sp>
      <p:sp>
        <p:nvSpPr>
          <p:cNvPr id="9" name="import-2">
            <a:extLst>
              <a:ext uri="{FF2B5EF4-FFF2-40B4-BE49-F238E27FC236}">
                <a16:creationId xmlns:a16="http://schemas.microsoft.com/office/drawing/2014/main" id="{54142EC4-2B54-4A16-A6E1-1D1440149EAE}"/>
              </a:ext>
            </a:extLst>
          </p:cNvPr>
          <p:cNvSpPr>
            <a:spLocks noGrp="1"/>
          </p:cNvSpPr>
          <p:nvPr/>
        </p:nvSpPr>
        <p:spPr>
          <a:xfrm>
            <a:off x="2571750" y="2428875"/>
            <a:ext cx="1476375" cy="1123950"/>
          </a:xfrm>
          <a:prstGeom prst="roundRect">
            <a:avLst>
              <a:gd name="adj" fmla="val 169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B385DA-4DA0-4D90-9645-7AB1A8E7ABC4}"/>
              </a:ext>
            </a:extLst>
          </p:cNvPr>
          <p:cNvSpPr>
            <a:spLocks noGrp="1"/>
          </p:cNvSpPr>
          <p:nvPr/>
        </p:nvSpPr>
        <p:spPr>
          <a:xfrm>
            <a:off x="2705100" y="2543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744D1F-CA8C-45DB-9614-3E08483A107B}"/>
              </a:ext>
            </a:extLst>
          </p:cNvPr>
          <p:cNvSpPr>
            <a:spLocks noGrp="1"/>
          </p:cNvSpPr>
          <p:nvPr/>
        </p:nvSpPr>
        <p:spPr>
          <a:xfrm>
            <a:off x="3048000" y="26003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cshogi 解析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E2EA00-3090-4BAF-AA64-E490ECCC6620}"/>
              </a:ext>
            </a:extLst>
          </p:cNvPr>
          <p:cNvSpPr>
            <a:spLocks noGrp="1"/>
          </p:cNvSpPr>
          <p:nvPr/>
        </p:nvSpPr>
        <p:spPr>
          <a:xfrm>
            <a:off x="2724150" y="29813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取得棋手、結果、著手</a:t>
            </a:r>
          </a:p>
        </p:txBody>
      </p:sp>
      <p:cxnSp>
        <p:nvCxnSpPr>
          <p:cNvPr id="51" name="直線單箭頭接點 50"/>
          <p:cNvCxnSpPr>
            <a:stCxn id="5" idx="3"/>
            <a:endCxn id="9" idx="1"/>
          </p:cNvCxnSpPr>
          <p:nvPr/>
        </p:nvCxnSpPr>
        <p:spPr>
          <a:xfrm>
            <a:off x="2238375" y="2990850"/>
            <a:ext cx="333375" cy="0"/>
          </a:xfrm>
          <a:prstGeom prst="straightConnector1">
            <a:avLst/>
          </a:prstGeom>
          <a:ln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14" name="import-3">
            <a:extLst>
              <a:ext uri="{FF2B5EF4-FFF2-40B4-BE49-F238E27FC236}">
                <a16:creationId xmlns:a16="http://schemas.microsoft.com/office/drawing/2014/main" id="{EE3A14A4-E2A5-47D9-926B-BF2260D119BE}"/>
              </a:ext>
            </a:extLst>
          </p:cNvPr>
          <p:cNvSpPr>
            <a:spLocks noGrp="1"/>
          </p:cNvSpPr>
          <p:nvPr/>
        </p:nvSpPr>
        <p:spPr>
          <a:xfrm>
            <a:off x="4381500" y="2428875"/>
            <a:ext cx="1476375" cy="1123950"/>
          </a:xfrm>
          <a:prstGeom prst="roundRect">
            <a:avLst>
              <a:gd name="adj" fmla="val 1695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F6BC6B-868D-4D88-A7CB-9D83F508DAE2}"/>
              </a:ext>
            </a:extLst>
          </p:cNvPr>
          <p:cNvSpPr>
            <a:spLocks noGrp="1"/>
          </p:cNvSpPr>
          <p:nvPr/>
        </p:nvSpPr>
        <p:spPr>
          <a:xfrm>
            <a:off x="4514850" y="2543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F68B98-2520-449C-9CC3-B117889F5F97}"/>
              </a:ext>
            </a:extLst>
          </p:cNvPr>
          <p:cNvSpPr>
            <a:spLocks noGrp="1"/>
          </p:cNvSpPr>
          <p:nvPr/>
        </p:nvSpPr>
        <p:spPr>
          <a:xfrm>
            <a:off x="4857750" y="26003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建立玩家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06C6D1-AE3F-49A1-88FA-2D723DA8F859}"/>
              </a:ext>
            </a:extLst>
          </p:cNvPr>
          <p:cNvSpPr>
            <a:spLocks noGrp="1"/>
          </p:cNvSpPr>
          <p:nvPr/>
        </p:nvSpPr>
        <p:spPr>
          <a:xfrm>
            <a:off x="4533900" y="29813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不存在就新增 players</a:t>
            </a:r>
          </a:p>
        </p:txBody>
      </p:sp>
      <p:cxnSp>
        <p:nvCxnSpPr>
          <p:cNvPr id="56" name="直線單箭頭接點 55"/>
          <p:cNvCxnSpPr>
            <a:stCxn id="9" idx="3"/>
            <a:endCxn id="14" idx="1"/>
          </p:cNvCxnSpPr>
          <p:nvPr/>
        </p:nvCxnSpPr>
        <p:spPr>
          <a:xfrm>
            <a:off x="4048125" y="2990850"/>
            <a:ext cx="333375" cy="0"/>
          </a:xfrm>
          <a:prstGeom prst="straightConnector1">
            <a:avLst/>
          </a:prstGeom>
          <a:ln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19" name="import-4">
            <a:extLst>
              <a:ext uri="{FF2B5EF4-FFF2-40B4-BE49-F238E27FC236}">
                <a16:creationId xmlns:a16="http://schemas.microsoft.com/office/drawing/2014/main" id="{ED58BE69-B223-4EE2-98F6-BC6ADEFAE680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1476375" cy="1123950"/>
          </a:xfrm>
          <a:prstGeom prst="roundRect">
            <a:avLst>
              <a:gd name="adj" fmla="val 169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88642C-184D-414B-A006-06F52985FBAE}"/>
              </a:ext>
            </a:extLst>
          </p:cNvPr>
          <p:cNvSpPr>
            <a:spLocks noGrp="1"/>
          </p:cNvSpPr>
          <p:nvPr/>
        </p:nvSpPr>
        <p:spPr>
          <a:xfrm>
            <a:off x="6324600" y="2543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C3F002-4EA1-4847-9BE7-35B53403EFF6}"/>
              </a:ext>
            </a:extLst>
          </p:cNvPr>
          <p:cNvSpPr>
            <a:spLocks noGrp="1"/>
          </p:cNvSpPr>
          <p:nvPr/>
        </p:nvSpPr>
        <p:spPr>
          <a:xfrm>
            <a:off x="6667500" y="26003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新增對局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EF1A74-2F81-49E3-AF95-912D2C873BBD}"/>
              </a:ext>
            </a:extLst>
          </p:cNvPr>
          <p:cNvSpPr>
            <a:spLocks noGrp="1"/>
          </p:cNvSpPr>
          <p:nvPr/>
        </p:nvSpPr>
        <p:spPr>
          <a:xfrm>
            <a:off x="6343650" y="29813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寫入 game_records</a:t>
            </a:r>
          </a:p>
        </p:txBody>
      </p:sp>
      <p:cxnSp>
        <p:nvCxnSpPr>
          <p:cNvPr id="61" name="直線單箭頭接點 60"/>
          <p:cNvCxnSpPr>
            <a:stCxn id="14" idx="3"/>
            <a:endCxn id="19" idx="1"/>
          </p:cNvCxnSpPr>
          <p:nvPr/>
        </p:nvCxnSpPr>
        <p:spPr>
          <a:xfrm>
            <a:off x="5857875" y="2990850"/>
            <a:ext cx="333375" cy="0"/>
          </a:xfrm>
          <a:prstGeom prst="straightConnector1">
            <a:avLst/>
          </a:prstGeom>
          <a:ln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24" name="import-5">
            <a:extLst>
              <a:ext uri="{FF2B5EF4-FFF2-40B4-BE49-F238E27FC236}">
                <a16:creationId xmlns:a16="http://schemas.microsoft.com/office/drawing/2014/main" id="{3ABC993B-F53E-41D3-859D-64E7260B6EB3}"/>
              </a:ext>
            </a:extLst>
          </p:cNvPr>
          <p:cNvSpPr>
            <a:spLocks noGrp="1"/>
          </p:cNvSpPr>
          <p:nvPr/>
        </p:nvSpPr>
        <p:spPr>
          <a:xfrm>
            <a:off x="8001000" y="2428875"/>
            <a:ext cx="1476375" cy="1123950"/>
          </a:xfrm>
          <a:prstGeom prst="roundRect">
            <a:avLst>
              <a:gd name="adj" fmla="val 1695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4885E2-E7E8-4FD7-8114-F863B37BCF12}"/>
              </a:ext>
            </a:extLst>
          </p:cNvPr>
          <p:cNvSpPr>
            <a:spLocks noGrp="1"/>
          </p:cNvSpPr>
          <p:nvPr/>
        </p:nvSpPr>
        <p:spPr>
          <a:xfrm>
            <a:off x="8134350" y="2543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0317A7-951D-4835-B5BA-7434A054CB22}"/>
              </a:ext>
            </a:extLst>
          </p:cNvPr>
          <p:cNvSpPr>
            <a:spLocks noGrp="1"/>
          </p:cNvSpPr>
          <p:nvPr/>
        </p:nvSpPr>
        <p:spPr>
          <a:xfrm>
            <a:off x="8477250" y="26003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批次新增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11B6FA-418F-4181-934E-446B4D8FDBC4}"/>
              </a:ext>
            </a:extLst>
          </p:cNvPr>
          <p:cNvSpPr>
            <a:spLocks noGrp="1"/>
          </p:cNvSpPr>
          <p:nvPr/>
        </p:nvSpPr>
        <p:spPr>
          <a:xfrm>
            <a:off x="8153400" y="29813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moves / positions</a:t>
            </a:r>
          </a:p>
        </p:txBody>
      </p:sp>
      <p:cxnSp>
        <p:nvCxnSpPr>
          <p:cNvPr id="66" name="直線單箭頭接點 65"/>
          <p:cNvCxnSpPr>
            <a:stCxn id="19" idx="3"/>
            <a:endCxn id="24" idx="1"/>
          </p:cNvCxnSpPr>
          <p:nvPr/>
        </p:nvCxnSpPr>
        <p:spPr>
          <a:xfrm>
            <a:off x="7667625" y="2990850"/>
            <a:ext cx="333375" cy="0"/>
          </a:xfrm>
          <a:prstGeom prst="straightConnector1">
            <a:avLst/>
          </a:prstGeom>
          <a:ln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29" name="import-6">
            <a:extLst>
              <a:ext uri="{FF2B5EF4-FFF2-40B4-BE49-F238E27FC236}">
                <a16:creationId xmlns:a16="http://schemas.microsoft.com/office/drawing/2014/main" id="{9872D43D-56B8-4C8D-BFD3-0EE864C02C83}"/>
              </a:ext>
            </a:extLst>
          </p:cNvPr>
          <p:cNvSpPr>
            <a:spLocks noGrp="1"/>
          </p:cNvSpPr>
          <p:nvPr/>
        </p:nvSpPr>
        <p:spPr>
          <a:xfrm>
            <a:off x="9810750" y="2428875"/>
            <a:ext cx="1476375" cy="1123950"/>
          </a:xfrm>
          <a:prstGeom prst="roundRect">
            <a:avLst>
              <a:gd name="adj" fmla="val 1695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55AE00F-F501-4AF8-8D6D-DBCA9C699A6F}"/>
              </a:ext>
            </a:extLst>
          </p:cNvPr>
          <p:cNvSpPr>
            <a:spLocks noGrp="1"/>
          </p:cNvSpPr>
          <p:nvPr/>
        </p:nvSpPr>
        <p:spPr>
          <a:xfrm>
            <a:off x="9944100" y="2543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B979930-D914-4B37-B903-AF4D778117F7}"/>
              </a:ext>
            </a:extLst>
          </p:cNvPr>
          <p:cNvSpPr>
            <a:spLocks noGrp="1"/>
          </p:cNvSpPr>
          <p:nvPr/>
        </p:nvSpPr>
        <p:spPr>
          <a:xfrm>
            <a:off x="10287000" y="26003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交易控制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C7953-17B3-4EA0-B168-0B140A70224B}"/>
              </a:ext>
            </a:extLst>
          </p:cNvPr>
          <p:cNvSpPr>
            <a:spLocks noGrp="1"/>
          </p:cNvSpPr>
          <p:nvPr/>
        </p:nvSpPr>
        <p:spPr>
          <a:xfrm>
            <a:off x="9963150" y="29813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成功 commit，失敗 rollback</a:t>
            </a:r>
          </a:p>
        </p:txBody>
      </p:sp>
      <p:cxnSp>
        <p:nvCxnSpPr>
          <p:cNvPr id="71" name="直線單箭頭接點 70"/>
          <p:cNvCxnSpPr>
            <a:stCxn id="24" idx="3"/>
            <a:endCxn id="29" idx="1"/>
          </p:cNvCxnSpPr>
          <p:nvPr/>
        </p:nvCxnSpPr>
        <p:spPr>
          <a:xfrm>
            <a:off x="9477375" y="2990850"/>
            <a:ext cx="333375" cy="0"/>
          </a:xfrm>
          <a:prstGeom prst="straightConnector1">
            <a:avLst/>
          </a:prstGeom>
          <a:ln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34" name="code-block">
            <a:extLst>
              <a:ext uri="{FF2B5EF4-FFF2-40B4-BE49-F238E27FC236}">
                <a16:creationId xmlns:a16="http://schemas.microsoft.com/office/drawing/2014/main" id="{D9CFFD78-33AB-4F64-B6C6-A739BC81EE45}"/>
              </a:ext>
            </a:extLst>
          </p:cNvPr>
          <p:cNvSpPr>
            <a:spLocks noGrp="1"/>
          </p:cNvSpPr>
          <p:nvPr/>
        </p:nvSpPr>
        <p:spPr>
          <a:xfrm>
            <a:off x="2190750" y="4552949"/>
            <a:ext cx="8077200" cy="1549269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7C3D20-D667-49F0-9EDD-C512EDA87B9E}"/>
              </a:ext>
            </a:extLst>
          </p:cNvPr>
          <p:cNvSpPr>
            <a:spLocks noGrp="1"/>
          </p:cNvSpPr>
          <p:nvPr/>
        </p:nvSpPr>
        <p:spPr>
          <a:xfrm>
            <a:off x="2266950" y="4562475"/>
            <a:ext cx="7658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匯入命令概念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563CC82-E201-43D6-9264-DE928AEA1FB9}"/>
              </a:ext>
            </a:extLst>
          </p:cNvPr>
          <p:cNvSpPr>
            <a:spLocks noGrp="1"/>
          </p:cNvSpPr>
          <p:nvPr/>
        </p:nvSpPr>
        <p:spPr>
          <a:xfrm>
            <a:off x="2266950" y="4848225"/>
            <a:ext cx="765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python src/import_csa_to_db.py ^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--input </a:t>
            </a:r>
            <a:r>
              <a:rPr sz="112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climbbug</a:t>
            </a: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/data ^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--recursive ^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--database DB11211213 ^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--create-tables ^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--skip-existing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55540A2-9997-4B9B-B0D9-234A25818170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A133A2F-C19C-4DF7-9A9A-3D026355AB27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7828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5BF87D1-9A89-482D-BD26-FFAAE81545FD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08 Insert 邏輯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0E84E4-98B7-4B57-9CE6-A772759FE4F0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寫入順序要先父表再子表，才能滿足 foreign key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4643959-41AA-4838-B3DF-FEB59981D27F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3FEF0C-77BF-4D0D-8115-DEFA70652EF4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5" name="insert-game">
            <a:extLst>
              <a:ext uri="{FF2B5EF4-FFF2-40B4-BE49-F238E27FC236}">
                <a16:creationId xmlns:a16="http://schemas.microsoft.com/office/drawing/2014/main" id="{3279BD07-8F45-4C35-978C-40E469BAD0DC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3095625" cy="1428750"/>
          </a:xfrm>
          <a:prstGeom prst="roundRect">
            <a:avLst>
              <a:gd name="adj" fmla="val 1333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0D1AB5-0EC8-4CDC-AB3F-08B57D1F9B2D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752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1. INSERT game_records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22B714-7F1D-4266-9376-2A02F3F36B3C}"/>
              </a:ext>
            </a:extLst>
          </p:cNvPr>
          <p:cNvSpPr>
            <a:spLocks noGrp="1"/>
          </p:cNvSpPr>
          <p:nvPr/>
        </p:nvSpPr>
        <p:spPr>
          <a:xfrm>
            <a:off x="1028700" y="2305050"/>
            <a:ext cx="27527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先新增一場棋，取得 cursor.lastrowid 作為 game_id。</a:t>
            </a:r>
          </a:p>
        </p:txBody>
      </p:sp>
      <p:sp>
        <p:nvSpPr>
          <p:cNvPr id="8" name="insert-moves">
            <a:extLst>
              <a:ext uri="{FF2B5EF4-FFF2-40B4-BE49-F238E27FC236}">
                <a16:creationId xmlns:a16="http://schemas.microsoft.com/office/drawing/2014/main" id="{F70002A8-A6C9-4643-9D42-719494DB3CC3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3095625" cy="1428750"/>
          </a:xfrm>
          <a:prstGeom prst="roundRect">
            <a:avLst>
              <a:gd name="adj" fmla="val 1333"/>
            </a:avLst>
          </a:prstGeom>
          <a:solidFill>
            <a:srgbClr val="FFE4E6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74D753-45B6-438A-A85C-5CBCED9DA9AC}"/>
              </a:ext>
            </a:extLst>
          </p:cNvPr>
          <p:cNvSpPr>
            <a:spLocks noGrp="1"/>
          </p:cNvSpPr>
          <p:nvPr/>
        </p:nvSpPr>
        <p:spPr>
          <a:xfrm>
            <a:off x="4743450" y="1943100"/>
            <a:ext cx="2752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2. executemany moves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75EAB3-7043-437F-AED2-7C28AFAEFCD3}"/>
              </a:ext>
            </a:extLst>
          </p:cNvPr>
          <p:cNvSpPr>
            <a:spLocks noGrp="1"/>
          </p:cNvSpPr>
          <p:nvPr/>
        </p:nvSpPr>
        <p:spPr>
          <a:xfrm>
            <a:off x="4743450" y="2305050"/>
            <a:ext cx="27527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用同一個 game_id 批次寫入每一步，降低多次 execute 的成本。</a:t>
            </a:r>
          </a:p>
        </p:txBody>
      </p:sp>
      <p:sp>
        <p:nvSpPr>
          <p:cNvPr id="11" name="insert-positions">
            <a:extLst>
              <a:ext uri="{FF2B5EF4-FFF2-40B4-BE49-F238E27FC236}">
                <a16:creationId xmlns:a16="http://schemas.microsoft.com/office/drawing/2014/main" id="{7A89432C-FA02-4812-A456-0D4D1A8FBC17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3095625" cy="1428750"/>
          </a:xfrm>
          <a:prstGeom prst="roundRect">
            <a:avLst>
              <a:gd name="adj" fmla="val 133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05C5E2-1E46-4128-82B5-D52D2057887E}"/>
              </a:ext>
            </a:extLst>
          </p:cNvPr>
          <p:cNvSpPr>
            <a:spLocks noGrp="1"/>
          </p:cNvSpPr>
          <p:nvPr/>
        </p:nvSpPr>
        <p:spPr>
          <a:xfrm>
            <a:off x="8458200" y="1943100"/>
            <a:ext cx="2752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3. executemany positions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6C24F3-251E-4B84-A538-7DF6A3F9E292}"/>
              </a:ext>
            </a:extLst>
          </p:cNvPr>
          <p:cNvSpPr>
            <a:spLocks noGrp="1"/>
          </p:cNvSpPr>
          <p:nvPr/>
        </p:nvSpPr>
        <p:spPr>
          <a:xfrm>
            <a:off x="8458200" y="2305050"/>
            <a:ext cx="27527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保存每個 move_number 的 SFEN，讓前端回放與 AI export 可直接使用。</a:t>
            </a:r>
          </a:p>
        </p:txBody>
      </p:sp>
      <p:cxnSp>
        <p:nvCxnSpPr>
          <p:cNvPr id="34" name="直線單箭頭接點 33"/>
          <p:cNvCxnSpPr>
            <a:stCxn id="5" idx="3"/>
            <a:endCxn id="8" idx="1"/>
          </p:cNvCxnSpPr>
          <p:nvPr/>
        </p:nvCxnSpPr>
        <p:spPr>
          <a:xfrm>
            <a:off x="3952875" y="2524125"/>
            <a:ext cx="619125" cy="0"/>
          </a:xfrm>
          <a:prstGeom prst="straightConnector1">
            <a:avLst/>
          </a:prstGeom>
          <a:ln w="19050">
            <a:solidFill>
              <a:srgbClr val="BE123C"/>
            </a:solidFill>
            <a:prstDash val="solid"/>
            <a:headEnd type="arrow" w="med" len="med"/>
          </a:ln>
        </p:spPr>
      </p:cxnSp>
      <p:cxnSp>
        <p:nvCxnSpPr>
          <p:cNvPr id="35" name="直線單箭頭接點 34"/>
          <p:cNvCxnSpPr>
            <a:stCxn id="8" idx="3"/>
            <a:endCxn id="11" idx="1"/>
          </p:cNvCxnSpPr>
          <p:nvPr/>
        </p:nvCxnSpPr>
        <p:spPr>
          <a:xfrm>
            <a:off x="7667625" y="2524125"/>
            <a:ext cx="619125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headEnd type="arrow" w="med" len="med"/>
          </a:ln>
        </p:spPr>
      </p:cxnSp>
      <p:sp>
        <p:nvSpPr>
          <p:cNvPr id="16" name="code-block">
            <a:extLst>
              <a:ext uri="{FF2B5EF4-FFF2-40B4-BE49-F238E27FC236}">
                <a16:creationId xmlns:a16="http://schemas.microsoft.com/office/drawing/2014/main" id="{5DCCAC59-FF4C-47CD-84A5-D94171123B18}"/>
              </a:ext>
            </a:extLst>
          </p:cNvPr>
          <p:cNvSpPr>
            <a:spLocks noGrp="1"/>
          </p:cNvSpPr>
          <p:nvPr/>
        </p:nvSpPr>
        <p:spPr>
          <a:xfrm>
            <a:off x="1809750" y="4000499"/>
            <a:ext cx="8572500" cy="1428749"/>
          </a:xfrm>
          <a:prstGeom prst="roundRect">
            <a:avLst>
              <a:gd name="adj" fmla="val 1408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F9519C-14B1-4871-8F74-A8B44DC53271}"/>
              </a:ext>
            </a:extLst>
          </p:cNvPr>
          <p:cNvSpPr>
            <a:spLocks noGrp="1"/>
          </p:cNvSpPr>
          <p:nvPr/>
        </p:nvSpPr>
        <p:spPr>
          <a:xfrm>
            <a:off x="1981200" y="4133850"/>
            <a:ext cx="822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程式碼重點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F6C191-93F0-4531-A699-33CD3ED5C08A}"/>
              </a:ext>
            </a:extLst>
          </p:cNvPr>
          <p:cNvSpPr>
            <a:spLocks noGrp="1"/>
          </p:cNvSpPr>
          <p:nvPr/>
        </p:nvSpPr>
        <p:spPr>
          <a:xfrm>
            <a:off x="1981200" y="4419600"/>
            <a:ext cx="82296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cursor.execute("INSERT INTO game_records ...")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game_id = int(cursor.lastrowid)</a:t>
            </a:r>
          </a:p>
          <a:p>
            <a:endParaRPr sz="1125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cursor.executemany("INSERT INTO moves ...", move_rows)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cursor.executemany("INSERT INTO positions ...", position_rows)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CAEE59-0DB8-4F61-B310-ACB56EE41366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B5A095-4E39-45D4-AE09-CA2A2FB0BCF7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2030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88722FE-48E3-41A6-B540-DCEFFAB3B533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09 查詢功能：列表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530236-869C-46C9-9280-18E783F17B31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對局列表查詢靠 JOIN、子查詢與分頁組合完成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F3E6C47-ABFF-40AC-9B28-ABD301DA44AB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F7A57A-ECA7-447B-B973-C2F7CBAEDCD9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" name="code-block">
            <a:extLst>
              <a:ext uri="{FF2B5EF4-FFF2-40B4-BE49-F238E27FC236}">
                <a16:creationId xmlns:a16="http://schemas.microsoft.com/office/drawing/2014/main" id="{A56BF6FE-1F04-495C-95AC-61586FCFE792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6429375" cy="3619500"/>
          </a:xfrm>
          <a:prstGeom prst="roundRect">
            <a:avLst>
              <a:gd name="adj" fmla="val 526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8B577D-CAAA-480D-87B7-92DD2FF49EA4}"/>
              </a:ext>
            </a:extLst>
          </p:cNvPr>
          <p:cNvSpPr>
            <a:spLocks noGrp="1"/>
          </p:cNvSpPr>
          <p:nvPr/>
        </p:nvSpPr>
        <p:spPr>
          <a:xfrm>
            <a:off x="933450" y="1609725"/>
            <a:ext cx="6086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GET /api/games 背後的 SQL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45D787-3D05-4325-9DEC-9DBD6FB97979}"/>
              </a:ext>
            </a:extLst>
          </p:cNvPr>
          <p:cNvSpPr>
            <a:spLocks noGrp="1"/>
          </p:cNvSpPr>
          <p:nvPr/>
        </p:nvSpPr>
        <p:spPr>
          <a:xfrm>
            <a:off x="933450" y="1895475"/>
            <a:ext cx="6086475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 g.game_id, g.original_file_name,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bp.player_name AS black_player,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wp.player_name AS white_player,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g.event_name, g.opening, g.result,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(SELECT COUNT(1) FROM moves m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WHERE m.game_id = g.game_id) AS move_count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 game_records g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LEFT JOIN players bp ON g.black_player_id = bp.player_id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LEFT JOIN players wp ON g.white_player_id = wp.player_id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 ...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 BY g.played_at DESC, g.game_id DESC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LIMIT ? OFFSET ?;</a:t>
            </a:r>
          </a:p>
        </p:txBody>
      </p:sp>
      <p:sp>
        <p:nvSpPr>
          <p:cNvPr id="8" name="filter">
            <a:extLst>
              <a:ext uri="{FF2B5EF4-FFF2-40B4-BE49-F238E27FC236}">
                <a16:creationId xmlns:a16="http://schemas.microsoft.com/office/drawing/2014/main" id="{1C59040D-E4D3-4AEE-9855-3ABD007C0CCA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314325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6E6067-CF2A-4703-9069-AD1A5C113C4A}"/>
              </a:ext>
            </a:extLst>
          </p:cNvPr>
          <p:cNvSpPr>
            <a:spLocks noGrp="1"/>
          </p:cNvSpPr>
          <p:nvPr/>
        </p:nvSpPr>
        <p:spPr>
          <a:xfrm>
            <a:off x="7886700" y="1752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WHERE 條件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D982A6-842B-470D-A6AF-F971A3E590A1}"/>
              </a:ext>
            </a:extLst>
          </p:cNvPr>
          <p:cNvSpPr>
            <a:spLocks noGrp="1"/>
          </p:cNvSpPr>
          <p:nvPr/>
        </p:nvSpPr>
        <p:spPr>
          <a:xfrm>
            <a:off x="7886700" y="2114550"/>
            <a:ext cx="2800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依 event、player、opening、date_from、date_to 動態產生過濾條件。</a:t>
            </a:r>
          </a:p>
        </p:txBody>
      </p:sp>
      <p:sp>
        <p:nvSpPr>
          <p:cNvPr id="11" name="paging">
            <a:extLst>
              <a:ext uri="{FF2B5EF4-FFF2-40B4-BE49-F238E27FC236}">
                <a16:creationId xmlns:a16="http://schemas.microsoft.com/office/drawing/2014/main" id="{470A52A1-9B94-466C-98CC-1D4D72D68FC6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314325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A50E7-0A7F-44E2-982A-98944050B903}"/>
              </a:ext>
            </a:extLst>
          </p:cNvPr>
          <p:cNvSpPr>
            <a:spLocks noGrp="1"/>
          </p:cNvSpPr>
          <p:nvPr/>
        </p:nvSpPr>
        <p:spPr>
          <a:xfrm>
            <a:off x="7886700" y="31813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LIMIT / OFFSET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C9CB76-1B3E-448A-A359-CAE6FB26C18E}"/>
              </a:ext>
            </a:extLst>
          </p:cNvPr>
          <p:cNvSpPr>
            <a:spLocks noGrp="1"/>
          </p:cNvSpPr>
          <p:nvPr/>
        </p:nvSpPr>
        <p:spPr>
          <a:xfrm>
            <a:off x="7886700" y="3543300"/>
            <a:ext cx="2800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每次只取一頁資料，避免一次把所有棋譜丟給前端。</a:t>
            </a:r>
          </a:p>
        </p:txBody>
      </p:sp>
      <p:sp>
        <p:nvSpPr>
          <p:cNvPr id="14" name="count">
            <a:extLst>
              <a:ext uri="{FF2B5EF4-FFF2-40B4-BE49-F238E27FC236}">
                <a16:creationId xmlns:a16="http://schemas.microsoft.com/office/drawing/2014/main" id="{E4EF9FCB-D844-4B7A-BEF3-4B0E1FFD6EFB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314325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999264-F0C7-455C-9C69-F68710013D65}"/>
              </a:ext>
            </a:extLst>
          </p:cNvPr>
          <p:cNvSpPr>
            <a:spLocks noGrp="1"/>
          </p:cNvSpPr>
          <p:nvPr/>
        </p:nvSpPr>
        <p:spPr>
          <a:xfrm>
            <a:off x="7886700" y="46101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move_count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F68988-BE52-435E-B76E-380044815DD8}"/>
              </a:ext>
            </a:extLst>
          </p:cNvPr>
          <p:cNvSpPr>
            <a:spLocks noGrp="1"/>
          </p:cNvSpPr>
          <p:nvPr/>
        </p:nvSpPr>
        <p:spPr>
          <a:xfrm>
            <a:off x="7886700" y="4972050"/>
            <a:ext cx="2800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用子查詢計算步數，前端不用再額外讀整份 moves。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FAF7E9-ACC8-4058-8C90-8C9C1E63FF87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BBF255-2112-440A-AC54-AA03578B513F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4855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84CF2A1-3A36-4400-8980-9AE46A933519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10 查詢功能：局面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4ACDBA-D07B-4AA2-B890-BF05840786F4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指定手數回放時，positions 讓前端直接取得盤面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438D6B1D-724F-49A9-BB21-911AAA3EB285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AC209E-D458-469B-A77B-F2039895E53C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req">
            <a:extLst>
              <a:ext uri="{FF2B5EF4-FFF2-40B4-BE49-F238E27FC236}">
                <a16:creationId xmlns:a16="http://schemas.microsoft.com/office/drawing/2014/main" id="{B388F587-CBB5-4F83-A456-F14D462748E2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476500" cy="876300"/>
          </a:xfrm>
          <a:prstGeom prst="roundRect">
            <a:avLst>
              <a:gd name="adj" fmla="val 2174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8D1C73-3B9C-4C3C-80D1-8FD11616204C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GET /api/games/{id}?ply=n</a:t>
            </a:r>
          </a:p>
        </p:txBody>
      </p:sp>
      <p:sp>
        <p:nvSpPr>
          <p:cNvPr id="7" name="db">
            <a:extLst>
              <a:ext uri="{FF2B5EF4-FFF2-40B4-BE49-F238E27FC236}">
                <a16:creationId xmlns:a16="http://schemas.microsoft.com/office/drawing/2014/main" id="{CE1FE417-FECD-484E-87D8-AD3B27EC6F5D}"/>
              </a:ext>
            </a:extLst>
          </p:cNvPr>
          <p:cNvSpPr>
            <a:spLocks noGrp="1"/>
          </p:cNvSpPr>
          <p:nvPr/>
        </p:nvSpPr>
        <p:spPr>
          <a:xfrm>
            <a:off x="4762500" y="1619250"/>
            <a:ext cx="2476500" cy="14287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414796-E35A-4EC4-9A22-BD8B59CF890C}"/>
              </a:ext>
            </a:extLst>
          </p:cNvPr>
          <p:cNvSpPr>
            <a:spLocks noGrp="1"/>
          </p:cNvSpPr>
          <p:nvPr/>
        </p:nvSpPr>
        <p:spPr>
          <a:xfrm>
            <a:off x="5429250" y="18288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E4CD0A-B827-427F-9D40-2F09A715171F}"/>
              </a:ext>
            </a:extLst>
          </p:cNvPr>
          <p:cNvSpPr>
            <a:spLocks noGrp="1"/>
          </p:cNvSpPr>
          <p:nvPr/>
        </p:nvSpPr>
        <p:spPr>
          <a:xfrm>
            <a:off x="5067300" y="22669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WHERE game_id = ?</a:t>
            </a:r>
          </a:p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AND move_number = ?</a:t>
            </a:r>
          </a:p>
        </p:txBody>
      </p:sp>
      <p:sp>
        <p:nvSpPr>
          <p:cNvPr id="10" name="move-list">
            <a:extLst>
              <a:ext uri="{FF2B5EF4-FFF2-40B4-BE49-F238E27FC236}">
                <a16:creationId xmlns:a16="http://schemas.microsoft.com/office/drawing/2014/main" id="{5DDE14D3-9D53-4172-9EFD-0FA5C9DA20CF}"/>
              </a:ext>
            </a:extLst>
          </p:cNvPr>
          <p:cNvSpPr>
            <a:spLocks noGrp="1"/>
          </p:cNvSpPr>
          <p:nvPr/>
        </p:nvSpPr>
        <p:spPr>
          <a:xfrm>
            <a:off x="4762500" y="3714750"/>
            <a:ext cx="24765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D65D66-1620-4ED4-A06D-0B94B0A99195}"/>
              </a:ext>
            </a:extLst>
          </p:cNvPr>
          <p:cNvSpPr>
            <a:spLocks noGrp="1"/>
          </p:cNvSpPr>
          <p:nvPr/>
        </p:nvSpPr>
        <p:spPr>
          <a:xfrm>
            <a:off x="5667375" y="39243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E123C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A63EA0-3816-477F-BD94-AF7764B337D3}"/>
              </a:ext>
            </a:extLst>
          </p:cNvPr>
          <p:cNvSpPr>
            <a:spLocks noGrp="1"/>
          </p:cNvSpPr>
          <p:nvPr/>
        </p:nvSpPr>
        <p:spPr>
          <a:xfrm>
            <a:off x="5086350" y="4381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ORDER BY move_number</a:t>
            </a:r>
          </a:p>
        </p:txBody>
      </p:sp>
      <p:sp>
        <p:nvSpPr>
          <p:cNvPr id="13" name="res">
            <a:extLst>
              <a:ext uri="{FF2B5EF4-FFF2-40B4-BE49-F238E27FC236}">
                <a16:creationId xmlns:a16="http://schemas.microsoft.com/office/drawing/2014/main" id="{E42A011A-D600-4154-8414-5E5DFB9B6F87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381250" cy="1200150"/>
          </a:xfrm>
          <a:prstGeom prst="roundRect">
            <a:avLst>
              <a:gd name="adj" fmla="val 1587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7F6D38-69B4-4E15-91BB-4C21F0DCDD00}"/>
              </a:ext>
            </a:extLst>
          </p:cNvPr>
          <p:cNvSpPr>
            <a:spLocks noGrp="1"/>
          </p:cNvSpPr>
          <p:nvPr/>
        </p:nvSpPr>
        <p:spPr>
          <a:xfrm>
            <a:off x="9086850" y="27241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rPr>
              <a:t>JSON Response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CF2796-31F0-4B5A-9128-5323CADD0B12}"/>
              </a:ext>
            </a:extLst>
          </p:cNvPr>
          <p:cNvSpPr>
            <a:spLocks noGrp="1"/>
          </p:cNvSpPr>
          <p:nvPr/>
        </p:nvSpPr>
        <p:spPr>
          <a:xfrm>
            <a:off x="8953500" y="318135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sfen + move list</a:t>
            </a:r>
          </a:p>
          <a:p>
            <a:pPr algn="ctr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 metadata</a:t>
            </a:r>
          </a:p>
        </p:txBody>
      </p:sp>
      <p:cxnSp>
        <p:nvCxnSpPr>
          <p:cNvPr id="38" name="直線單箭頭接點 37"/>
          <p:cNvCxnSpPr>
            <a:stCxn id="5" idx="3"/>
            <a:endCxn id="7" idx="1"/>
          </p:cNvCxnSpPr>
          <p:nvPr/>
        </p:nvCxnSpPr>
        <p:spPr>
          <a:xfrm flipV="1">
            <a:off x="3333750" y="2333625"/>
            <a:ext cx="1428750" cy="104775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39" name="直線單箭頭接點 38"/>
          <p:cNvCxnSpPr>
            <a:stCxn id="5" idx="3"/>
            <a:endCxn id="10" idx="1"/>
          </p:cNvCxnSpPr>
          <p:nvPr/>
        </p:nvCxnSpPr>
        <p:spPr>
          <a:xfrm>
            <a:off x="3333750" y="2438400"/>
            <a:ext cx="1428750" cy="1838325"/>
          </a:xfrm>
          <a:prstGeom prst="straightConnector1">
            <a:avLst/>
          </a:prstGeom>
          <a:ln w="19050">
            <a:solidFill>
              <a:srgbClr val="BE123C"/>
            </a:solidFill>
            <a:prstDash val="solid"/>
            <a:headEnd type="arrow" w="med" len="med"/>
          </a:ln>
        </p:spPr>
      </p:cxnSp>
      <p:cxnSp>
        <p:nvCxnSpPr>
          <p:cNvPr id="40" name="直線單箭頭接點 39"/>
          <p:cNvCxnSpPr>
            <a:stCxn id="7" idx="3"/>
            <a:endCxn id="13" idx="1"/>
          </p:cNvCxnSpPr>
          <p:nvPr/>
        </p:nvCxnSpPr>
        <p:spPr>
          <a:xfrm>
            <a:off x="7239000" y="2333625"/>
            <a:ext cx="1428750" cy="74295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41" name="直線單箭頭接點 40"/>
          <p:cNvCxnSpPr>
            <a:stCxn id="10" idx="3"/>
            <a:endCxn id="13" idx="1"/>
          </p:cNvCxnSpPr>
          <p:nvPr/>
        </p:nvCxnSpPr>
        <p:spPr>
          <a:xfrm flipV="1">
            <a:off x="7239000" y="3076575"/>
            <a:ext cx="1428750" cy="1200150"/>
          </a:xfrm>
          <a:prstGeom prst="straightConnector1">
            <a:avLst/>
          </a:prstGeom>
          <a:ln w="19050">
            <a:solidFill>
              <a:srgbClr val="BE123C"/>
            </a:solidFill>
            <a:prstDash val="solid"/>
            <a:headEnd type="arrow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5156CBE8-D86E-4F77-8923-937BC2A077A3}"/>
              </a:ext>
            </a:extLst>
          </p:cNvPr>
          <p:cNvSpPr>
            <a:spLocks noGrp="1"/>
          </p:cNvSpPr>
          <p:nvPr/>
        </p:nvSpPr>
        <p:spPr>
          <a:xfrm>
            <a:off x="2190750" y="5572125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重點：前端不必重新推演棋盤，只要讀出指定手數的 SFEN。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036ADA0-BA92-4E5B-9E82-83C4026D246C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D3658F-CAB2-4B52-BC94-E8BE8E5A0C3C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0985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4E80505-6BCD-4AAB-9091-F54447CBE269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11 AI Dataset Export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1D857A-5932-4B29-A4EF-751BFFC2F809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AI 訓練資料用 positions JOIN moves 產生「局面到下一手」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FB1B046-EA78-4997-8F9E-24163FC4763E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A17995-3218-4AD9-8562-0875DE911645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" name="code-block">
            <a:extLst>
              <a:ext uri="{FF2B5EF4-FFF2-40B4-BE49-F238E27FC236}">
                <a16:creationId xmlns:a16="http://schemas.microsoft.com/office/drawing/2014/main" id="{F755CCD9-9332-4517-9F05-7254490A28CC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5810250" cy="2857500"/>
          </a:xfrm>
          <a:prstGeom prst="roundRect">
            <a:avLst>
              <a:gd name="adj" fmla="val 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77D2EA-45B0-4A0B-B3E2-5A26B91A2A5F}"/>
              </a:ext>
            </a:extLst>
          </p:cNvPr>
          <p:cNvSpPr>
            <a:spLocks noGrp="1"/>
          </p:cNvSpPr>
          <p:nvPr/>
        </p:nvSpPr>
        <p:spPr>
          <a:xfrm>
            <a:off x="1028700" y="1562100"/>
            <a:ext cx="546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export_policy_dataset.py 查詢概念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A5D419-B26A-4BC1-9C6A-10C12A1C867F}"/>
              </a:ext>
            </a:extLst>
          </p:cNvPr>
          <p:cNvSpPr>
            <a:spLocks noGrp="1"/>
          </p:cNvSpPr>
          <p:nvPr/>
        </p:nvSpPr>
        <p:spPr>
          <a:xfrm>
            <a:off x="1028700" y="1847850"/>
            <a:ext cx="54673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 p.game_id, p.move_number, p.sfen,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m.usi_move, p.side_to_move, g.result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 positions p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JOIN moves m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m.game_id = p.game_id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AND m.move_number = p.move_number + 1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JOIN game_records g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g.game_id = p.game_id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 BY p.game_id, p.move_number;</a:t>
            </a:r>
          </a:p>
        </p:txBody>
      </p:sp>
      <p:sp>
        <p:nvSpPr>
          <p:cNvPr id="8" name="state">
            <a:extLst>
              <a:ext uri="{FF2B5EF4-FFF2-40B4-BE49-F238E27FC236}">
                <a16:creationId xmlns:a16="http://schemas.microsoft.com/office/drawing/2014/main" id="{F163B2E3-B2F0-4A22-B3AA-990732C6DB7D}"/>
              </a:ext>
            </a:extLst>
          </p:cNvPr>
          <p:cNvSpPr>
            <a:spLocks noGrp="1"/>
          </p:cNvSpPr>
          <p:nvPr/>
        </p:nvSpPr>
        <p:spPr>
          <a:xfrm>
            <a:off x="7667625" y="1762125"/>
            <a:ext cx="2571750" cy="742950"/>
          </a:xfrm>
          <a:prstGeom prst="roundRect">
            <a:avLst>
              <a:gd name="adj" fmla="val 2564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DEA5F3-FD9E-44DA-99BC-46BE7CD24471}"/>
              </a:ext>
            </a:extLst>
          </p:cNvPr>
          <p:cNvSpPr>
            <a:spLocks noGrp="1"/>
          </p:cNvSpPr>
          <p:nvPr/>
        </p:nvSpPr>
        <p:spPr>
          <a:xfrm>
            <a:off x="8077200" y="2019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Position_t / SFEN</a:t>
            </a:r>
          </a:p>
        </p:txBody>
      </p:sp>
      <p:sp>
        <p:nvSpPr>
          <p:cNvPr id="10" name="label">
            <a:extLst>
              <a:ext uri="{FF2B5EF4-FFF2-40B4-BE49-F238E27FC236}">
                <a16:creationId xmlns:a16="http://schemas.microsoft.com/office/drawing/2014/main" id="{66D0D247-8F08-478C-859A-6E7B162C4E72}"/>
              </a:ext>
            </a:extLst>
          </p:cNvPr>
          <p:cNvSpPr>
            <a:spLocks noGrp="1"/>
          </p:cNvSpPr>
          <p:nvPr/>
        </p:nvSpPr>
        <p:spPr>
          <a:xfrm>
            <a:off x="7667625" y="3048000"/>
            <a:ext cx="2571750" cy="742950"/>
          </a:xfrm>
          <a:prstGeom prst="roundRect">
            <a:avLst>
              <a:gd name="adj" fmla="val 2564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0D4C97-70AF-4806-82E3-CEA804BCB10B}"/>
              </a:ext>
            </a:extLst>
          </p:cNvPr>
          <p:cNvSpPr>
            <a:spLocks noGrp="1"/>
          </p:cNvSpPr>
          <p:nvPr/>
        </p:nvSpPr>
        <p:spPr>
          <a:xfrm>
            <a:off x="8048625" y="330517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92400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92400E"/>
                </a:solidFill>
                <a:latin typeface="Consolas"/>
                <a:ea typeface="Consolas"/>
                <a:cs typeface="Consolas"/>
              </a:rPr>
              <a:t>Move_{t+1} / USI</a:t>
            </a:r>
          </a:p>
        </p:txBody>
      </p:sp>
      <p:sp>
        <p:nvSpPr>
          <p:cNvPr id="12" name="npz">
            <a:extLst>
              <a:ext uri="{FF2B5EF4-FFF2-40B4-BE49-F238E27FC236}">
                <a16:creationId xmlns:a16="http://schemas.microsoft.com/office/drawing/2014/main" id="{C9D14D7A-E1C3-455F-BC2B-8FD06A12C906}"/>
              </a:ext>
            </a:extLst>
          </p:cNvPr>
          <p:cNvSpPr>
            <a:spLocks noGrp="1"/>
          </p:cNvSpPr>
          <p:nvPr/>
        </p:nvSpPr>
        <p:spPr>
          <a:xfrm>
            <a:off x="7667625" y="4333875"/>
            <a:ext cx="2571750" cy="742950"/>
          </a:xfrm>
          <a:prstGeom prst="roundRect">
            <a:avLst>
              <a:gd name="adj" fmla="val 2564"/>
            </a:avLst>
          </a:prstGeom>
          <a:solidFill>
            <a:srgbClr val="FFE4E6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F9B9DE-ACD2-41B3-B122-E286F95EECB0}"/>
              </a:ext>
            </a:extLst>
          </p:cNvPr>
          <p:cNvSpPr>
            <a:spLocks noGrp="1"/>
          </p:cNvSpPr>
          <p:nvPr/>
        </p:nvSpPr>
        <p:spPr>
          <a:xfrm>
            <a:off x="8020050" y="45910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881337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881337"/>
                </a:solidFill>
                <a:latin typeface="Consolas"/>
                <a:ea typeface="Consolas"/>
                <a:cs typeface="Consolas"/>
              </a:rPr>
              <a:t>.npz policy dataset</a:t>
            </a:r>
          </a:p>
        </p:txBody>
      </p:sp>
      <p:cxnSp>
        <p:nvCxnSpPr>
          <p:cNvPr id="32" name="直線單箭頭接點 31"/>
          <p:cNvCxnSpPr>
            <a:stCxn id="8" idx="2"/>
            <a:endCxn id="10" idx="0"/>
          </p:cNvCxnSpPr>
          <p:nvPr/>
        </p:nvCxnSpPr>
        <p:spPr>
          <a:xfrm>
            <a:off x="8953500" y="2505075"/>
            <a:ext cx="0" cy="542925"/>
          </a:xfrm>
          <a:prstGeom prst="straightConnector1">
            <a:avLst/>
          </a:prstGeom>
          <a:ln w="19050">
            <a:solidFill>
              <a:srgbClr val="D97706"/>
            </a:solidFill>
            <a:prstDash val="solid"/>
            <a:headEnd type="arrow" w="med" len="med"/>
          </a:ln>
        </p:spPr>
      </p:cxnSp>
      <p:cxnSp>
        <p:nvCxnSpPr>
          <p:cNvPr id="33" name="直線單箭頭接點 32"/>
          <p:cNvCxnSpPr>
            <a:stCxn id="10" idx="2"/>
            <a:endCxn id="12" idx="0"/>
          </p:cNvCxnSpPr>
          <p:nvPr/>
        </p:nvCxnSpPr>
        <p:spPr>
          <a:xfrm>
            <a:off x="8953500" y="3790950"/>
            <a:ext cx="0" cy="542925"/>
          </a:xfrm>
          <a:prstGeom prst="straightConnector1">
            <a:avLst/>
          </a:prstGeom>
          <a:ln w="19050">
            <a:solidFill>
              <a:srgbClr val="BE123C"/>
            </a:solidFill>
            <a:prstDash val="solid"/>
            <a:headEnd type="arrow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6BD19F5-F6B7-44C7-8F26-2519BC88968B}"/>
              </a:ext>
            </a:extLst>
          </p:cNvPr>
          <p:cNvSpPr>
            <a:spLocks noGrp="1"/>
          </p:cNvSpPr>
          <p:nvPr/>
        </p:nvSpPr>
        <p:spPr>
          <a:xfrm>
            <a:off x="1143000" y="5143500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policy-only 模型不需要 value head；資料庫輸出重點是正確的下一手標籤。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D87E5-96A6-41DF-A41E-70C524F26F83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92FA39-924E-4263-A377-648FF84D295E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91037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0830BEDC-C60E-422F-BB12-DB706CDB64BF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12 API 對應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65C97D-1426-4C1A-AD8E-A0E4EC13E909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API 是前端與資料庫中間的翻譯層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84B9BE9D-8DDF-4BFF-8071-EECDDE456C9F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BAEAE4-509E-4F0F-A21D-ECA2A99514B0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420266-DD97-407B-A547-5ECC2A6BF2BE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2714625" cy="742950"/>
          </a:xfrm>
          <a:prstGeom prst="rect">
            <a:avLst/>
          </a:prstGeom>
          <a:solidFill>
            <a:srgbClr val="0F766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B53784-917B-4AED-A4E1-B22E04E9F318}"/>
              </a:ext>
            </a:extLst>
          </p:cNvPr>
          <p:cNvSpPr>
            <a:spLocks noGrp="1"/>
          </p:cNvSpPr>
          <p:nvPr/>
        </p:nvSpPr>
        <p:spPr>
          <a:xfrm>
            <a:off x="876300" y="1647825"/>
            <a:ext cx="2486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3A3931-3D27-4F64-B7CE-E893859BF785}"/>
              </a:ext>
            </a:extLst>
          </p:cNvPr>
          <p:cNvSpPr>
            <a:spLocks noGrp="1"/>
          </p:cNvSpPr>
          <p:nvPr/>
        </p:nvSpPr>
        <p:spPr>
          <a:xfrm>
            <a:off x="3476625" y="1476375"/>
            <a:ext cx="4000500" cy="742950"/>
          </a:xfrm>
          <a:prstGeom prst="rect">
            <a:avLst/>
          </a:prstGeom>
          <a:solidFill>
            <a:srgbClr val="0F766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82E00F-11C0-4365-8C2B-5FB4757BDFBF}"/>
              </a:ext>
            </a:extLst>
          </p:cNvPr>
          <p:cNvSpPr>
            <a:spLocks noGrp="1"/>
          </p:cNvSpPr>
          <p:nvPr/>
        </p:nvSpPr>
        <p:spPr>
          <a:xfrm>
            <a:off x="3590925" y="1647825"/>
            <a:ext cx="3771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使用資料表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0374F4-3253-4A99-9F20-AB4321F00A11}"/>
              </a:ext>
            </a:extLst>
          </p:cNvPr>
          <p:cNvSpPr>
            <a:spLocks noGrp="1"/>
          </p:cNvSpPr>
          <p:nvPr/>
        </p:nvSpPr>
        <p:spPr>
          <a:xfrm>
            <a:off x="7477125" y="1476375"/>
            <a:ext cx="3905250" cy="742950"/>
          </a:xfrm>
          <a:prstGeom prst="rect">
            <a:avLst/>
          </a:prstGeom>
          <a:solidFill>
            <a:srgbClr val="0F766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735BF6-3563-455F-B69F-D79C0C4FF294}"/>
              </a:ext>
            </a:extLst>
          </p:cNvPr>
          <p:cNvSpPr>
            <a:spLocks noGrp="1"/>
          </p:cNvSpPr>
          <p:nvPr/>
        </p:nvSpPr>
        <p:spPr>
          <a:xfrm>
            <a:off x="7591425" y="1647825"/>
            <a:ext cx="3676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37CCBD-234D-4B08-930C-DB76255F5859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AB061B-FCED-47B1-A763-2FC93E6BC8A2}"/>
              </a:ext>
            </a:extLst>
          </p:cNvPr>
          <p:cNvSpPr>
            <a:spLocks noGrp="1"/>
          </p:cNvSpPr>
          <p:nvPr/>
        </p:nvSpPr>
        <p:spPr>
          <a:xfrm>
            <a:off x="876300" y="2390775"/>
            <a:ext cx="2486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GET /api/games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5E64D1-1102-45B8-AB41-91522445DCD6}"/>
              </a:ext>
            </a:extLst>
          </p:cNvPr>
          <p:cNvSpPr>
            <a:spLocks noGrp="1"/>
          </p:cNvSpPr>
          <p:nvPr/>
        </p:nvSpPr>
        <p:spPr>
          <a:xfrm>
            <a:off x="3476625" y="2219325"/>
            <a:ext cx="4000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BE427A-FFF1-47C6-B55F-FDE121AE7810}"/>
              </a:ext>
            </a:extLst>
          </p:cNvPr>
          <p:cNvSpPr>
            <a:spLocks noGrp="1"/>
          </p:cNvSpPr>
          <p:nvPr/>
        </p:nvSpPr>
        <p:spPr>
          <a:xfrm>
            <a:off x="3590925" y="2390775"/>
            <a:ext cx="3771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game_records + players + moves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3520CF-35F2-479B-A432-CA4F2070B31B}"/>
              </a:ext>
            </a:extLst>
          </p:cNvPr>
          <p:cNvSpPr>
            <a:spLocks noGrp="1"/>
          </p:cNvSpPr>
          <p:nvPr/>
        </p:nvSpPr>
        <p:spPr>
          <a:xfrm>
            <a:off x="7477125" y="2219325"/>
            <a:ext cx="3905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FD4332-D64A-4BC9-9683-780EFD3421AA}"/>
              </a:ext>
            </a:extLst>
          </p:cNvPr>
          <p:cNvSpPr>
            <a:spLocks noGrp="1"/>
          </p:cNvSpPr>
          <p:nvPr/>
        </p:nvSpPr>
        <p:spPr>
          <a:xfrm>
            <a:off x="7591425" y="2390775"/>
            <a:ext cx="3676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列表、搜尋、分頁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1CF537-73D4-4914-ABCF-2A9EB94CCE09}"/>
              </a:ext>
            </a:extLst>
          </p:cNvPr>
          <p:cNvSpPr>
            <a:spLocks noGrp="1"/>
          </p:cNvSpPr>
          <p:nvPr/>
        </p:nvSpPr>
        <p:spPr>
          <a:xfrm>
            <a:off x="762000" y="2962275"/>
            <a:ext cx="2714625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5A412C-8428-4279-AE1F-229BDDCB08CE}"/>
              </a:ext>
            </a:extLst>
          </p:cNvPr>
          <p:cNvSpPr>
            <a:spLocks noGrp="1"/>
          </p:cNvSpPr>
          <p:nvPr/>
        </p:nvSpPr>
        <p:spPr>
          <a:xfrm>
            <a:off x="876300" y="3133725"/>
            <a:ext cx="2486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GET /api/games/&lt;id&gt;?ply=n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9F7B7E-AC1E-43CF-BF9B-1989009B772B}"/>
              </a:ext>
            </a:extLst>
          </p:cNvPr>
          <p:cNvSpPr>
            <a:spLocks noGrp="1"/>
          </p:cNvSpPr>
          <p:nvPr/>
        </p:nvSpPr>
        <p:spPr>
          <a:xfrm>
            <a:off x="3476625" y="2962275"/>
            <a:ext cx="400050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C8326B-05A8-451D-A2D9-0F8B5B206739}"/>
              </a:ext>
            </a:extLst>
          </p:cNvPr>
          <p:cNvSpPr>
            <a:spLocks noGrp="1"/>
          </p:cNvSpPr>
          <p:nvPr/>
        </p:nvSpPr>
        <p:spPr>
          <a:xfrm>
            <a:off x="3590925" y="3133725"/>
            <a:ext cx="3771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positions + moves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8FE128-CECB-45FF-BAD0-69110CD5F926}"/>
              </a:ext>
            </a:extLst>
          </p:cNvPr>
          <p:cNvSpPr>
            <a:spLocks noGrp="1"/>
          </p:cNvSpPr>
          <p:nvPr/>
        </p:nvSpPr>
        <p:spPr>
          <a:xfrm>
            <a:off x="7477125" y="2962275"/>
            <a:ext cx="390525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18CA57-2E00-48E0-8FB8-8D6C2140FFCE}"/>
              </a:ext>
            </a:extLst>
          </p:cNvPr>
          <p:cNvSpPr>
            <a:spLocks noGrp="1"/>
          </p:cNvSpPr>
          <p:nvPr/>
        </p:nvSpPr>
        <p:spPr>
          <a:xfrm>
            <a:off x="7591425" y="3133725"/>
            <a:ext cx="3676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指定手數回放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96B564-655C-4C9F-8D53-461F98E1C083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895F1B7-7E8C-4F58-9004-B4D0018495BB}"/>
              </a:ext>
            </a:extLst>
          </p:cNvPr>
          <p:cNvSpPr>
            <a:spLocks noGrp="1"/>
          </p:cNvSpPr>
          <p:nvPr/>
        </p:nvSpPr>
        <p:spPr>
          <a:xfrm>
            <a:off x="876300" y="3876675"/>
            <a:ext cx="2486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GET /api/db/stats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B15271F-2484-4ACA-B45C-6B2E8689AA9B}"/>
              </a:ext>
            </a:extLst>
          </p:cNvPr>
          <p:cNvSpPr>
            <a:spLocks noGrp="1"/>
          </p:cNvSpPr>
          <p:nvPr/>
        </p:nvSpPr>
        <p:spPr>
          <a:xfrm>
            <a:off x="3476625" y="3705225"/>
            <a:ext cx="4000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579F06E-D76E-448F-9AAF-A56B29029976}"/>
              </a:ext>
            </a:extLst>
          </p:cNvPr>
          <p:cNvSpPr>
            <a:spLocks noGrp="1"/>
          </p:cNvSpPr>
          <p:nvPr/>
        </p:nvSpPr>
        <p:spPr>
          <a:xfrm>
            <a:off x="3590925" y="3876675"/>
            <a:ext cx="3771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全部主要資料表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0AADC4-783F-41C5-8928-8594FAB69AF7}"/>
              </a:ext>
            </a:extLst>
          </p:cNvPr>
          <p:cNvSpPr>
            <a:spLocks noGrp="1"/>
          </p:cNvSpPr>
          <p:nvPr/>
        </p:nvSpPr>
        <p:spPr>
          <a:xfrm>
            <a:off x="7477125" y="3705225"/>
            <a:ext cx="3905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B5F6EE-0C0C-4AAB-BC77-CC462ACD8098}"/>
              </a:ext>
            </a:extLst>
          </p:cNvPr>
          <p:cNvSpPr>
            <a:spLocks noGrp="1"/>
          </p:cNvSpPr>
          <p:nvPr/>
        </p:nvSpPr>
        <p:spPr>
          <a:xfrm>
            <a:off x="7591425" y="3876675"/>
            <a:ext cx="3676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統計棋譜、棋手、著手、局面數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F2C733-8F3F-4B27-B7A7-88C63BBCEB36}"/>
              </a:ext>
            </a:extLst>
          </p:cNvPr>
          <p:cNvSpPr>
            <a:spLocks noGrp="1"/>
          </p:cNvSpPr>
          <p:nvPr/>
        </p:nvSpPr>
        <p:spPr>
          <a:xfrm>
            <a:off x="762000" y="4448175"/>
            <a:ext cx="2714625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917DE13-46FA-442F-A8BA-8F399746B60A}"/>
              </a:ext>
            </a:extLst>
          </p:cNvPr>
          <p:cNvSpPr>
            <a:spLocks noGrp="1"/>
          </p:cNvSpPr>
          <p:nvPr/>
        </p:nvSpPr>
        <p:spPr>
          <a:xfrm>
            <a:off x="876300" y="4619625"/>
            <a:ext cx="2486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POST /api/upload-csa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6CA6839-72DE-4161-B6CB-34554CD16208}"/>
              </a:ext>
            </a:extLst>
          </p:cNvPr>
          <p:cNvSpPr>
            <a:spLocks noGrp="1"/>
          </p:cNvSpPr>
          <p:nvPr/>
        </p:nvSpPr>
        <p:spPr>
          <a:xfrm>
            <a:off x="3476625" y="4448175"/>
            <a:ext cx="400050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B45B775-87E2-4A9C-9BCB-048AAAAF15B7}"/>
              </a:ext>
            </a:extLst>
          </p:cNvPr>
          <p:cNvSpPr>
            <a:spLocks noGrp="1"/>
          </p:cNvSpPr>
          <p:nvPr/>
        </p:nvSpPr>
        <p:spPr>
          <a:xfrm>
            <a:off x="3590925" y="4619625"/>
            <a:ext cx="3771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users + game_records + moves + positions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38A5BF2-1DAB-41A1-896E-DD1AD50B7CE4}"/>
              </a:ext>
            </a:extLst>
          </p:cNvPr>
          <p:cNvSpPr>
            <a:spLocks noGrp="1"/>
          </p:cNvSpPr>
          <p:nvPr/>
        </p:nvSpPr>
        <p:spPr>
          <a:xfrm>
            <a:off x="7477125" y="4448175"/>
            <a:ext cx="390525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6A729A8-8F03-4E50-A8BA-FB094F26079E}"/>
              </a:ext>
            </a:extLst>
          </p:cNvPr>
          <p:cNvSpPr>
            <a:spLocks noGrp="1"/>
          </p:cNvSpPr>
          <p:nvPr/>
        </p:nvSpPr>
        <p:spPr>
          <a:xfrm>
            <a:off x="7591425" y="4619625"/>
            <a:ext cx="3676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上傳並匯入 CSA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F403E0B-9DCB-4C18-A80C-DC22D8B3BAAF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2714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DD34D9D-214D-4C26-98E9-4B63A99B4143}"/>
              </a:ext>
            </a:extLst>
          </p:cNvPr>
          <p:cNvSpPr>
            <a:spLocks noGrp="1"/>
          </p:cNvSpPr>
          <p:nvPr/>
        </p:nvSpPr>
        <p:spPr>
          <a:xfrm>
            <a:off x="876300" y="5362575"/>
            <a:ext cx="2486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POST /api/ai-play/move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4E3A99A-95F4-4F14-941A-2F3DF538EDC3}"/>
              </a:ext>
            </a:extLst>
          </p:cNvPr>
          <p:cNvSpPr>
            <a:spLocks noGrp="1"/>
          </p:cNvSpPr>
          <p:nvPr/>
        </p:nvSpPr>
        <p:spPr>
          <a:xfrm>
            <a:off x="3476625" y="5191125"/>
            <a:ext cx="4000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9EF3FB6-F8E6-4EC4-8D8A-21B06C2E20A2}"/>
              </a:ext>
            </a:extLst>
          </p:cNvPr>
          <p:cNvSpPr>
            <a:spLocks noGrp="1"/>
          </p:cNvSpPr>
          <p:nvPr/>
        </p:nvSpPr>
        <p:spPr>
          <a:xfrm>
            <a:off x="3590925" y="5362575"/>
            <a:ext cx="3771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positions / opening book / model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FEEC05-0DEF-433A-A709-E9A952AB5028}"/>
              </a:ext>
            </a:extLst>
          </p:cNvPr>
          <p:cNvSpPr>
            <a:spLocks noGrp="1"/>
          </p:cNvSpPr>
          <p:nvPr/>
        </p:nvSpPr>
        <p:spPr>
          <a:xfrm>
            <a:off x="7477125" y="5191125"/>
            <a:ext cx="3905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F0D48B3-7AA5-4221-836D-CED636275A15}"/>
              </a:ext>
            </a:extLst>
          </p:cNvPr>
          <p:cNvSpPr>
            <a:spLocks noGrp="1"/>
          </p:cNvSpPr>
          <p:nvPr/>
        </p:nvSpPr>
        <p:spPr>
          <a:xfrm>
            <a:off x="7591425" y="5362575"/>
            <a:ext cx="3676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取得 AI 回應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C9FFB6A-2A7F-44F7-9CF3-00AB014FD953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2FA926-B569-4586-A2D1-624315688EBB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56441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990FA4F-D811-4BC8-B554-7CAB891CFD1E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13 Index 與效能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B5BD66-9347-48A3-B50D-5423B2DA1826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索引設計針對最常見查詢路徑，不是每個欄位都加索引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0790B3C-0511-4BBE-87B0-BB3E9AD58BF1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A48648-FF5B-45A9-9766-4143CA0AF8E5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5" name="code-block">
            <a:extLst>
              <a:ext uri="{FF2B5EF4-FFF2-40B4-BE49-F238E27FC236}">
                <a16:creationId xmlns:a16="http://schemas.microsoft.com/office/drawing/2014/main" id="{984CF665-F989-41B0-9B01-0CE190050C4F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5334000" cy="2952750"/>
          </a:xfrm>
          <a:prstGeom prst="roundRect">
            <a:avLst>
              <a:gd name="adj" fmla="val 645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E0C507-E2E1-440F-A3F3-47D3A07AAD17}"/>
              </a:ext>
            </a:extLst>
          </p:cNvPr>
          <p:cNvSpPr>
            <a:spLocks noGrp="1"/>
          </p:cNvSpPr>
          <p:nvPr/>
        </p:nvSpPr>
        <p:spPr>
          <a:xfrm>
            <a:off x="1028700" y="1657350"/>
            <a:ext cx="499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建議索引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5807C4-A349-4ABA-A013-028425CE08C7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49911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INDEX idx_game_records_played_at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game_records (played_at, game_id);</a:t>
            </a:r>
          </a:p>
          <a:p>
            <a:endParaRPr sz="1125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INDEX idx_moves_game_number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moves (game_id, move_number);</a:t>
            </a:r>
          </a:p>
          <a:p>
            <a:endParaRPr sz="1125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INDEX idx_positions_game_number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positions (game_id, move_number);</a:t>
            </a:r>
          </a:p>
          <a:p>
            <a:endParaRPr sz="1125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INDEX idx_positions_sfen_hash</a:t>
            </a:r>
          </a:p>
          <a:p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positions (sfen_hash);</a:t>
            </a:r>
          </a:p>
        </p:txBody>
      </p:sp>
      <p:sp>
        <p:nvSpPr>
          <p:cNvPr id="8" name="idx1">
            <a:extLst>
              <a:ext uri="{FF2B5EF4-FFF2-40B4-BE49-F238E27FC236}">
                <a16:creationId xmlns:a16="http://schemas.microsoft.com/office/drawing/2014/main" id="{30BA0E9D-9516-44A8-94A1-AA7C3EDD02A5}"/>
              </a:ext>
            </a:extLst>
          </p:cNvPr>
          <p:cNvSpPr>
            <a:spLocks noGrp="1"/>
          </p:cNvSpPr>
          <p:nvPr/>
        </p:nvSpPr>
        <p:spPr>
          <a:xfrm>
            <a:off x="7000875" y="1619250"/>
            <a:ext cx="342900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4068A0-B680-4A15-8D34-0FEBB65BE6E3}"/>
              </a:ext>
            </a:extLst>
          </p:cNvPr>
          <p:cNvSpPr>
            <a:spLocks noGrp="1"/>
          </p:cNvSpPr>
          <p:nvPr/>
        </p:nvSpPr>
        <p:spPr>
          <a:xfrm>
            <a:off x="7172325" y="17526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played_at + game_id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AEF546-CF2C-4AED-85FB-5DE52521CA8D}"/>
              </a:ext>
            </a:extLst>
          </p:cNvPr>
          <p:cNvSpPr>
            <a:spLocks noGrp="1"/>
          </p:cNvSpPr>
          <p:nvPr/>
        </p:nvSpPr>
        <p:spPr>
          <a:xfrm>
            <a:off x="7172325" y="21145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對局列表通常依時間排序，搭配 game_id 可以穩定排序。</a:t>
            </a:r>
          </a:p>
        </p:txBody>
      </p:sp>
      <p:sp>
        <p:nvSpPr>
          <p:cNvPr id="11" name="idx2">
            <a:extLst>
              <a:ext uri="{FF2B5EF4-FFF2-40B4-BE49-F238E27FC236}">
                <a16:creationId xmlns:a16="http://schemas.microsoft.com/office/drawing/2014/main" id="{12DEE05D-DF86-4B72-9514-803312B7083B}"/>
              </a:ext>
            </a:extLst>
          </p:cNvPr>
          <p:cNvSpPr>
            <a:spLocks noGrp="1"/>
          </p:cNvSpPr>
          <p:nvPr/>
        </p:nvSpPr>
        <p:spPr>
          <a:xfrm>
            <a:off x="7000875" y="2781300"/>
            <a:ext cx="342900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1781DB-AA66-4ED0-951D-5C3AE2ABB76A}"/>
              </a:ext>
            </a:extLst>
          </p:cNvPr>
          <p:cNvSpPr>
            <a:spLocks noGrp="1"/>
          </p:cNvSpPr>
          <p:nvPr/>
        </p:nvSpPr>
        <p:spPr>
          <a:xfrm>
            <a:off x="7172325" y="29146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game_id + move_number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2BBB13-EE04-40B2-B0CF-8975289F10A4}"/>
              </a:ext>
            </a:extLst>
          </p:cNvPr>
          <p:cNvSpPr>
            <a:spLocks noGrp="1"/>
          </p:cNvSpPr>
          <p:nvPr/>
        </p:nvSpPr>
        <p:spPr>
          <a:xfrm>
            <a:off x="7172325" y="32766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讀一場棋的某一步、某個局面時是最核心的查詢條件。</a:t>
            </a:r>
          </a:p>
        </p:txBody>
      </p:sp>
      <p:sp>
        <p:nvSpPr>
          <p:cNvPr id="14" name="idx3">
            <a:extLst>
              <a:ext uri="{FF2B5EF4-FFF2-40B4-BE49-F238E27FC236}">
                <a16:creationId xmlns:a16="http://schemas.microsoft.com/office/drawing/2014/main" id="{19D3CDE1-DFD7-4A0A-B583-5DDE018404B9}"/>
              </a:ext>
            </a:extLst>
          </p:cNvPr>
          <p:cNvSpPr>
            <a:spLocks noGrp="1"/>
          </p:cNvSpPr>
          <p:nvPr/>
        </p:nvSpPr>
        <p:spPr>
          <a:xfrm>
            <a:off x="7000875" y="3943350"/>
            <a:ext cx="342900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392DCE-4087-44A4-A77D-285347BC4632}"/>
              </a:ext>
            </a:extLst>
          </p:cNvPr>
          <p:cNvSpPr>
            <a:spLocks noGrp="1"/>
          </p:cNvSpPr>
          <p:nvPr/>
        </p:nvSpPr>
        <p:spPr>
          <a:xfrm>
            <a:off x="7172325" y="40767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sfen_hash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9A3C5E-C1C1-4BE8-A9D6-C8DBDFF6A385}"/>
              </a:ext>
            </a:extLst>
          </p:cNvPr>
          <p:cNvSpPr>
            <a:spLocks noGrp="1"/>
          </p:cNvSpPr>
          <p:nvPr/>
        </p:nvSpPr>
        <p:spPr>
          <a:xfrm>
            <a:off x="7172325" y="44386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opening book 或相同局面查找時，hash 比直接比對 TEXT 更適合。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4A8A2E-F342-472D-9D58-BAD75DE75499}"/>
              </a:ext>
            </a:extLst>
          </p:cNvPr>
          <p:cNvSpPr>
            <a:spLocks noGrp="1"/>
          </p:cNvSpPr>
          <p:nvPr/>
        </p:nvSpPr>
        <p:spPr>
          <a:xfrm>
            <a:off x="1428750" y="5429250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索引的代價：寫入稍慢、佔空間；所以只加在高頻查詢欄位。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19A84C-7E79-43FE-A56A-0E48FB42D27F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6C51D1-BC6B-4FBF-B086-4D83ABB5E6BA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34514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69A9EC6-0F97-4ECF-97BB-60960947499A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14 總結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B233A4-8699-46BC-8475-C5CD1F590A86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結論：這個 schema 同時支援瀏覽、匯入、API 與 AI 訓練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42158EE-B55A-4327-8BEA-4A812EB77DB9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108585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F5D876-3839-45B7-B1F2-127767C16F5B}"/>
              </a:ext>
            </a:extLst>
          </p:cNvPr>
          <p:cNvSpPr>
            <a:spLocks noGrp="1"/>
          </p:cNvSpPr>
          <p:nvPr/>
        </p:nvSpPr>
        <p:spPr>
          <a:xfrm>
            <a:off x="10953750" y="285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A25FFC-0649-4810-A2F4-AF6041A3D188}"/>
              </a:ext>
            </a:extLst>
          </p:cNvPr>
          <p:cNvSpPr>
            <a:spLocks noGrp="1"/>
          </p:cNvSpPr>
          <p:nvPr/>
        </p:nvSpPr>
        <p:spPr>
          <a:xfrm>
            <a:off x="1190625" y="1619250"/>
            <a:ext cx="914400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ER 設計以 game_records 為中心，連接 users、players、moves、positions。</a:t>
            </a:r>
          </a:p>
          <a:p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Relational model 用 PK / FK 維持資料一致性，避免棋譜與著手失去關聯。</a:t>
            </a:r>
          </a:p>
          <a:p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CREATE TABLE 使用 InnoDB、utf8mb4 與 foreign key，能直接在 MySQL 建立。</a:t>
            </a:r>
          </a:p>
          <a:p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查詢功能透過 JOIN、WHERE、LIMIT/OFFSET、索引來實作前端需求。</a:t>
            </a:r>
          </a:p>
          <a:p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AI 訓練透過 positions JOIN moves 產生 policy-only 的局面到下一手資料。</a:t>
            </a:r>
          </a:p>
        </p:txBody>
      </p:sp>
      <p:sp>
        <p:nvSpPr>
          <p:cNvPr id="6" name="next">
            <a:extLst>
              <a:ext uri="{FF2B5EF4-FFF2-40B4-BE49-F238E27FC236}">
                <a16:creationId xmlns:a16="http://schemas.microsoft.com/office/drawing/2014/main" id="{00A5CD56-DEF2-4EAD-99BD-80975CD88862}"/>
              </a:ext>
            </a:extLst>
          </p:cNvPr>
          <p:cNvSpPr>
            <a:spLocks noGrp="1"/>
          </p:cNvSpPr>
          <p:nvPr/>
        </p:nvSpPr>
        <p:spPr>
          <a:xfrm>
            <a:off x="2000250" y="4476750"/>
            <a:ext cx="8191500" cy="762000"/>
          </a:xfrm>
          <a:prstGeom prst="roundRect">
            <a:avLst>
              <a:gd name="adj" fmla="val 2500"/>
            </a:avLst>
          </a:prstGeom>
          <a:solidFill>
            <a:srgbClr val="DDF7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C2D56E-97A8-4B9B-A5D0-A0F08147AAB7}"/>
              </a:ext>
            </a:extLst>
          </p:cNvPr>
          <p:cNvSpPr>
            <a:spLocks noGrp="1"/>
          </p:cNvSpPr>
          <p:nvPr/>
        </p:nvSpPr>
        <p:spPr>
          <a:xfrm>
            <a:off x="2400300" y="47244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未來可加入 migration、資料品質 dashboard、更多權限控管與查詢快取。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041776-87D5-4AF3-9C4B-6E17E7297D70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來源：database_design_report.tex / shogiAI 專案程式碼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F2EEDF-08D2-4C84-9E61-ADDC8AB63663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083824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1965</Words>
  <Application>Microsoft Office PowerPoint</Application>
  <DocSecurity>0</DocSecurity>
  <PresentationFormat>寬螢幕</PresentationFormat>
  <Paragraphs>338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Microsoft JhengHei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子鈞 廖</cp:lastModifiedBy>
  <cp:revision>2</cp:revision>
  <dcterms:created xsi:type="dcterms:W3CDTF">2026-06-18T04:08:08Z</dcterms:created>
  <dcterms:modified xsi:type="dcterms:W3CDTF">2026-06-18T04:14:55Z</dcterms:modified>
</cp:coreProperties>
</file>